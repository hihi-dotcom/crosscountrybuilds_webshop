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4"/>
  </p:sldMasterIdLst>
  <p:notesMasterIdLst>
    <p:notesMasterId r:id="rId19"/>
  </p:notesMasterIdLst>
  <p:sldIdLst>
    <p:sldId id="256" r:id="rId5"/>
    <p:sldId id="257" r:id="rId6"/>
    <p:sldId id="258" r:id="rId7"/>
    <p:sldId id="259" r:id="rId8"/>
    <p:sldId id="260" r:id="rId9"/>
    <p:sldId id="261" r:id="rId10"/>
    <p:sldId id="270" r:id="rId11"/>
    <p:sldId id="269" r:id="rId12"/>
    <p:sldId id="262" r:id="rId13"/>
    <p:sldId id="263" r:id="rId14"/>
    <p:sldId id="264" r:id="rId15"/>
    <p:sldId id="265" r:id="rId16"/>
    <p:sldId id="266" r:id="rId17"/>
    <p:sldId id="267" r:id="rId18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09" d="100"/>
          <a:sy n="109" d="100"/>
        </p:scale>
        <p:origin x="706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3" Type="http://schemas.openxmlformats.org/officeDocument/2006/relationships/customXml" Target="../customXml/item3.xml"/><Relationship Id="rId21" Type="http://schemas.openxmlformats.org/officeDocument/2006/relationships/viewProps" Target="viewProps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presProps" Target="presProp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tableStyles" Target="tableStyles.xml"/><Relationship Id="rId10" Type="http://schemas.openxmlformats.org/officeDocument/2006/relationships/slide" Target="slides/slide6.xml"/><Relationship Id="rId19" Type="http://schemas.openxmlformats.org/officeDocument/2006/relationships/notesMaster" Target="notesMasters/notesMaster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44900735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1BAF8D-4DA9-29B0-22C9-570F8F0E1D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1E7DABF-2000-7789-B709-F9663662176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6E7279D-F6C9-E760-C4C5-9339FE7673C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315215F-D5F8-54D0-2D9F-C4AEBE4D6A0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7336859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C01E3C-68C9-869A-278F-C898DB605A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1DE04D9-05C4-3EE3-800C-9A25CE2BFAB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30674A7-DD43-E43E-0016-5C7E164822D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682BDE4-F08A-5DAB-CF7D-C9C8E253FBC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5107105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microsoft.com/office/2007/relationships/hdphoto" Target="../media/hdphoto1.wdp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jpe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Kép 14">
            <a:extLst>
              <a:ext uri="{FF2B5EF4-FFF2-40B4-BE49-F238E27FC236}">
                <a16:creationId xmlns:a16="http://schemas.microsoft.com/office/drawing/2014/main" id="{87BB9D71-BF6E-613D-69E6-EFC477C694B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00500" y="41148"/>
            <a:ext cx="5143500" cy="5042916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-10551" y="-59436"/>
            <a:ext cx="5669280" cy="5143500"/>
          </a:xfrm>
          <a:prstGeom prst="rect">
            <a:avLst/>
          </a:prstGeom>
          <a:solidFill>
            <a:srgbClr val="0B1628"/>
          </a:solidFill>
          <a:ln w="12700">
            <a:solidFill>
              <a:srgbClr val="0B1628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4" name="Shape 1"/>
          <p:cNvSpPr/>
          <p:nvPr/>
        </p:nvSpPr>
        <p:spPr>
          <a:xfrm>
            <a:off x="5120640" y="0"/>
            <a:ext cx="1371600" cy="5143500"/>
          </a:xfrm>
          <a:prstGeom prst="rect">
            <a:avLst/>
          </a:prstGeom>
          <a:solidFill>
            <a:srgbClr val="0B1628">
              <a:alpha val="45000"/>
            </a:srgbClr>
          </a:solidFill>
          <a:ln w="12700">
            <a:solidFill>
              <a:srgbClr val="0B1628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5" name="Shape 2"/>
          <p:cNvSpPr/>
          <p:nvPr/>
        </p:nvSpPr>
        <p:spPr>
          <a:xfrm>
            <a:off x="0" y="0"/>
            <a:ext cx="9144000" cy="41148"/>
          </a:xfrm>
          <a:prstGeom prst="rect">
            <a:avLst/>
          </a:prstGeom>
          <a:solidFill>
            <a:srgbClr val="E9A227"/>
          </a:solidFill>
          <a:ln w="12700">
            <a:solidFill>
              <a:srgbClr val="E9A227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6" name="Text 3"/>
          <p:cNvSpPr/>
          <p:nvPr/>
        </p:nvSpPr>
        <p:spPr>
          <a:xfrm>
            <a:off x="502920" y="18288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E9A22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PROJEKT BEMUTATÓ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457200" y="566928"/>
            <a:ext cx="54864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8000"/>
              </a:lnSpc>
              <a:buNone/>
            </a:pPr>
            <a:r>
              <a:rPr lang="en-US" sz="58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Cross Country</a:t>
            </a:r>
            <a:endParaRPr lang="en-US" sz="5800" dirty="0"/>
          </a:p>
          <a:p>
            <a:pPr marL="0" indent="0">
              <a:lnSpc>
                <a:spcPct val="98000"/>
              </a:lnSpc>
              <a:buNone/>
            </a:pPr>
            <a:r>
              <a:rPr lang="en-US" sz="58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Webshop</a:t>
            </a:r>
            <a:endParaRPr lang="en-US" sz="5800" dirty="0"/>
          </a:p>
        </p:txBody>
      </p:sp>
      <p:sp>
        <p:nvSpPr>
          <p:cNvPr id="8" name="Shape 5"/>
          <p:cNvSpPr/>
          <p:nvPr/>
        </p:nvSpPr>
        <p:spPr>
          <a:xfrm>
            <a:off x="475488" y="2999232"/>
            <a:ext cx="2377440" cy="36576"/>
          </a:xfrm>
          <a:prstGeom prst="rect">
            <a:avLst/>
          </a:prstGeom>
          <a:solidFill>
            <a:srgbClr val="E9A227"/>
          </a:solidFill>
          <a:ln w="12700">
            <a:solidFill>
              <a:srgbClr val="E9A227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9" name="Text 6"/>
          <p:cNvSpPr/>
          <p:nvPr/>
        </p:nvSpPr>
        <p:spPr>
          <a:xfrm>
            <a:off x="98473" y="3460301"/>
            <a:ext cx="5451231" cy="6295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55000"/>
              </a:lnSpc>
            </a:pPr>
            <a:r>
              <a:rPr lang="en-US" sz="1200" i="1" dirty="0">
                <a:solidFill>
                  <a:srgbClr val="C5D5E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Architektúra  ·  </a:t>
            </a:r>
            <a:r>
              <a:rPr lang="en-US" sz="1200" i="1" dirty="0" err="1">
                <a:solidFill>
                  <a:srgbClr val="C5D5E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Funkciók</a:t>
            </a:r>
            <a:r>
              <a:rPr lang="en-US" sz="1200" i="1" dirty="0">
                <a:solidFill>
                  <a:srgbClr val="C5D5E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·</a:t>
            </a:r>
            <a:r>
              <a:rPr lang="hu-HU" sz="1200" i="1" dirty="0">
                <a:solidFill>
                  <a:srgbClr val="C5D5E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Adatbázis</a:t>
            </a:r>
            <a:r>
              <a:rPr lang="en-US" sz="1200" i="1" dirty="0">
                <a:solidFill>
                  <a:srgbClr val="C5D5E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· </a:t>
            </a:r>
            <a:r>
              <a:rPr lang="hu-HU" sz="1200" i="1" dirty="0">
                <a:solidFill>
                  <a:srgbClr val="C5D5E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Backend </a:t>
            </a:r>
            <a:r>
              <a:rPr lang="en-US" sz="1200" i="1" dirty="0">
                <a:solidFill>
                  <a:srgbClr val="C5D5E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r>
              <a:rPr lang="hu-HU" sz="1200" i="1" dirty="0">
                <a:solidFill>
                  <a:srgbClr val="C5D5E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</a:t>
            </a:r>
            <a:r>
              <a:rPr lang="hu-HU" sz="1200" i="1">
                <a:solidFill>
                  <a:srgbClr val="C5D5E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Frontend  </a:t>
            </a:r>
            <a:r>
              <a:rPr lang="hu-HU" sz="1200" i="1" dirty="0">
                <a:solidFill>
                  <a:srgbClr val="C5D5E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Továbbfejlesztések </a:t>
            </a:r>
            <a:r>
              <a:rPr lang="en-US" sz="1200" i="1" dirty="0">
                <a:solidFill>
                  <a:srgbClr val="C5D5E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 Munkamegosztás</a:t>
            </a:r>
            <a:endParaRPr lang="en-US" sz="1200" i="1" dirty="0"/>
          </a:p>
        </p:txBody>
      </p:sp>
      <p:sp>
        <p:nvSpPr>
          <p:cNvPr id="10" name="Shape 7"/>
          <p:cNvSpPr/>
          <p:nvPr/>
        </p:nvSpPr>
        <p:spPr>
          <a:xfrm>
            <a:off x="0" y="5102352"/>
            <a:ext cx="9144000" cy="41148"/>
          </a:xfrm>
          <a:prstGeom prst="rect">
            <a:avLst/>
          </a:prstGeom>
          <a:solidFill>
            <a:srgbClr val="1F3050"/>
          </a:solidFill>
          <a:ln w="12700">
            <a:solidFill>
              <a:srgbClr val="1F3050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B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56032"/>
            <a:ext cx="54864" cy="713232"/>
          </a:xfrm>
          <a:prstGeom prst="rect">
            <a:avLst/>
          </a:prstGeom>
          <a:solidFill>
            <a:srgbClr val="E9A227"/>
          </a:solidFill>
          <a:ln w="12700">
            <a:solidFill>
              <a:srgbClr val="E9A227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3" name="Text 1"/>
          <p:cNvSpPr/>
          <p:nvPr/>
        </p:nvSpPr>
        <p:spPr>
          <a:xfrm>
            <a:off x="658368" y="201168"/>
            <a:ext cx="8046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A Projekt Bemutatása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0" y="1097280"/>
            <a:ext cx="9144000" cy="16459"/>
          </a:xfrm>
          <a:prstGeom prst="rect">
            <a:avLst/>
          </a:prstGeom>
          <a:solidFill>
            <a:srgbClr val="1F3050"/>
          </a:solidFill>
          <a:ln w="12700">
            <a:solidFill>
              <a:srgbClr val="1F3050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5" name="Shape 3"/>
          <p:cNvSpPr/>
          <p:nvPr/>
        </p:nvSpPr>
        <p:spPr>
          <a:xfrm>
            <a:off x="0" y="5102352"/>
            <a:ext cx="9144000" cy="41148"/>
          </a:xfrm>
          <a:prstGeom prst="rect">
            <a:avLst/>
          </a:prstGeom>
          <a:solidFill>
            <a:srgbClr val="1F3050"/>
          </a:solidFill>
          <a:ln w="12700">
            <a:solidFill>
              <a:srgbClr val="1F3050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7" name="Shape 5"/>
          <p:cNvSpPr/>
          <p:nvPr/>
        </p:nvSpPr>
        <p:spPr>
          <a:xfrm>
            <a:off x="411480" y="1261872"/>
            <a:ext cx="2633472" cy="3493008"/>
          </a:xfrm>
          <a:prstGeom prst="rect">
            <a:avLst/>
          </a:prstGeom>
          <a:solidFill>
            <a:srgbClr val="1A2B42"/>
          </a:solidFill>
          <a:ln w="9525">
            <a:solidFill>
              <a:srgbClr val="1F3050"/>
            </a:solidFill>
            <a:prstDash val="solid"/>
          </a:ln>
          <a:effectLst>
            <a:outerShdw blurRad="101600" dist="254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hu-HU"/>
          </a:p>
        </p:txBody>
      </p:sp>
      <p:sp>
        <p:nvSpPr>
          <p:cNvPr id="8" name="Shape 6"/>
          <p:cNvSpPr/>
          <p:nvPr/>
        </p:nvSpPr>
        <p:spPr>
          <a:xfrm>
            <a:off x="411480" y="1261872"/>
            <a:ext cx="45720" cy="3493008"/>
          </a:xfrm>
          <a:prstGeom prst="rect">
            <a:avLst/>
          </a:prstGeom>
          <a:solidFill>
            <a:srgbClr val="E9A227"/>
          </a:solidFill>
          <a:ln w="12700">
            <a:solidFill>
              <a:srgbClr val="E9A227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9" name="Text 7"/>
          <p:cNvSpPr/>
          <p:nvPr/>
        </p:nvSpPr>
        <p:spPr>
          <a:xfrm>
            <a:off x="566928" y="135331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kern="0" spc="150" dirty="0">
                <a:solidFill>
                  <a:srgbClr val="E9A22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SZOFTVER CÉLJA</a:t>
            </a:r>
            <a:endParaRPr lang="en-US" dirty="0"/>
          </a:p>
        </p:txBody>
      </p:sp>
      <p:sp>
        <p:nvSpPr>
          <p:cNvPr id="10" name="Shape 8"/>
          <p:cNvSpPr/>
          <p:nvPr/>
        </p:nvSpPr>
        <p:spPr>
          <a:xfrm>
            <a:off x="566928" y="1645920"/>
            <a:ext cx="2286000" cy="36576"/>
          </a:xfrm>
          <a:prstGeom prst="rect">
            <a:avLst/>
          </a:prstGeom>
          <a:solidFill>
            <a:srgbClr val="E9A227"/>
          </a:solidFill>
          <a:ln w="12700">
            <a:solidFill>
              <a:srgbClr val="E9A227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11" name="Text 9"/>
          <p:cNvSpPr/>
          <p:nvPr/>
        </p:nvSpPr>
        <p:spPr>
          <a:xfrm>
            <a:off x="566928" y="1755648"/>
            <a:ext cx="237744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50000"/>
              </a:lnSpc>
              <a:buNone/>
            </a:pPr>
            <a:r>
              <a:rPr lang="en-US" sz="1600" dirty="0">
                <a:solidFill>
                  <a:srgbClr val="C5D5E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Egy teljes értékű webshop, ahol fiatalok böngészhetnek, kerékpár szervizt foglalhatnak, és termékeket rendelhetnek.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3250692" y="1241755"/>
            <a:ext cx="2633472" cy="3493008"/>
          </a:xfrm>
          <a:prstGeom prst="rect">
            <a:avLst/>
          </a:prstGeom>
          <a:solidFill>
            <a:srgbClr val="1A2B42"/>
          </a:solidFill>
          <a:ln w="9525">
            <a:solidFill>
              <a:srgbClr val="1F3050"/>
            </a:solidFill>
            <a:prstDash val="solid"/>
          </a:ln>
          <a:effectLst>
            <a:outerShdw blurRad="101600" dist="254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hu-HU"/>
          </a:p>
        </p:txBody>
      </p:sp>
      <p:sp>
        <p:nvSpPr>
          <p:cNvPr id="13" name="Shape 11"/>
          <p:cNvSpPr/>
          <p:nvPr/>
        </p:nvSpPr>
        <p:spPr>
          <a:xfrm>
            <a:off x="3227832" y="1261872"/>
            <a:ext cx="45720" cy="3493008"/>
          </a:xfrm>
          <a:prstGeom prst="rect">
            <a:avLst/>
          </a:prstGeom>
          <a:solidFill>
            <a:srgbClr val="E9A227"/>
          </a:solidFill>
          <a:ln w="12700">
            <a:solidFill>
              <a:srgbClr val="E9A227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14" name="Text 12"/>
          <p:cNvSpPr/>
          <p:nvPr/>
        </p:nvSpPr>
        <p:spPr>
          <a:xfrm>
            <a:off x="3383280" y="135331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kern="0" spc="150" dirty="0">
                <a:solidFill>
                  <a:srgbClr val="E9A22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KINEK SZÓL?</a:t>
            </a:r>
            <a:endParaRPr lang="en-US" dirty="0"/>
          </a:p>
        </p:txBody>
      </p:sp>
      <p:sp>
        <p:nvSpPr>
          <p:cNvPr id="15" name="Shape 13"/>
          <p:cNvSpPr/>
          <p:nvPr/>
        </p:nvSpPr>
        <p:spPr>
          <a:xfrm>
            <a:off x="3383280" y="1645920"/>
            <a:ext cx="2286000" cy="36576"/>
          </a:xfrm>
          <a:prstGeom prst="rect">
            <a:avLst/>
          </a:prstGeom>
          <a:solidFill>
            <a:srgbClr val="E9A227"/>
          </a:solidFill>
          <a:ln w="12700">
            <a:solidFill>
              <a:srgbClr val="E9A227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16" name="Text 14"/>
          <p:cNvSpPr/>
          <p:nvPr/>
        </p:nvSpPr>
        <p:spPr>
          <a:xfrm>
            <a:off x="3383280" y="1755648"/>
            <a:ext cx="237744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50000"/>
              </a:lnSpc>
              <a:buNone/>
            </a:pPr>
            <a:r>
              <a:rPr lang="en-US" sz="1600" dirty="0">
                <a:solidFill>
                  <a:srgbClr val="C5D5E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Olyan </a:t>
            </a:r>
            <a:r>
              <a:rPr lang="en-US" sz="1600" dirty="0" err="1">
                <a:solidFill>
                  <a:srgbClr val="C5D5E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fiatal</a:t>
            </a:r>
            <a:r>
              <a:rPr lang="hu-HU" sz="1600" dirty="0">
                <a:solidFill>
                  <a:srgbClr val="C5D5E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ok</a:t>
            </a:r>
            <a:r>
              <a:rPr lang="en-US" sz="1600" dirty="0">
                <a:solidFill>
                  <a:srgbClr val="C5D5E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nak, akiket érdekel a kerékpározás világa, a</a:t>
            </a:r>
            <a:r>
              <a:rPr lang="hu-HU" sz="1600" dirty="0">
                <a:solidFill>
                  <a:srgbClr val="C5D5E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jövendőbeli szakembereknek</a:t>
            </a:r>
            <a:r>
              <a:rPr lang="en-US" sz="1600" dirty="0">
                <a:solidFill>
                  <a:srgbClr val="C5D5E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. 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6044184" y="1261872"/>
            <a:ext cx="2633472" cy="3493008"/>
          </a:xfrm>
          <a:prstGeom prst="rect">
            <a:avLst/>
          </a:prstGeom>
          <a:solidFill>
            <a:srgbClr val="1A2B42"/>
          </a:solidFill>
          <a:ln w="9525">
            <a:solidFill>
              <a:srgbClr val="1F3050"/>
            </a:solidFill>
            <a:prstDash val="solid"/>
          </a:ln>
          <a:effectLst>
            <a:outerShdw blurRad="101600" dist="254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hu-HU"/>
          </a:p>
        </p:txBody>
      </p:sp>
      <p:sp>
        <p:nvSpPr>
          <p:cNvPr id="18" name="Shape 16"/>
          <p:cNvSpPr/>
          <p:nvPr/>
        </p:nvSpPr>
        <p:spPr>
          <a:xfrm>
            <a:off x="6044184" y="1261872"/>
            <a:ext cx="45720" cy="3493008"/>
          </a:xfrm>
          <a:prstGeom prst="rect">
            <a:avLst/>
          </a:prstGeom>
          <a:solidFill>
            <a:srgbClr val="E9A227"/>
          </a:solidFill>
          <a:ln w="12700">
            <a:solidFill>
              <a:srgbClr val="E9A227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19" name="Text 17"/>
          <p:cNvSpPr/>
          <p:nvPr/>
        </p:nvSpPr>
        <p:spPr>
          <a:xfrm>
            <a:off x="6199632" y="135331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kern="0" spc="150" dirty="0">
                <a:solidFill>
                  <a:srgbClr val="E9A22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MIÉRT?</a:t>
            </a:r>
            <a:endParaRPr lang="en-US" dirty="0"/>
          </a:p>
        </p:txBody>
      </p:sp>
      <p:sp>
        <p:nvSpPr>
          <p:cNvPr id="20" name="Shape 18"/>
          <p:cNvSpPr/>
          <p:nvPr/>
        </p:nvSpPr>
        <p:spPr>
          <a:xfrm>
            <a:off x="6199632" y="1645920"/>
            <a:ext cx="2286000" cy="36576"/>
          </a:xfrm>
          <a:prstGeom prst="rect">
            <a:avLst/>
          </a:prstGeom>
          <a:solidFill>
            <a:srgbClr val="E9A227"/>
          </a:solidFill>
          <a:ln w="12700">
            <a:solidFill>
              <a:srgbClr val="E9A227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21" name="Text 19"/>
          <p:cNvSpPr/>
          <p:nvPr/>
        </p:nvSpPr>
        <p:spPr>
          <a:xfrm>
            <a:off x="6199632" y="1755648"/>
            <a:ext cx="237744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50000"/>
              </a:lnSpc>
              <a:buNone/>
            </a:pPr>
            <a:r>
              <a:rPr lang="en-US" sz="1600" dirty="0">
                <a:solidFill>
                  <a:srgbClr val="C5D5E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Személy szerint nagyon érdekel a kerékpározás világa, illetve maga a </a:t>
            </a:r>
            <a:endParaRPr lang="hu-HU" sz="1600" dirty="0">
              <a:solidFill>
                <a:srgbClr val="C5D5E8"/>
              </a:solidFill>
              <a:latin typeface="Trebuchet MS" pitchFamily="34" charset="0"/>
              <a:ea typeface="Trebuchet MS" pitchFamily="34" charset="-122"/>
              <a:cs typeface="Trebuchet MS" pitchFamily="34" charset="-120"/>
            </a:endParaRPr>
          </a:p>
          <a:p>
            <a:pPr marL="0" indent="0">
              <a:lnSpc>
                <a:spcPct val="150000"/>
              </a:lnSpc>
              <a:buNone/>
            </a:pPr>
            <a:r>
              <a:rPr lang="en-US" sz="1600" dirty="0" err="1">
                <a:solidFill>
                  <a:srgbClr val="C5D5E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sportág</a:t>
            </a:r>
            <a:r>
              <a:rPr lang="en-US" sz="1600" dirty="0">
                <a:solidFill>
                  <a:srgbClr val="C5D5E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is.</a:t>
            </a:r>
            <a:endParaRPr lang="en-US" sz="1600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56032"/>
            <a:ext cx="54864" cy="713232"/>
          </a:xfrm>
          <a:prstGeom prst="rect">
            <a:avLst/>
          </a:prstGeom>
          <a:solidFill>
            <a:srgbClr val="E9A227"/>
          </a:solidFill>
          <a:ln w="12700">
            <a:solidFill>
              <a:srgbClr val="E9A227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3" name="Text 1"/>
          <p:cNvSpPr/>
          <p:nvPr/>
        </p:nvSpPr>
        <p:spPr>
          <a:xfrm>
            <a:off x="658368" y="201168"/>
            <a:ext cx="8046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Rendszer Architektúra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0" y="1097280"/>
            <a:ext cx="9144000" cy="16459"/>
          </a:xfrm>
          <a:prstGeom prst="rect">
            <a:avLst/>
          </a:prstGeom>
          <a:solidFill>
            <a:srgbClr val="1F3050"/>
          </a:solidFill>
          <a:ln w="12700">
            <a:solidFill>
              <a:srgbClr val="1F3050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5" name="Shape 3"/>
          <p:cNvSpPr/>
          <p:nvPr/>
        </p:nvSpPr>
        <p:spPr>
          <a:xfrm>
            <a:off x="0" y="5102352"/>
            <a:ext cx="9144000" cy="41148"/>
          </a:xfrm>
          <a:prstGeom prst="rect">
            <a:avLst/>
          </a:prstGeom>
          <a:solidFill>
            <a:srgbClr val="1F3050"/>
          </a:solidFill>
          <a:ln w="12700">
            <a:solidFill>
              <a:srgbClr val="1F3050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7" name="Shape 5"/>
          <p:cNvSpPr/>
          <p:nvPr/>
        </p:nvSpPr>
        <p:spPr>
          <a:xfrm>
            <a:off x="960120" y="2304288"/>
            <a:ext cx="7178040" cy="20117"/>
          </a:xfrm>
          <a:prstGeom prst="rect">
            <a:avLst/>
          </a:prstGeom>
          <a:solidFill>
            <a:srgbClr val="1F3050"/>
          </a:solidFill>
          <a:ln w="12700">
            <a:solidFill>
              <a:srgbClr val="1F3050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9" name="Text 7"/>
          <p:cNvSpPr/>
          <p:nvPr/>
        </p:nvSpPr>
        <p:spPr>
          <a:xfrm>
            <a:off x="1024128" y="1298448"/>
            <a:ext cx="694944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1298448" y="2258568"/>
            <a:ext cx="146304" cy="146304"/>
          </a:xfrm>
          <a:prstGeom prst="ellipse">
            <a:avLst/>
          </a:prstGeom>
          <a:solidFill>
            <a:srgbClr val="E9A227"/>
          </a:solidFill>
          <a:ln w="12700">
            <a:solidFill>
              <a:srgbClr val="E9A227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11" name="Shape 9"/>
          <p:cNvSpPr/>
          <p:nvPr/>
        </p:nvSpPr>
        <p:spPr>
          <a:xfrm>
            <a:off x="411480" y="2514600"/>
            <a:ext cx="1920240" cy="2286000"/>
          </a:xfrm>
          <a:prstGeom prst="rect">
            <a:avLst/>
          </a:prstGeom>
          <a:solidFill>
            <a:srgbClr val="1A2B42"/>
          </a:solidFill>
          <a:ln w="9525">
            <a:solidFill>
              <a:srgbClr val="1F3050"/>
            </a:solidFill>
            <a:prstDash val="solid"/>
          </a:ln>
          <a:effectLst>
            <a:outerShdw blurRad="101600" dist="254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hu-HU"/>
          </a:p>
        </p:txBody>
      </p:sp>
      <p:sp>
        <p:nvSpPr>
          <p:cNvPr id="12" name="Text 10"/>
          <p:cNvSpPr/>
          <p:nvPr/>
        </p:nvSpPr>
        <p:spPr>
          <a:xfrm>
            <a:off x="539496" y="2596896"/>
            <a:ext cx="16642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kern="0" spc="150" dirty="0">
                <a:solidFill>
                  <a:srgbClr val="E9A22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FRONTEND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539496" y="2898648"/>
            <a:ext cx="1600200" cy="36576"/>
          </a:xfrm>
          <a:prstGeom prst="rect">
            <a:avLst/>
          </a:prstGeom>
          <a:solidFill>
            <a:srgbClr val="E9A227"/>
          </a:solidFill>
          <a:ln w="12700">
            <a:solidFill>
              <a:srgbClr val="E9A227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14" name="Text 12"/>
          <p:cNvSpPr/>
          <p:nvPr/>
        </p:nvSpPr>
        <p:spPr>
          <a:xfrm>
            <a:off x="539496" y="2999232"/>
            <a:ext cx="16642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>
              <a:lnSpc>
                <a:spcPct val="140000"/>
              </a:lnSpc>
            </a:pPr>
            <a:r>
              <a:rPr lang="en-US" sz="1400" dirty="0">
                <a:solidFill>
                  <a:srgbClr val="C5D5E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React </a:t>
            </a:r>
            <a:endParaRPr lang="hu-HU" sz="1400" dirty="0">
              <a:solidFill>
                <a:srgbClr val="C5D5E8"/>
              </a:solidFill>
              <a:latin typeface="Trebuchet MS" pitchFamily="34" charset="0"/>
              <a:ea typeface="Trebuchet MS" pitchFamily="34" charset="-122"/>
              <a:cs typeface="Trebuchet MS" pitchFamily="34" charset="-120"/>
            </a:endParaRPr>
          </a:p>
          <a:p>
            <a:pPr algn="ctr">
              <a:lnSpc>
                <a:spcPct val="140000"/>
              </a:lnSpc>
            </a:pPr>
            <a:r>
              <a:rPr lang="en-US" sz="1400" dirty="0">
                <a:solidFill>
                  <a:srgbClr val="C5D5E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React Router v7</a:t>
            </a:r>
            <a:endParaRPr lang="en-US" sz="1400" dirty="0"/>
          </a:p>
          <a:p>
            <a:pPr algn="ctr">
              <a:lnSpc>
                <a:spcPct val="140000"/>
              </a:lnSpc>
            </a:pPr>
            <a:r>
              <a:rPr lang="en-US" sz="1400" dirty="0">
                <a:solidFill>
                  <a:srgbClr val="C5D5E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Tailwind CSS</a:t>
            </a:r>
            <a:endParaRPr lang="en-US" sz="1400" dirty="0"/>
          </a:p>
          <a:p>
            <a:pPr algn="ctr">
              <a:lnSpc>
                <a:spcPct val="140000"/>
              </a:lnSpc>
            </a:pPr>
            <a:r>
              <a:rPr lang="en-US" sz="1400" dirty="0">
                <a:solidFill>
                  <a:srgbClr val="C5D5E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Flowbite React komponens könyvtár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3127248" y="1298448"/>
            <a:ext cx="694944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3401568" y="2258568"/>
            <a:ext cx="146304" cy="146304"/>
          </a:xfrm>
          <a:prstGeom prst="ellipse">
            <a:avLst/>
          </a:prstGeom>
          <a:solidFill>
            <a:srgbClr val="E9A227"/>
          </a:solidFill>
          <a:ln w="12700">
            <a:solidFill>
              <a:srgbClr val="E9A227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18" name="Shape 16"/>
          <p:cNvSpPr/>
          <p:nvPr/>
        </p:nvSpPr>
        <p:spPr>
          <a:xfrm>
            <a:off x="2514600" y="2514600"/>
            <a:ext cx="1920240" cy="2286000"/>
          </a:xfrm>
          <a:prstGeom prst="rect">
            <a:avLst/>
          </a:prstGeom>
          <a:solidFill>
            <a:srgbClr val="1A2B42"/>
          </a:solidFill>
          <a:ln w="9525">
            <a:solidFill>
              <a:srgbClr val="1F3050"/>
            </a:solidFill>
            <a:prstDash val="solid"/>
          </a:ln>
          <a:effectLst>
            <a:outerShdw blurRad="101600" dist="254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hu-HU"/>
          </a:p>
        </p:txBody>
      </p:sp>
      <p:sp>
        <p:nvSpPr>
          <p:cNvPr id="19" name="Text 17"/>
          <p:cNvSpPr/>
          <p:nvPr/>
        </p:nvSpPr>
        <p:spPr>
          <a:xfrm>
            <a:off x="2642616" y="2596896"/>
            <a:ext cx="16642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kern="0" spc="150" dirty="0">
                <a:solidFill>
                  <a:srgbClr val="E9A22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BACKEND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2642616" y="2898648"/>
            <a:ext cx="1600200" cy="36576"/>
          </a:xfrm>
          <a:prstGeom prst="rect">
            <a:avLst/>
          </a:prstGeom>
          <a:solidFill>
            <a:srgbClr val="E9A227"/>
          </a:solidFill>
          <a:ln w="12700">
            <a:solidFill>
              <a:srgbClr val="E9A227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21" name="Text 19"/>
          <p:cNvSpPr/>
          <p:nvPr/>
        </p:nvSpPr>
        <p:spPr>
          <a:xfrm>
            <a:off x="2642616" y="2999232"/>
            <a:ext cx="16642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40000"/>
              </a:lnSpc>
              <a:buNone/>
            </a:pPr>
            <a:r>
              <a:rPr lang="en-US" sz="1400" dirty="0">
                <a:solidFill>
                  <a:srgbClr val="C5D5E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Express / Node.js</a:t>
            </a:r>
            <a:endParaRPr lang="en-US" sz="1400" dirty="0"/>
          </a:p>
          <a:p>
            <a:pPr marL="0" indent="0" algn="ctr">
              <a:lnSpc>
                <a:spcPct val="140000"/>
              </a:lnSpc>
              <a:buNone/>
            </a:pPr>
            <a:r>
              <a:rPr lang="en-US" sz="1400" dirty="0">
                <a:solidFill>
                  <a:srgbClr val="C5D5E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Odin </a:t>
            </a:r>
            <a:endParaRPr lang="hu-HU" sz="1400" dirty="0">
              <a:solidFill>
                <a:srgbClr val="C5D5E8"/>
              </a:solidFill>
              <a:latin typeface="Trebuchet MS" pitchFamily="34" charset="0"/>
              <a:ea typeface="Trebuchet MS" pitchFamily="34" charset="-122"/>
              <a:cs typeface="Trebuchet MS" pitchFamily="34" charset="-120"/>
            </a:endParaRPr>
          </a:p>
          <a:p>
            <a:pPr marL="0" indent="0" algn="ctr">
              <a:lnSpc>
                <a:spcPct val="140000"/>
              </a:lnSpc>
              <a:buNone/>
            </a:pPr>
            <a:r>
              <a:rPr lang="hu-HU" sz="1400" dirty="0" err="1">
                <a:solidFill>
                  <a:srgbClr val="C5D5E8"/>
                </a:solidFill>
                <a:latin typeface="Trebuchet MS" pitchFamily="34" charset="0"/>
              </a:rPr>
              <a:t>Caddy</a:t>
            </a:r>
            <a:r>
              <a:rPr lang="hu-HU" sz="1400" dirty="0">
                <a:solidFill>
                  <a:srgbClr val="C5D5E8"/>
                </a:solidFill>
                <a:latin typeface="Trebuchet MS" pitchFamily="34" charset="0"/>
              </a:rPr>
              <a:t> szerver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5230368" y="1298448"/>
            <a:ext cx="694944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5504688" y="2258568"/>
            <a:ext cx="146304" cy="146304"/>
          </a:xfrm>
          <a:prstGeom prst="ellipse">
            <a:avLst/>
          </a:prstGeom>
          <a:solidFill>
            <a:srgbClr val="E9A227"/>
          </a:solidFill>
          <a:ln w="12700">
            <a:solidFill>
              <a:srgbClr val="E9A227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25" name="Shape 23"/>
          <p:cNvSpPr/>
          <p:nvPr/>
        </p:nvSpPr>
        <p:spPr>
          <a:xfrm>
            <a:off x="4617720" y="2514600"/>
            <a:ext cx="1920240" cy="2286000"/>
          </a:xfrm>
          <a:prstGeom prst="rect">
            <a:avLst/>
          </a:prstGeom>
          <a:solidFill>
            <a:srgbClr val="1A2B42"/>
          </a:solidFill>
          <a:ln w="9525">
            <a:solidFill>
              <a:srgbClr val="1F3050"/>
            </a:solidFill>
            <a:prstDash val="solid"/>
          </a:ln>
          <a:effectLst>
            <a:outerShdw blurRad="101600" dist="254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hu-HU"/>
          </a:p>
        </p:txBody>
      </p:sp>
      <p:sp>
        <p:nvSpPr>
          <p:cNvPr id="26" name="Text 24"/>
          <p:cNvSpPr/>
          <p:nvPr/>
        </p:nvSpPr>
        <p:spPr>
          <a:xfrm>
            <a:off x="4745736" y="2596896"/>
            <a:ext cx="16642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kern="0" spc="150" dirty="0">
                <a:solidFill>
                  <a:srgbClr val="E9A22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ADATBÁZIS</a:t>
            </a:r>
            <a:endParaRPr lang="en-US" sz="1600" dirty="0"/>
          </a:p>
        </p:txBody>
      </p:sp>
      <p:sp>
        <p:nvSpPr>
          <p:cNvPr id="27" name="Shape 25"/>
          <p:cNvSpPr/>
          <p:nvPr/>
        </p:nvSpPr>
        <p:spPr>
          <a:xfrm>
            <a:off x="4745736" y="2898648"/>
            <a:ext cx="1600200" cy="36576"/>
          </a:xfrm>
          <a:prstGeom prst="rect">
            <a:avLst/>
          </a:prstGeom>
          <a:solidFill>
            <a:srgbClr val="E9A227"/>
          </a:solidFill>
          <a:ln w="12700">
            <a:solidFill>
              <a:srgbClr val="E9A227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28" name="Text 26"/>
          <p:cNvSpPr/>
          <p:nvPr/>
        </p:nvSpPr>
        <p:spPr>
          <a:xfrm>
            <a:off x="4745736" y="2999232"/>
            <a:ext cx="16642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40000"/>
              </a:lnSpc>
              <a:buNone/>
            </a:pPr>
            <a:r>
              <a:rPr lang="en-US" sz="1400" dirty="0">
                <a:solidFill>
                  <a:srgbClr val="C5D5E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MySQL </a:t>
            </a:r>
            <a:endParaRPr lang="hu-HU" sz="1400" dirty="0">
              <a:solidFill>
                <a:srgbClr val="C5D5E8"/>
              </a:solidFill>
              <a:latin typeface="Trebuchet MS" pitchFamily="34" charset="0"/>
              <a:ea typeface="Trebuchet MS" pitchFamily="34" charset="-122"/>
              <a:cs typeface="Trebuchet MS" pitchFamily="34" charset="-120"/>
            </a:endParaRPr>
          </a:p>
          <a:p>
            <a:pPr marL="0" indent="0" algn="ctr">
              <a:lnSpc>
                <a:spcPct val="140000"/>
              </a:lnSpc>
              <a:buNone/>
            </a:pPr>
            <a:r>
              <a:rPr lang="en-US" sz="1400" dirty="0">
                <a:solidFill>
                  <a:srgbClr val="C5D5E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PostgreSQL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7333488" y="1298448"/>
            <a:ext cx="694944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1400" dirty="0"/>
          </a:p>
        </p:txBody>
      </p:sp>
      <p:sp>
        <p:nvSpPr>
          <p:cNvPr id="31" name="Shape 29"/>
          <p:cNvSpPr/>
          <p:nvPr/>
        </p:nvSpPr>
        <p:spPr>
          <a:xfrm>
            <a:off x="7607808" y="2258568"/>
            <a:ext cx="146304" cy="146304"/>
          </a:xfrm>
          <a:prstGeom prst="ellipse">
            <a:avLst/>
          </a:prstGeom>
          <a:solidFill>
            <a:srgbClr val="E9A227"/>
          </a:solidFill>
          <a:ln w="12700">
            <a:solidFill>
              <a:srgbClr val="E9A227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32" name="Shape 30"/>
          <p:cNvSpPr/>
          <p:nvPr/>
        </p:nvSpPr>
        <p:spPr>
          <a:xfrm>
            <a:off x="6720840" y="2514600"/>
            <a:ext cx="1920240" cy="2286000"/>
          </a:xfrm>
          <a:prstGeom prst="rect">
            <a:avLst/>
          </a:prstGeom>
          <a:solidFill>
            <a:srgbClr val="1A2B42"/>
          </a:solidFill>
          <a:ln w="9525">
            <a:solidFill>
              <a:srgbClr val="1F3050"/>
            </a:solidFill>
            <a:prstDash val="solid"/>
          </a:ln>
          <a:effectLst>
            <a:outerShdw blurRad="101600" dist="254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hu-HU"/>
          </a:p>
        </p:txBody>
      </p:sp>
      <p:sp>
        <p:nvSpPr>
          <p:cNvPr id="33" name="Text 31"/>
          <p:cNvSpPr/>
          <p:nvPr/>
        </p:nvSpPr>
        <p:spPr>
          <a:xfrm>
            <a:off x="6848856" y="2596896"/>
            <a:ext cx="16642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kern="0" spc="150" dirty="0">
                <a:solidFill>
                  <a:srgbClr val="E9A22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TESZTELÉS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848856" y="2898648"/>
            <a:ext cx="1600200" cy="36576"/>
          </a:xfrm>
          <a:prstGeom prst="rect">
            <a:avLst/>
          </a:prstGeom>
          <a:solidFill>
            <a:srgbClr val="E9A227"/>
          </a:solidFill>
          <a:ln w="12700">
            <a:solidFill>
              <a:srgbClr val="E9A227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35" name="Text 33"/>
          <p:cNvSpPr/>
          <p:nvPr/>
        </p:nvSpPr>
        <p:spPr>
          <a:xfrm>
            <a:off x="6848856" y="2999232"/>
            <a:ext cx="16642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40000"/>
              </a:lnSpc>
              <a:buNone/>
            </a:pPr>
            <a:r>
              <a:rPr lang="en-US" sz="1400" dirty="0">
                <a:solidFill>
                  <a:srgbClr val="C5D5E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Cypress</a:t>
            </a:r>
            <a:endParaRPr lang="hu-HU" sz="1400" dirty="0">
              <a:solidFill>
                <a:srgbClr val="C5D5E8"/>
              </a:solidFill>
              <a:latin typeface="Trebuchet MS" pitchFamily="34" charset="0"/>
              <a:ea typeface="Trebuchet MS" pitchFamily="34" charset="-122"/>
              <a:cs typeface="Trebuchet MS" pitchFamily="34" charset="-120"/>
            </a:endParaRPr>
          </a:p>
          <a:p>
            <a:pPr marL="0" indent="0" algn="ctr">
              <a:lnSpc>
                <a:spcPct val="140000"/>
              </a:lnSpc>
              <a:buNone/>
            </a:pPr>
            <a:r>
              <a:rPr lang="hu-HU" sz="1400" dirty="0" err="1">
                <a:solidFill>
                  <a:srgbClr val="C5D5E8"/>
                </a:solidFill>
                <a:latin typeface="Trebuchet MS" pitchFamily="34" charset="0"/>
              </a:rPr>
              <a:t>Jest</a:t>
            </a:r>
            <a:endParaRPr lang="en-US" sz="1400" dirty="0"/>
          </a:p>
        </p:txBody>
      </p:sp>
      <p:pic>
        <p:nvPicPr>
          <p:cNvPr id="38" name="Kép 37">
            <a:extLst>
              <a:ext uri="{FF2B5EF4-FFF2-40B4-BE49-F238E27FC236}">
                <a16:creationId xmlns:a16="http://schemas.microsoft.com/office/drawing/2014/main" id="{67D48EFC-9131-6EC6-BD60-CDEA9BABD4A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2502" y="1325039"/>
            <a:ext cx="821129" cy="757965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76200" dist="38100" dir="78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contrasting" dir="t">
              <a:rot lat="0" lon="0" rev="4200000"/>
            </a:lightRig>
          </a:scene3d>
          <a:sp3d prstMaterial="plastic">
            <a:bevelT w="381000" h="114300" prst="relaxedInset"/>
            <a:contourClr>
              <a:srgbClr val="969696"/>
            </a:contourClr>
          </a:sp3d>
        </p:spPr>
      </p:pic>
      <p:pic>
        <p:nvPicPr>
          <p:cNvPr id="40" name="Kép 39">
            <a:extLst>
              <a:ext uri="{FF2B5EF4-FFF2-40B4-BE49-F238E27FC236}">
                <a16:creationId xmlns:a16="http://schemas.microsoft.com/office/drawing/2014/main" id="{DB1931A8-C045-DA4A-A937-E8FE2922E68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64461" y="1283415"/>
            <a:ext cx="821128" cy="847137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76200" dist="38100" dir="78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contrasting" dir="t">
              <a:rot lat="0" lon="0" rev="4200000"/>
            </a:lightRig>
          </a:scene3d>
          <a:sp3d prstMaterial="plastic">
            <a:bevelT w="381000" h="114300" prst="relaxedInset"/>
            <a:contourClr>
              <a:srgbClr val="969696"/>
            </a:contourClr>
          </a:sp3d>
        </p:spPr>
      </p:pic>
      <p:pic>
        <p:nvPicPr>
          <p:cNvPr id="42" name="Kép 41">
            <a:extLst>
              <a:ext uri="{FF2B5EF4-FFF2-40B4-BE49-F238E27FC236}">
                <a16:creationId xmlns:a16="http://schemas.microsoft.com/office/drawing/2014/main" id="{2CE54654-A298-69AB-1534-6580DE950DB0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sharpenSoften amount="-5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7270395" y="1280874"/>
            <a:ext cx="821129" cy="849678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76200" dist="38100" dir="78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contrasting" dir="t">
              <a:rot lat="0" lon="0" rev="4200000"/>
            </a:lightRig>
          </a:scene3d>
          <a:sp3d prstMaterial="plastic">
            <a:bevelT w="381000" h="114300" prst="relaxedInset"/>
            <a:contourClr>
              <a:srgbClr val="969696"/>
            </a:contourClr>
          </a:sp3d>
        </p:spPr>
      </p:pic>
      <p:pic>
        <p:nvPicPr>
          <p:cNvPr id="8" name="Kép 7">
            <a:extLst>
              <a:ext uri="{FF2B5EF4-FFF2-40B4-BE49-F238E27FC236}">
                <a16:creationId xmlns:a16="http://schemas.microsoft.com/office/drawing/2014/main" id="{D583B7B1-8186-CB38-721F-F8C2C0002D1D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768778" y="1337010"/>
            <a:ext cx="1420535" cy="738678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B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56032"/>
            <a:ext cx="54864" cy="713232"/>
          </a:xfrm>
          <a:prstGeom prst="rect">
            <a:avLst/>
          </a:prstGeom>
          <a:solidFill>
            <a:srgbClr val="E9A227"/>
          </a:solidFill>
          <a:ln w="12700">
            <a:solidFill>
              <a:srgbClr val="E9A227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3" name="Text 1"/>
          <p:cNvSpPr/>
          <p:nvPr/>
        </p:nvSpPr>
        <p:spPr>
          <a:xfrm>
            <a:off x="658368" y="201168"/>
            <a:ext cx="8046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Az </a:t>
            </a:r>
            <a:r>
              <a:rPr lang="hu-HU" sz="32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a</a:t>
            </a:r>
            <a:r>
              <a:rPr lang="en-US" sz="3200" b="1" dirty="0" err="1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lkalmazás</a:t>
            </a:r>
            <a:r>
              <a:rPr lang="en-US" sz="32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 </a:t>
            </a:r>
            <a:r>
              <a:rPr lang="hu-HU" sz="32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f</a:t>
            </a:r>
            <a:r>
              <a:rPr lang="en-US" sz="3200" b="1" dirty="0" err="1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őbb</a:t>
            </a:r>
            <a:r>
              <a:rPr lang="en-US" sz="32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 </a:t>
            </a:r>
            <a:r>
              <a:rPr lang="hu-HU" sz="32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f</a:t>
            </a:r>
            <a:r>
              <a:rPr lang="en-US" sz="3200" b="1" dirty="0" err="1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unkciói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0" y="1097280"/>
            <a:ext cx="9144000" cy="16459"/>
          </a:xfrm>
          <a:prstGeom prst="rect">
            <a:avLst/>
          </a:prstGeom>
          <a:solidFill>
            <a:srgbClr val="1F3050"/>
          </a:solidFill>
          <a:ln w="12700">
            <a:solidFill>
              <a:srgbClr val="1F3050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5" name="Shape 3"/>
          <p:cNvSpPr/>
          <p:nvPr/>
        </p:nvSpPr>
        <p:spPr>
          <a:xfrm>
            <a:off x="0" y="5102352"/>
            <a:ext cx="9144000" cy="41148"/>
          </a:xfrm>
          <a:prstGeom prst="rect">
            <a:avLst/>
          </a:prstGeom>
          <a:solidFill>
            <a:srgbClr val="1F3050"/>
          </a:solidFill>
          <a:ln w="12700">
            <a:solidFill>
              <a:srgbClr val="1F3050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7" name="Shape 5"/>
          <p:cNvSpPr/>
          <p:nvPr/>
        </p:nvSpPr>
        <p:spPr>
          <a:xfrm>
            <a:off x="457200" y="1261872"/>
            <a:ext cx="8229600" cy="731520"/>
          </a:xfrm>
          <a:prstGeom prst="rect">
            <a:avLst/>
          </a:prstGeom>
          <a:solidFill>
            <a:srgbClr val="1A2B42"/>
          </a:solidFill>
          <a:ln w="9525">
            <a:solidFill>
              <a:srgbClr val="1F3050"/>
            </a:solidFill>
            <a:prstDash val="solid"/>
          </a:ln>
          <a:effectLst>
            <a:outerShdw blurRad="101600" dist="254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hu-HU"/>
          </a:p>
        </p:txBody>
      </p:sp>
      <p:sp>
        <p:nvSpPr>
          <p:cNvPr id="8" name="Shape 6"/>
          <p:cNvSpPr/>
          <p:nvPr/>
        </p:nvSpPr>
        <p:spPr>
          <a:xfrm>
            <a:off x="457200" y="1261872"/>
            <a:ext cx="45720" cy="731520"/>
          </a:xfrm>
          <a:prstGeom prst="rect">
            <a:avLst/>
          </a:prstGeom>
          <a:solidFill>
            <a:srgbClr val="E9A227"/>
          </a:solidFill>
          <a:ln w="12700">
            <a:solidFill>
              <a:srgbClr val="E9A227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9" name="Text 7"/>
          <p:cNvSpPr/>
          <p:nvPr/>
        </p:nvSpPr>
        <p:spPr>
          <a:xfrm>
            <a:off x="585216" y="1261872"/>
            <a:ext cx="640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dirty="0"/>
          </a:p>
        </p:txBody>
      </p:sp>
      <p:sp>
        <p:nvSpPr>
          <p:cNvPr id="10" name="Shape 8"/>
          <p:cNvSpPr/>
          <p:nvPr/>
        </p:nvSpPr>
        <p:spPr>
          <a:xfrm>
            <a:off x="1225296" y="1426464"/>
            <a:ext cx="16459" cy="402336"/>
          </a:xfrm>
          <a:prstGeom prst="rect">
            <a:avLst/>
          </a:prstGeom>
          <a:solidFill>
            <a:srgbClr val="1F3050"/>
          </a:solidFill>
          <a:ln w="12700">
            <a:solidFill>
              <a:srgbClr val="1F3050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11" name="Text 9"/>
          <p:cNvSpPr/>
          <p:nvPr/>
        </p:nvSpPr>
        <p:spPr>
          <a:xfrm>
            <a:off x="1335024" y="1316736"/>
            <a:ext cx="71323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Termékek böngészése, szűrése</a:t>
            </a:r>
            <a:endParaRPr lang="en-US" dirty="0"/>
          </a:p>
        </p:txBody>
      </p:sp>
      <p:sp>
        <p:nvSpPr>
          <p:cNvPr id="12" name="Shape 10"/>
          <p:cNvSpPr/>
          <p:nvPr/>
        </p:nvSpPr>
        <p:spPr>
          <a:xfrm>
            <a:off x="457200" y="2157984"/>
            <a:ext cx="8229600" cy="731520"/>
          </a:xfrm>
          <a:prstGeom prst="rect">
            <a:avLst/>
          </a:prstGeom>
          <a:solidFill>
            <a:srgbClr val="1A2B42"/>
          </a:solidFill>
          <a:ln w="9525">
            <a:solidFill>
              <a:srgbClr val="1F3050"/>
            </a:solidFill>
            <a:prstDash val="solid"/>
          </a:ln>
          <a:effectLst>
            <a:outerShdw blurRad="101600" dist="254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hu-HU"/>
          </a:p>
        </p:txBody>
      </p:sp>
      <p:sp>
        <p:nvSpPr>
          <p:cNvPr id="13" name="Shape 11"/>
          <p:cNvSpPr/>
          <p:nvPr/>
        </p:nvSpPr>
        <p:spPr>
          <a:xfrm>
            <a:off x="457200" y="2157984"/>
            <a:ext cx="45720" cy="731520"/>
          </a:xfrm>
          <a:prstGeom prst="rect">
            <a:avLst/>
          </a:prstGeom>
          <a:solidFill>
            <a:srgbClr val="E9A227"/>
          </a:solidFill>
          <a:ln w="12700">
            <a:solidFill>
              <a:srgbClr val="E9A227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14" name="Text 12"/>
          <p:cNvSpPr/>
          <p:nvPr/>
        </p:nvSpPr>
        <p:spPr>
          <a:xfrm>
            <a:off x="585216" y="2157984"/>
            <a:ext cx="640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dirty="0"/>
          </a:p>
        </p:txBody>
      </p:sp>
      <p:sp>
        <p:nvSpPr>
          <p:cNvPr id="15" name="Shape 13"/>
          <p:cNvSpPr/>
          <p:nvPr/>
        </p:nvSpPr>
        <p:spPr>
          <a:xfrm>
            <a:off x="1225296" y="2322576"/>
            <a:ext cx="16459" cy="402336"/>
          </a:xfrm>
          <a:prstGeom prst="rect">
            <a:avLst/>
          </a:prstGeom>
          <a:solidFill>
            <a:srgbClr val="1F3050"/>
          </a:solidFill>
          <a:ln w="12700">
            <a:solidFill>
              <a:srgbClr val="1F3050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16" name="Text 14"/>
          <p:cNvSpPr/>
          <p:nvPr/>
        </p:nvSpPr>
        <p:spPr>
          <a:xfrm>
            <a:off x="1335024" y="2212848"/>
            <a:ext cx="71323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Regisztráció / Bejelentkezés</a:t>
            </a:r>
            <a:endParaRPr lang="en-US" dirty="0"/>
          </a:p>
        </p:txBody>
      </p:sp>
      <p:sp>
        <p:nvSpPr>
          <p:cNvPr id="17" name="Shape 15"/>
          <p:cNvSpPr/>
          <p:nvPr/>
        </p:nvSpPr>
        <p:spPr>
          <a:xfrm>
            <a:off x="457200" y="3054096"/>
            <a:ext cx="8229600" cy="731520"/>
          </a:xfrm>
          <a:prstGeom prst="rect">
            <a:avLst/>
          </a:prstGeom>
          <a:solidFill>
            <a:srgbClr val="1A2B42"/>
          </a:solidFill>
          <a:ln w="9525">
            <a:solidFill>
              <a:srgbClr val="1F3050"/>
            </a:solidFill>
            <a:prstDash val="solid"/>
          </a:ln>
          <a:effectLst>
            <a:outerShdw blurRad="101600" dist="254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hu-HU"/>
          </a:p>
        </p:txBody>
      </p:sp>
      <p:sp>
        <p:nvSpPr>
          <p:cNvPr id="18" name="Shape 16"/>
          <p:cNvSpPr/>
          <p:nvPr/>
        </p:nvSpPr>
        <p:spPr>
          <a:xfrm>
            <a:off x="457200" y="3054096"/>
            <a:ext cx="45720" cy="731520"/>
          </a:xfrm>
          <a:prstGeom prst="rect">
            <a:avLst/>
          </a:prstGeom>
          <a:solidFill>
            <a:srgbClr val="E9A227"/>
          </a:solidFill>
          <a:ln w="12700">
            <a:solidFill>
              <a:srgbClr val="E9A227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19" name="Text 17"/>
          <p:cNvSpPr/>
          <p:nvPr/>
        </p:nvSpPr>
        <p:spPr>
          <a:xfrm>
            <a:off x="585216" y="3054096"/>
            <a:ext cx="640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dirty="0"/>
          </a:p>
        </p:txBody>
      </p:sp>
      <p:sp>
        <p:nvSpPr>
          <p:cNvPr id="20" name="Shape 18"/>
          <p:cNvSpPr/>
          <p:nvPr/>
        </p:nvSpPr>
        <p:spPr>
          <a:xfrm>
            <a:off x="1225296" y="3218688"/>
            <a:ext cx="16459" cy="402336"/>
          </a:xfrm>
          <a:prstGeom prst="rect">
            <a:avLst/>
          </a:prstGeom>
          <a:solidFill>
            <a:srgbClr val="1F3050"/>
          </a:solidFill>
          <a:ln w="12700">
            <a:solidFill>
              <a:srgbClr val="1F3050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21" name="Text 19"/>
          <p:cNvSpPr/>
          <p:nvPr/>
        </p:nvSpPr>
        <p:spPr>
          <a:xfrm>
            <a:off x="1335024" y="3108960"/>
            <a:ext cx="71323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hu-HU" dirty="0" err="1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Kerékpárs</a:t>
            </a:r>
            <a:r>
              <a:rPr lang="en-US" dirty="0" err="1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zerviz</a:t>
            </a:r>
            <a:r>
              <a:rPr lang="en-US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foglalás</a:t>
            </a:r>
            <a:endParaRPr lang="en-US" dirty="0"/>
          </a:p>
        </p:txBody>
      </p:sp>
      <p:sp>
        <p:nvSpPr>
          <p:cNvPr id="22" name="Shape 20"/>
          <p:cNvSpPr/>
          <p:nvPr/>
        </p:nvSpPr>
        <p:spPr>
          <a:xfrm>
            <a:off x="457200" y="3950208"/>
            <a:ext cx="8229600" cy="731520"/>
          </a:xfrm>
          <a:prstGeom prst="rect">
            <a:avLst/>
          </a:prstGeom>
          <a:solidFill>
            <a:srgbClr val="1A2B42"/>
          </a:solidFill>
          <a:ln w="9525">
            <a:solidFill>
              <a:srgbClr val="1F3050"/>
            </a:solidFill>
            <a:prstDash val="solid"/>
          </a:ln>
          <a:effectLst>
            <a:outerShdw blurRad="101600" dist="254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hu-HU"/>
          </a:p>
        </p:txBody>
      </p:sp>
      <p:sp>
        <p:nvSpPr>
          <p:cNvPr id="23" name="Shape 21"/>
          <p:cNvSpPr/>
          <p:nvPr/>
        </p:nvSpPr>
        <p:spPr>
          <a:xfrm>
            <a:off x="457200" y="3950208"/>
            <a:ext cx="45720" cy="731520"/>
          </a:xfrm>
          <a:prstGeom prst="rect">
            <a:avLst/>
          </a:prstGeom>
          <a:solidFill>
            <a:srgbClr val="E9A227"/>
          </a:solidFill>
          <a:ln w="12700">
            <a:solidFill>
              <a:srgbClr val="E9A227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24" name="Text 22"/>
          <p:cNvSpPr/>
          <p:nvPr/>
        </p:nvSpPr>
        <p:spPr>
          <a:xfrm>
            <a:off x="585216" y="3950208"/>
            <a:ext cx="640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dirty="0"/>
          </a:p>
        </p:txBody>
      </p:sp>
      <p:sp>
        <p:nvSpPr>
          <p:cNvPr id="25" name="Shape 23"/>
          <p:cNvSpPr/>
          <p:nvPr/>
        </p:nvSpPr>
        <p:spPr>
          <a:xfrm>
            <a:off x="1225296" y="4114800"/>
            <a:ext cx="16459" cy="402336"/>
          </a:xfrm>
          <a:prstGeom prst="rect">
            <a:avLst/>
          </a:prstGeom>
          <a:solidFill>
            <a:srgbClr val="1F3050"/>
          </a:solidFill>
          <a:ln w="12700">
            <a:solidFill>
              <a:srgbClr val="1F3050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26" name="Text 24"/>
          <p:cNvSpPr/>
          <p:nvPr/>
        </p:nvSpPr>
        <p:spPr>
          <a:xfrm>
            <a:off x="1335023" y="4005072"/>
            <a:ext cx="7318857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600"/>
              </a:spcAft>
              <a:buNone/>
            </a:pPr>
            <a:r>
              <a:rPr lang="hu-HU" dirty="0">
                <a:solidFill>
                  <a:srgbClr val="FFFFFF"/>
                </a:solidFill>
                <a:latin typeface="Trebuchet MS" pitchFamily="34" charset="0"/>
              </a:rPr>
              <a:t>Megrendelési folyamat (kosár       adatok        e-mail visszaigazolás)</a:t>
            </a:r>
            <a:endParaRPr lang="en-US" dirty="0">
              <a:solidFill>
                <a:srgbClr val="FFFFFF"/>
              </a:solidFill>
              <a:latin typeface="Trebuchet MS" pitchFamily="34" charset="0"/>
            </a:endParaRPr>
          </a:p>
        </p:txBody>
      </p:sp>
      <p:cxnSp>
        <p:nvCxnSpPr>
          <p:cNvPr id="27" name="Egyenes összekötő nyíllal 26">
            <a:extLst>
              <a:ext uri="{FF2B5EF4-FFF2-40B4-BE49-F238E27FC236}">
                <a16:creationId xmlns:a16="http://schemas.microsoft.com/office/drawing/2014/main" id="{C7129F49-E6B7-1200-FE7B-5DBF7866F18C}"/>
              </a:ext>
            </a:extLst>
          </p:cNvPr>
          <p:cNvCxnSpPr>
            <a:cxnSpLocks/>
          </p:cNvCxnSpPr>
          <p:nvPr/>
        </p:nvCxnSpPr>
        <p:spPr>
          <a:xfrm>
            <a:off x="4384357" y="4328160"/>
            <a:ext cx="375285" cy="0"/>
          </a:xfrm>
          <a:prstGeom prst="straightConnector1">
            <a:avLst/>
          </a:prstGeom>
          <a:ln w="19050"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Egyenes összekötő nyíllal 28">
            <a:extLst>
              <a:ext uri="{FF2B5EF4-FFF2-40B4-BE49-F238E27FC236}">
                <a16:creationId xmlns:a16="http://schemas.microsoft.com/office/drawing/2014/main" id="{A1305938-92D1-5945-23E3-1B88BFAB8B96}"/>
              </a:ext>
            </a:extLst>
          </p:cNvPr>
          <p:cNvCxnSpPr>
            <a:cxnSpLocks/>
          </p:cNvCxnSpPr>
          <p:nvPr/>
        </p:nvCxnSpPr>
        <p:spPr>
          <a:xfrm>
            <a:off x="5634037" y="4328160"/>
            <a:ext cx="375285" cy="0"/>
          </a:xfrm>
          <a:prstGeom prst="straightConnector1">
            <a:avLst/>
          </a:prstGeom>
          <a:ln w="19050"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Shape 7">
            <a:extLst>
              <a:ext uri="{FF2B5EF4-FFF2-40B4-BE49-F238E27FC236}">
                <a16:creationId xmlns:a16="http://schemas.microsoft.com/office/drawing/2014/main" id="{280A4678-34B1-3322-CBE2-4DB9477F33BF}"/>
              </a:ext>
            </a:extLst>
          </p:cNvPr>
          <p:cNvSpPr/>
          <p:nvPr/>
        </p:nvSpPr>
        <p:spPr>
          <a:xfrm>
            <a:off x="770910" y="1517904"/>
            <a:ext cx="219456" cy="219456"/>
          </a:xfrm>
          <a:prstGeom prst="ellipse">
            <a:avLst/>
          </a:prstGeom>
          <a:solidFill>
            <a:srgbClr val="E9A227"/>
          </a:solidFill>
          <a:ln w="12700">
            <a:solidFill>
              <a:srgbClr val="E9A227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28" name="Shape 7">
            <a:extLst>
              <a:ext uri="{FF2B5EF4-FFF2-40B4-BE49-F238E27FC236}">
                <a16:creationId xmlns:a16="http://schemas.microsoft.com/office/drawing/2014/main" id="{FF47BFA9-3048-7D92-3C38-EB2053EFDD24}"/>
              </a:ext>
            </a:extLst>
          </p:cNvPr>
          <p:cNvSpPr/>
          <p:nvPr/>
        </p:nvSpPr>
        <p:spPr>
          <a:xfrm>
            <a:off x="770910" y="2395306"/>
            <a:ext cx="219456" cy="219456"/>
          </a:xfrm>
          <a:prstGeom prst="ellipse">
            <a:avLst/>
          </a:prstGeom>
          <a:solidFill>
            <a:srgbClr val="E9A227"/>
          </a:solidFill>
          <a:ln w="12700">
            <a:solidFill>
              <a:srgbClr val="E9A227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30" name="Shape 7">
            <a:extLst>
              <a:ext uri="{FF2B5EF4-FFF2-40B4-BE49-F238E27FC236}">
                <a16:creationId xmlns:a16="http://schemas.microsoft.com/office/drawing/2014/main" id="{E4983FDF-8D4C-E0B1-87FA-AE059E0644ED}"/>
              </a:ext>
            </a:extLst>
          </p:cNvPr>
          <p:cNvSpPr/>
          <p:nvPr/>
        </p:nvSpPr>
        <p:spPr>
          <a:xfrm>
            <a:off x="770910" y="3310128"/>
            <a:ext cx="219456" cy="219456"/>
          </a:xfrm>
          <a:prstGeom prst="ellipse">
            <a:avLst/>
          </a:prstGeom>
          <a:solidFill>
            <a:srgbClr val="E9A227"/>
          </a:solidFill>
          <a:ln w="12700">
            <a:solidFill>
              <a:srgbClr val="E9A227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31" name="Shape 7">
            <a:extLst>
              <a:ext uri="{FF2B5EF4-FFF2-40B4-BE49-F238E27FC236}">
                <a16:creationId xmlns:a16="http://schemas.microsoft.com/office/drawing/2014/main" id="{8DD0E068-3EC7-25AF-E13B-4D0E38734738}"/>
              </a:ext>
            </a:extLst>
          </p:cNvPr>
          <p:cNvSpPr/>
          <p:nvPr/>
        </p:nvSpPr>
        <p:spPr>
          <a:xfrm>
            <a:off x="773020" y="4199206"/>
            <a:ext cx="219456" cy="219456"/>
          </a:xfrm>
          <a:prstGeom prst="ellipse">
            <a:avLst/>
          </a:prstGeom>
          <a:solidFill>
            <a:srgbClr val="E9A227"/>
          </a:solidFill>
          <a:ln w="12700">
            <a:solidFill>
              <a:srgbClr val="E9A227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3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4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5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7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8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1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2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3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5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6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7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9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0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1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3" dur="5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4" dur="5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9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0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1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3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4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5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7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8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1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2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3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5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6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7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9" dur="5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0" dur="5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1" fill="hold">
                      <p:stCondLst>
                        <p:cond delay="indefinite"/>
                      </p:stCondLst>
                      <p:childTnLst>
                        <p:par>
                          <p:cTn id="82" fill="hold">
                            <p:stCondLst>
                              <p:cond delay="0"/>
                            </p:stCondLst>
                            <p:childTnLst>
                              <p:par>
                                <p:cTn id="83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5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6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7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9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0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1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3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4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5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7" dur="5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8" dur="5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1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2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3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5" dur="5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6" dur="5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7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9" dur="5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0" dur="5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1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3" dur="5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4" dur="5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6" grpId="0" animBg="1"/>
      <p:bldP spid="28" grpId="0" animBg="1"/>
      <p:bldP spid="30" grpId="0" animBg="1"/>
      <p:bldP spid="31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B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56032"/>
            <a:ext cx="54864" cy="713232"/>
          </a:xfrm>
          <a:prstGeom prst="rect">
            <a:avLst/>
          </a:prstGeom>
          <a:solidFill>
            <a:srgbClr val="E9A227"/>
          </a:solidFill>
          <a:ln w="12700">
            <a:solidFill>
              <a:srgbClr val="E9A227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3" name="Text 1"/>
          <p:cNvSpPr/>
          <p:nvPr/>
        </p:nvSpPr>
        <p:spPr>
          <a:xfrm>
            <a:off x="658368" y="201168"/>
            <a:ext cx="8046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hu-HU" sz="3200" b="1" dirty="0">
                <a:solidFill>
                  <a:srgbClr val="FFFFFF"/>
                </a:solidFill>
                <a:latin typeface="Palatino Linotype" pitchFamily="34" charset="0"/>
              </a:rPr>
              <a:t>Adatbázistáblák 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0" y="1097280"/>
            <a:ext cx="9144000" cy="16459"/>
          </a:xfrm>
          <a:prstGeom prst="rect">
            <a:avLst/>
          </a:prstGeom>
          <a:solidFill>
            <a:srgbClr val="1F3050"/>
          </a:solidFill>
          <a:ln w="12700">
            <a:solidFill>
              <a:srgbClr val="1F3050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5" name="Shape 3"/>
          <p:cNvSpPr/>
          <p:nvPr/>
        </p:nvSpPr>
        <p:spPr>
          <a:xfrm>
            <a:off x="0" y="5102352"/>
            <a:ext cx="9144000" cy="41148"/>
          </a:xfrm>
          <a:prstGeom prst="rect">
            <a:avLst/>
          </a:prstGeom>
          <a:solidFill>
            <a:srgbClr val="1F3050"/>
          </a:solidFill>
          <a:ln w="12700">
            <a:solidFill>
              <a:srgbClr val="1F3050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pic>
        <p:nvPicPr>
          <p:cNvPr id="31" name="Kép 30">
            <a:extLst>
              <a:ext uri="{FF2B5EF4-FFF2-40B4-BE49-F238E27FC236}">
                <a16:creationId xmlns:a16="http://schemas.microsoft.com/office/drawing/2014/main" id="{CD02984A-589D-2537-3AC9-D01E456C0FD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64" y="1253813"/>
            <a:ext cx="8888172" cy="446751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B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56032"/>
            <a:ext cx="54864" cy="713232"/>
          </a:xfrm>
          <a:prstGeom prst="rect">
            <a:avLst/>
          </a:prstGeom>
          <a:solidFill>
            <a:srgbClr val="E9A227"/>
          </a:solidFill>
          <a:ln w="12700">
            <a:solidFill>
              <a:srgbClr val="E9A227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3" name="Text 1"/>
          <p:cNvSpPr/>
          <p:nvPr/>
        </p:nvSpPr>
        <p:spPr>
          <a:xfrm>
            <a:off x="658368" y="201168"/>
            <a:ext cx="8046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hu-HU" sz="3200" b="1" dirty="0">
                <a:solidFill>
                  <a:srgbClr val="FFFFFF"/>
                </a:solidFill>
                <a:latin typeface="Palatino Linotype" pitchFamily="34" charset="0"/>
              </a:rPr>
              <a:t>Backend architektúra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0" y="1097280"/>
            <a:ext cx="9144000" cy="16459"/>
          </a:xfrm>
          <a:prstGeom prst="rect">
            <a:avLst/>
          </a:prstGeom>
          <a:solidFill>
            <a:srgbClr val="1F3050"/>
          </a:solidFill>
          <a:ln w="12700">
            <a:solidFill>
              <a:srgbClr val="1F3050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5" name="Shape 3"/>
          <p:cNvSpPr/>
          <p:nvPr/>
        </p:nvSpPr>
        <p:spPr>
          <a:xfrm>
            <a:off x="0" y="5102352"/>
            <a:ext cx="9144000" cy="41148"/>
          </a:xfrm>
          <a:prstGeom prst="rect">
            <a:avLst/>
          </a:prstGeom>
          <a:solidFill>
            <a:srgbClr val="1F3050"/>
          </a:solidFill>
          <a:ln w="12700">
            <a:solidFill>
              <a:srgbClr val="1F3050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8" name="Shape 5"/>
          <p:cNvSpPr/>
          <p:nvPr/>
        </p:nvSpPr>
        <p:spPr>
          <a:xfrm>
            <a:off x="4357979" y="1206369"/>
            <a:ext cx="4434840" cy="3742639"/>
          </a:xfrm>
          <a:prstGeom prst="rect">
            <a:avLst/>
          </a:prstGeom>
          <a:solidFill>
            <a:srgbClr val="000000">
              <a:alpha val="0"/>
            </a:srgbClr>
          </a:solidFill>
          <a:ln w="12700">
            <a:solidFill>
              <a:srgbClr val="E9A227"/>
            </a:solidFill>
            <a:prstDash val="solid"/>
          </a:ln>
        </p:spPr>
        <p:txBody>
          <a:bodyPr/>
          <a:lstStyle/>
          <a:p>
            <a:endParaRPr lang="hu-HU" dirty="0"/>
          </a:p>
        </p:txBody>
      </p:sp>
      <p:sp>
        <p:nvSpPr>
          <p:cNvPr id="10" name="Shape 7"/>
          <p:cNvSpPr/>
          <p:nvPr/>
        </p:nvSpPr>
        <p:spPr>
          <a:xfrm>
            <a:off x="475488" y="1210744"/>
            <a:ext cx="3657600" cy="658368"/>
          </a:xfrm>
          <a:prstGeom prst="rect">
            <a:avLst/>
          </a:prstGeom>
          <a:solidFill>
            <a:srgbClr val="1A2B42"/>
          </a:solidFill>
          <a:ln w="9525">
            <a:solidFill>
              <a:srgbClr val="1F3050"/>
            </a:solidFill>
            <a:prstDash val="solid"/>
          </a:ln>
          <a:effectLst>
            <a:outerShdw blurRad="101600" dist="254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hu-HU"/>
          </a:p>
        </p:txBody>
      </p:sp>
      <p:sp>
        <p:nvSpPr>
          <p:cNvPr id="11" name="Shape 8"/>
          <p:cNvSpPr/>
          <p:nvPr/>
        </p:nvSpPr>
        <p:spPr>
          <a:xfrm>
            <a:off x="475488" y="1210744"/>
            <a:ext cx="45720" cy="658368"/>
          </a:xfrm>
          <a:prstGeom prst="rect">
            <a:avLst/>
          </a:prstGeom>
          <a:solidFill>
            <a:srgbClr val="E9A227"/>
          </a:solidFill>
          <a:ln w="12700">
            <a:solidFill>
              <a:srgbClr val="E9A227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12" name="Text 9"/>
          <p:cNvSpPr/>
          <p:nvPr/>
        </p:nvSpPr>
        <p:spPr>
          <a:xfrm>
            <a:off x="649224" y="1283896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4" name="Shape 11"/>
          <p:cNvSpPr/>
          <p:nvPr/>
        </p:nvSpPr>
        <p:spPr>
          <a:xfrm>
            <a:off x="475488" y="2168478"/>
            <a:ext cx="3657600" cy="658368"/>
          </a:xfrm>
          <a:prstGeom prst="rect">
            <a:avLst/>
          </a:prstGeom>
          <a:solidFill>
            <a:srgbClr val="1A2B42"/>
          </a:solidFill>
          <a:ln w="9525">
            <a:solidFill>
              <a:srgbClr val="1F3050"/>
            </a:solidFill>
            <a:prstDash val="solid"/>
          </a:ln>
          <a:effectLst>
            <a:outerShdw blurRad="101600" dist="254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hu-HU"/>
          </a:p>
        </p:txBody>
      </p:sp>
      <p:sp>
        <p:nvSpPr>
          <p:cNvPr id="15" name="Shape 12"/>
          <p:cNvSpPr/>
          <p:nvPr/>
        </p:nvSpPr>
        <p:spPr>
          <a:xfrm>
            <a:off x="475488" y="2168478"/>
            <a:ext cx="45720" cy="658368"/>
          </a:xfrm>
          <a:prstGeom prst="rect">
            <a:avLst/>
          </a:prstGeom>
          <a:solidFill>
            <a:srgbClr val="E9A227"/>
          </a:solidFill>
          <a:ln w="12700">
            <a:solidFill>
              <a:srgbClr val="E9A227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16" name="Text 13"/>
          <p:cNvSpPr/>
          <p:nvPr/>
        </p:nvSpPr>
        <p:spPr>
          <a:xfrm>
            <a:off x="649224" y="2241630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2" name="Shape 19"/>
          <p:cNvSpPr/>
          <p:nvPr/>
        </p:nvSpPr>
        <p:spPr>
          <a:xfrm>
            <a:off x="517635" y="3151812"/>
            <a:ext cx="3615453" cy="658368"/>
          </a:xfrm>
          <a:prstGeom prst="rect">
            <a:avLst/>
          </a:prstGeom>
          <a:solidFill>
            <a:srgbClr val="1A2B42"/>
          </a:solidFill>
          <a:ln w="9525">
            <a:solidFill>
              <a:srgbClr val="1F3050"/>
            </a:solidFill>
            <a:prstDash val="solid"/>
          </a:ln>
          <a:effectLst>
            <a:outerShdw blurRad="101600" dist="254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hu-HU"/>
          </a:p>
        </p:txBody>
      </p:sp>
      <p:sp>
        <p:nvSpPr>
          <p:cNvPr id="23" name="Shape 20"/>
          <p:cNvSpPr/>
          <p:nvPr/>
        </p:nvSpPr>
        <p:spPr>
          <a:xfrm>
            <a:off x="476487" y="3151812"/>
            <a:ext cx="45719" cy="658368"/>
          </a:xfrm>
          <a:prstGeom prst="rect">
            <a:avLst/>
          </a:prstGeom>
          <a:solidFill>
            <a:srgbClr val="E9A227"/>
          </a:solidFill>
          <a:ln w="12700">
            <a:solidFill>
              <a:srgbClr val="E9A227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24" name="Text 21"/>
          <p:cNvSpPr/>
          <p:nvPr/>
        </p:nvSpPr>
        <p:spPr>
          <a:xfrm>
            <a:off x="712471" y="3362124"/>
            <a:ext cx="336532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hu-HU" b="1" dirty="0">
                <a:solidFill>
                  <a:srgbClr val="FFFFFF"/>
                </a:solidFill>
                <a:latin typeface="Trebuchet MS" pitchFamily="34" charset="0"/>
              </a:rPr>
              <a:t>Üzleti logika / validáció</a:t>
            </a:r>
            <a:endParaRPr lang="en-US" dirty="0"/>
          </a:p>
        </p:txBody>
      </p:sp>
      <p:sp>
        <p:nvSpPr>
          <p:cNvPr id="27" name="Szövegdoboz 26">
            <a:extLst>
              <a:ext uri="{FF2B5EF4-FFF2-40B4-BE49-F238E27FC236}">
                <a16:creationId xmlns:a16="http://schemas.microsoft.com/office/drawing/2014/main" id="{865A44B1-0E0C-C8F4-6AF3-8B65071E45BB}"/>
              </a:ext>
            </a:extLst>
          </p:cNvPr>
          <p:cNvSpPr txBox="1"/>
          <p:nvPr/>
        </p:nvSpPr>
        <p:spPr>
          <a:xfrm>
            <a:off x="4982232" y="1325799"/>
            <a:ext cx="309770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hu-HU" sz="2000" dirty="0">
                <a:solidFill>
                  <a:schemeClr val="bg1"/>
                </a:solidFill>
                <a:latin typeface="Trebuchet MS" panose="020B0603020202020204" pitchFamily="34" charset="0"/>
              </a:rPr>
              <a:t>HTTP réteg</a:t>
            </a:r>
          </a:p>
        </p:txBody>
      </p:sp>
      <p:cxnSp>
        <p:nvCxnSpPr>
          <p:cNvPr id="28" name="Egyenes összekötő nyíllal 27">
            <a:extLst>
              <a:ext uri="{FF2B5EF4-FFF2-40B4-BE49-F238E27FC236}">
                <a16:creationId xmlns:a16="http://schemas.microsoft.com/office/drawing/2014/main" id="{EABE338B-0837-4C00-1299-906511864357}"/>
              </a:ext>
            </a:extLst>
          </p:cNvPr>
          <p:cNvCxnSpPr>
            <a:cxnSpLocks/>
          </p:cNvCxnSpPr>
          <p:nvPr/>
        </p:nvCxnSpPr>
        <p:spPr>
          <a:xfrm>
            <a:off x="6544394" y="1730805"/>
            <a:ext cx="0" cy="418953"/>
          </a:xfrm>
          <a:prstGeom prst="straightConnector1">
            <a:avLst/>
          </a:prstGeom>
          <a:ln w="50800"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Szövegdoboz 28">
            <a:extLst>
              <a:ext uri="{FF2B5EF4-FFF2-40B4-BE49-F238E27FC236}">
                <a16:creationId xmlns:a16="http://schemas.microsoft.com/office/drawing/2014/main" id="{61EE9E8C-701F-E1DB-3732-0DDE0D136D3A}"/>
              </a:ext>
            </a:extLst>
          </p:cNvPr>
          <p:cNvSpPr txBox="1"/>
          <p:nvPr/>
        </p:nvSpPr>
        <p:spPr>
          <a:xfrm>
            <a:off x="4959723" y="3215984"/>
            <a:ext cx="309770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hu-HU" sz="2000" dirty="0" err="1">
                <a:solidFill>
                  <a:schemeClr val="bg1"/>
                </a:solidFill>
                <a:latin typeface="Trebuchet MS" panose="020B0603020202020204" pitchFamily="34" charset="0"/>
              </a:rPr>
              <a:t>Logic</a:t>
            </a:r>
            <a:r>
              <a:rPr lang="hu-HU" sz="2000" dirty="0">
                <a:solidFill>
                  <a:schemeClr val="bg1"/>
                </a:solidFill>
                <a:latin typeface="Trebuchet MS" panose="020B0603020202020204" pitchFamily="34" charset="0"/>
              </a:rPr>
              <a:t> réteg</a:t>
            </a:r>
          </a:p>
        </p:txBody>
      </p:sp>
      <p:sp>
        <p:nvSpPr>
          <p:cNvPr id="30" name="Szövegdoboz 29">
            <a:extLst>
              <a:ext uri="{FF2B5EF4-FFF2-40B4-BE49-F238E27FC236}">
                <a16:creationId xmlns:a16="http://schemas.microsoft.com/office/drawing/2014/main" id="{C0D0A382-F704-F034-559F-DEF4DA5E5AAE}"/>
              </a:ext>
            </a:extLst>
          </p:cNvPr>
          <p:cNvSpPr txBox="1"/>
          <p:nvPr/>
        </p:nvSpPr>
        <p:spPr>
          <a:xfrm>
            <a:off x="4742027" y="2221146"/>
            <a:ext cx="361673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hu-HU" sz="2000" dirty="0">
                <a:solidFill>
                  <a:schemeClr val="bg1"/>
                </a:solidFill>
                <a:latin typeface="Trebuchet MS" panose="020B0603020202020204" pitchFamily="34" charset="0"/>
              </a:rPr>
              <a:t>Auth (</a:t>
            </a:r>
            <a:r>
              <a:rPr lang="hu-HU" sz="2000" dirty="0" err="1">
                <a:solidFill>
                  <a:schemeClr val="bg1"/>
                </a:solidFill>
                <a:latin typeface="Trebuchet MS" panose="020B0603020202020204" pitchFamily="34" charset="0"/>
              </a:rPr>
              <a:t>token</a:t>
            </a:r>
            <a:r>
              <a:rPr lang="hu-HU" sz="2000" dirty="0">
                <a:solidFill>
                  <a:schemeClr val="bg1"/>
                </a:solidFill>
                <a:latin typeface="Trebuchet MS" panose="020B0603020202020204" pitchFamily="34" charset="0"/>
              </a:rPr>
              <a:t>, </a:t>
            </a:r>
            <a:r>
              <a:rPr lang="hu-HU" sz="2000" dirty="0" err="1">
                <a:solidFill>
                  <a:schemeClr val="bg1"/>
                </a:solidFill>
                <a:latin typeface="Trebuchet MS" panose="020B0603020202020204" pitchFamily="34" charset="0"/>
              </a:rPr>
              <a:t>password</a:t>
            </a:r>
            <a:r>
              <a:rPr lang="hu-HU" sz="2000" dirty="0">
                <a:solidFill>
                  <a:schemeClr val="bg1"/>
                </a:solidFill>
                <a:latin typeface="Trebuchet MS" panose="020B0603020202020204" pitchFamily="34" charset="0"/>
              </a:rPr>
              <a:t>)  réteg</a:t>
            </a:r>
          </a:p>
        </p:txBody>
      </p:sp>
      <p:cxnSp>
        <p:nvCxnSpPr>
          <p:cNvPr id="31" name="Egyenes összekötő nyíllal 30">
            <a:extLst>
              <a:ext uri="{FF2B5EF4-FFF2-40B4-BE49-F238E27FC236}">
                <a16:creationId xmlns:a16="http://schemas.microsoft.com/office/drawing/2014/main" id="{C360D6D5-590F-8ACA-1FDA-7D7825BE79D8}"/>
              </a:ext>
            </a:extLst>
          </p:cNvPr>
          <p:cNvCxnSpPr>
            <a:cxnSpLocks/>
          </p:cNvCxnSpPr>
          <p:nvPr/>
        </p:nvCxnSpPr>
        <p:spPr>
          <a:xfrm>
            <a:off x="6531085" y="2747207"/>
            <a:ext cx="0" cy="418953"/>
          </a:xfrm>
          <a:prstGeom prst="straightConnector1">
            <a:avLst/>
          </a:prstGeom>
          <a:ln w="50800"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Egyenes összekötő nyíllal 31">
            <a:extLst>
              <a:ext uri="{FF2B5EF4-FFF2-40B4-BE49-F238E27FC236}">
                <a16:creationId xmlns:a16="http://schemas.microsoft.com/office/drawing/2014/main" id="{5545E209-3B60-F33F-9458-8EAC2BAEA58B}"/>
              </a:ext>
            </a:extLst>
          </p:cNvPr>
          <p:cNvCxnSpPr>
            <a:cxnSpLocks/>
          </p:cNvCxnSpPr>
          <p:nvPr/>
        </p:nvCxnSpPr>
        <p:spPr>
          <a:xfrm>
            <a:off x="6531085" y="3754988"/>
            <a:ext cx="0" cy="418953"/>
          </a:xfrm>
          <a:prstGeom prst="straightConnector1">
            <a:avLst/>
          </a:prstGeom>
          <a:ln w="50800"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Szövegdoboz 32">
            <a:extLst>
              <a:ext uri="{FF2B5EF4-FFF2-40B4-BE49-F238E27FC236}">
                <a16:creationId xmlns:a16="http://schemas.microsoft.com/office/drawing/2014/main" id="{E3FBD997-BEF7-0B80-34C9-003163F4A864}"/>
              </a:ext>
            </a:extLst>
          </p:cNvPr>
          <p:cNvSpPr txBox="1"/>
          <p:nvPr/>
        </p:nvSpPr>
        <p:spPr>
          <a:xfrm>
            <a:off x="4285652" y="4304095"/>
            <a:ext cx="4579494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hu-HU" sz="2000" dirty="0">
                <a:solidFill>
                  <a:schemeClr val="bg1"/>
                </a:solidFill>
                <a:latin typeface="Trebuchet MS" panose="020B0603020202020204" pitchFamily="34" charset="0"/>
              </a:rPr>
              <a:t>DB / </a:t>
            </a:r>
            <a:r>
              <a:rPr lang="hu-HU" sz="2000" dirty="0" err="1">
                <a:solidFill>
                  <a:schemeClr val="bg1"/>
                </a:solidFill>
                <a:latin typeface="Trebuchet MS" panose="020B0603020202020204" pitchFamily="34" charset="0"/>
              </a:rPr>
              <a:t>Pool</a:t>
            </a:r>
            <a:r>
              <a:rPr lang="hu-HU" sz="2000" dirty="0">
                <a:solidFill>
                  <a:schemeClr val="bg1"/>
                </a:solidFill>
                <a:latin typeface="Trebuchet MS" panose="020B0603020202020204" pitchFamily="34" charset="0"/>
              </a:rPr>
              <a:t> réteg</a:t>
            </a:r>
          </a:p>
        </p:txBody>
      </p:sp>
      <p:sp>
        <p:nvSpPr>
          <p:cNvPr id="34" name="Szövegdoboz 33">
            <a:extLst>
              <a:ext uri="{FF2B5EF4-FFF2-40B4-BE49-F238E27FC236}">
                <a16:creationId xmlns:a16="http://schemas.microsoft.com/office/drawing/2014/main" id="{27F70F5A-1FC7-D2A2-2E55-995380CC2950}"/>
              </a:ext>
            </a:extLst>
          </p:cNvPr>
          <p:cNvSpPr txBox="1"/>
          <p:nvPr/>
        </p:nvSpPr>
        <p:spPr>
          <a:xfrm>
            <a:off x="537736" y="1384607"/>
            <a:ext cx="355701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b="1" dirty="0" err="1">
                <a:solidFill>
                  <a:schemeClr val="bg1"/>
                </a:solidFill>
                <a:latin typeface="Trebuchet MS" panose="020B0603020202020204" pitchFamily="34" charset="0"/>
              </a:rPr>
              <a:t>Routing</a:t>
            </a:r>
            <a:r>
              <a:rPr lang="hu-HU" b="1" dirty="0">
                <a:solidFill>
                  <a:schemeClr val="bg1"/>
                </a:solidFill>
                <a:latin typeface="Trebuchet MS" panose="020B0603020202020204" pitchFamily="34" charset="0"/>
              </a:rPr>
              <a:t> kérés / válasz kezelés</a:t>
            </a:r>
          </a:p>
        </p:txBody>
      </p:sp>
      <p:sp>
        <p:nvSpPr>
          <p:cNvPr id="35" name="Szövegdoboz 34">
            <a:extLst>
              <a:ext uri="{FF2B5EF4-FFF2-40B4-BE49-F238E27FC236}">
                <a16:creationId xmlns:a16="http://schemas.microsoft.com/office/drawing/2014/main" id="{41664BBE-5605-57BA-D3B1-ACC1C87A389F}"/>
              </a:ext>
            </a:extLst>
          </p:cNvPr>
          <p:cNvSpPr txBox="1"/>
          <p:nvPr/>
        </p:nvSpPr>
        <p:spPr>
          <a:xfrm>
            <a:off x="517635" y="2202629"/>
            <a:ext cx="355701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b="1" dirty="0">
                <a:solidFill>
                  <a:schemeClr val="bg1"/>
                </a:solidFill>
                <a:latin typeface="Trebuchet MS" panose="020B0603020202020204" pitchFamily="34" charset="0"/>
              </a:rPr>
              <a:t>Saját implementáció, biztonsági megoldások</a:t>
            </a:r>
          </a:p>
        </p:txBody>
      </p:sp>
      <p:sp>
        <p:nvSpPr>
          <p:cNvPr id="36" name="Shape 19">
            <a:extLst>
              <a:ext uri="{FF2B5EF4-FFF2-40B4-BE49-F238E27FC236}">
                <a16:creationId xmlns:a16="http://schemas.microsoft.com/office/drawing/2014/main" id="{92470E23-6573-3929-1DF0-393FDE912DD7}"/>
              </a:ext>
            </a:extLst>
          </p:cNvPr>
          <p:cNvSpPr/>
          <p:nvPr/>
        </p:nvSpPr>
        <p:spPr>
          <a:xfrm>
            <a:off x="475488" y="4173941"/>
            <a:ext cx="3657600" cy="658368"/>
          </a:xfrm>
          <a:prstGeom prst="rect">
            <a:avLst/>
          </a:prstGeom>
          <a:solidFill>
            <a:srgbClr val="1A2B42"/>
          </a:solidFill>
          <a:ln w="9525">
            <a:solidFill>
              <a:srgbClr val="1F3050"/>
            </a:solidFill>
            <a:prstDash val="solid"/>
          </a:ln>
          <a:effectLst>
            <a:outerShdw blurRad="101600" dist="254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hu-HU"/>
          </a:p>
        </p:txBody>
      </p:sp>
      <p:sp>
        <p:nvSpPr>
          <p:cNvPr id="37" name="Shape 20">
            <a:extLst>
              <a:ext uri="{FF2B5EF4-FFF2-40B4-BE49-F238E27FC236}">
                <a16:creationId xmlns:a16="http://schemas.microsoft.com/office/drawing/2014/main" id="{68E03687-989B-91A0-45D5-01C8E9FE9924}"/>
              </a:ext>
            </a:extLst>
          </p:cNvPr>
          <p:cNvSpPr/>
          <p:nvPr/>
        </p:nvSpPr>
        <p:spPr>
          <a:xfrm>
            <a:off x="475488" y="4173941"/>
            <a:ext cx="45720" cy="658368"/>
          </a:xfrm>
          <a:prstGeom prst="rect">
            <a:avLst/>
          </a:prstGeom>
          <a:solidFill>
            <a:srgbClr val="E9A227"/>
          </a:solidFill>
          <a:ln w="12700">
            <a:solidFill>
              <a:srgbClr val="E9A227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38" name="Text 21">
            <a:extLst>
              <a:ext uri="{FF2B5EF4-FFF2-40B4-BE49-F238E27FC236}">
                <a16:creationId xmlns:a16="http://schemas.microsoft.com/office/drawing/2014/main" id="{2FA9B8C6-D104-7BBF-2DCF-3FABB0EF9EED}"/>
              </a:ext>
            </a:extLst>
          </p:cNvPr>
          <p:cNvSpPr/>
          <p:nvPr/>
        </p:nvSpPr>
        <p:spPr>
          <a:xfrm>
            <a:off x="618274" y="4364180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hu-HU" b="1" dirty="0">
                <a:solidFill>
                  <a:schemeClr val="bg1"/>
                </a:solidFill>
                <a:latin typeface="Trebuchet MS" panose="020B0603020202020204" pitchFamily="34" charset="0"/>
              </a:rPr>
              <a:t>Lekérdezések / </a:t>
            </a:r>
            <a:r>
              <a:rPr lang="hu-HU" b="1" dirty="0" err="1">
                <a:solidFill>
                  <a:schemeClr val="bg1"/>
                </a:solidFill>
                <a:latin typeface="Trebuchet MS" panose="020B0603020202020204" pitchFamily="34" charset="0"/>
              </a:rPr>
              <a:t>connection</a:t>
            </a:r>
            <a:r>
              <a:rPr lang="hu-HU" b="1" dirty="0">
                <a:solidFill>
                  <a:schemeClr val="bg1"/>
                </a:solidFill>
                <a:latin typeface="Trebuchet MS" panose="020B0603020202020204" pitchFamily="34" charset="0"/>
              </a:rPr>
              <a:t> </a:t>
            </a:r>
            <a:r>
              <a:rPr lang="hu-HU" b="1" dirty="0" err="1">
                <a:solidFill>
                  <a:schemeClr val="bg1"/>
                </a:solidFill>
                <a:latin typeface="Trebuchet MS" panose="020B0603020202020204" pitchFamily="34" charset="0"/>
              </a:rPr>
              <a:t>pooling</a:t>
            </a:r>
            <a:r>
              <a:rPr lang="hu-HU" b="1" dirty="0">
                <a:solidFill>
                  <a:schemeClr val="bg1"/>
                </a:solidFill>
                <a:latin typeface="Trebuchet MS" panose="020B0603020202020204" pitchFamily="34" charset="0"/>
              </a:rPr>
              <a:t>, </a:t>
            </a:r>
            <a:r>
              <a:rPr lang="hu-HU" b="1" dirty="0" err="1">
                <a:solidFill>
                  <a:schemeClr val="bg1"/>
                </a:solidFill>
                <a:latin typeface="Trebuchet MS" panose="020B0603020202020204" pitchFamily="34" charset="0"/>
              </a:rPr>
              <a:t>prepared</a:t>
            </a:r>
            <a:r>
              <a:rPr lang="hu-HU" b="1" dirty="0">
                <a:solidFill>
                  <a:schemeClr val="bg1"/>
                </a:solidFill>
                <a:latin typeface="Trebuchet MS" panose="020B0603020202020204" pitchFamily="34" charset="0"/>
              </a:rPr>
              <a:t> </a:t>
            </a:r>
            <a:r>
              <a:rPr lang="hu-HU" b="1" dirty="0" err="1">
                <a:solidFill>
                  <a:schemeClr val="bg1"/>
                </a:solidFill>
                <a:latin typeface="Trebuchet MS" panose="020B0603020202020204" pitchFamily="34" charset="0"/>
              </a:rPr>
              <a:t>statements</a:t>
            </a:r>
            <a:endParaRPr lang="en-US" b="1" dirty="0">
              <a:solidFill>
                <a:schemeClr val="bg1"/>
              </a:solidFill>
              <a:latin typeface="Trebuchet MS" panose="020B0603020202020204" pitchFamily="34" charset="0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5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3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5" dur="5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6" dur="5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1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2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3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5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6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7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9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0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1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3" dur="5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4" dur="5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9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0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1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3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4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5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7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8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1" dur="5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2" dur="5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7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8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1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2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3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5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6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7" fill="hold">
                      <p:stCondLst>
                        <p:cond delay="indefinite"/>
                      </p:stCondLst>
                      <p:childTnLst>
                        <p:par>
                          <p:cTn id="88" fill="hold">
                            <p:stCondLst>
                              <p:cond delay="0"/>
                            </p:stCondLst>
                            <p:childTnLst>
                              <p:par>
                                <p:cTn id="89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1" dur="5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2" dur="5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3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5" dur="5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6" dur="5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7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9" dur="5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0" dur="5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10" grpId="0" animBg="1"/>
      <p:bldP spid="11" grpId="0" animBg="1"/>
      <p:bldP spid="12" grpId="0" animBg="1"/>
      <p:bldP spid="14" grpId="0" animBg="1"/>
      <p:bldP spid="15" grpId="0" animBg="1"/>
      <p:bldP spid="16" grpId="0" animBg="1"/>
      <p:bldP spid="22" grpId="0" animBg="1"/>
      <p:bldP spid="23" grpId="0" animBg="1"/>
      <p:bldP spid="24" grpId="0" animBg="1"/>
      <p:bldP spid="27" grpId="0"/>
      <p:bldP spid="29" grpId="0"/>
      <p:bldP spid="30" grpId="0"/>
      <p:bldP spid="33" grpId="0"/>
      <p:bldP spid="34" grpId="0"/>
      <p:bldP spid="35" grpId="0"/>
      <p:bldP spid="36" grpId="0" animBg="1"/>
      <p:bldP spid="37" grpId="0" animBg="1"/>
      <p:bldP spid="38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62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2357634-6BCD-BB12-2C1C-249E59E844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Kép 6">
            <a:extLst>
              <a:ext uri="{FF2B5EF4-FFF2-40B4-BE49-F238E27FC236}">
                <a16:creationId xmlns:a16="http://schemas.microsoft.com/office/drawing/2014/main" id="{82E95F48-4292-5205-BE78-1CA14A98430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0453" y="2403053"/>
            <a:ext cx="4203073" cy="771633"/>
          </a:xfrm>
          <a:prstGeom prst="rect">
            <a:avLst/>
          </a:prstGeom>
        </p:spPr>
      </p:pic>
      <p:sp>
        <p:nvSpPr>
          <p:cNvPr id="2" name="Shape 0">
            <a:extLst>
              <a:ext uri="{FF2B5EF4-FFF2-40B4-BE49-F238E27FC236}">
                <a16:creationId xmlns:a16="http://schemas.microsoft.com/office/drawing/2014/main" id="{E7ED4DA6-2097-0C78-BEF0-365F426EFAD0}"/>
              </a:ext>
            </a:extLst>
          </p:cNvPr>
          <p:cNvSpPr/>
          <p:nvPr/>
        </p:nvSpPr>
        <p:spPr>
          <a:xfrm>
            <a:off x="457200" y="256032"/>
            <a:ext cx="54864" cy="713232"/>
          </a:xfrm>
          <a:prstGeom prst="rect">
            <a:avLst/>
          </a:prstGeom>
          <a:solidFill>
            <a:srgbClr val="E9A227"/>
          </a:solidFill>
          <a:ln w="12700">
            <a:solidFill>
              <a:srgbClr val="E9A227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7BE80FB2-33D1-F975-87F0-6F634A9EDF22}"/>
              </a:ext>
            </a:extLst>
          </p:cNvPr>
          <p:cNvSpPr/>
          <p:nvPr/>
        </p:nvSpPr>
        <p:spPr>
          <a:xfrm>
            <a:off x="658368" y="201168"/>
            <a:ext cx="8046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hu-HU" sz="3200" b="1" dirty="0" err="1">
                <a:solidFill>
                  <a:schemeClr val="bg1"/>
                </a:solidFill>
                <a:latin typeface="Palatino Linotype" panose="02040502050505030304" pitchFamily="18" charset="0"/>
              </a:rPr>
              <a:t>Token</a:t>
            </a:r>
            <a:r>
              <a:rPr lang="hu-HU" sz="3200" b="1" dirty="0">
                <a:solidFill>
                  <a:schemeClr val="bg1"/>
                </a:solidFill>
                <a:latin typeface="Palatino Linotype" panose="02040502050505030304" pitchFamily="18" charset="0"/>
              </a:rPr>
              <a:t> rendszer  </a:t>
            </a:r>
            <a:endParaRPr lang="en-US" sz="3200" b="1" dirty="0">
              <a:solidFill>
                <a:schemeClr val="bg1"/>
              </a:solidFill>
              <a:latin typeface="Palatino Linotype" panose="02040502050505030304" pitchFamily="18" charset="0"/>
            </a:endParaRPr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BCA8DF1B-F490-CACF-FF96-BA9997268873}"/>
              </a:ext>
            </a:extLst>
          </p:cNvPr>
          <p:cNvSpPr/>
          <p:nvPr/>
        </p:nvSpPr>
        <p:spPr>
          <a:xfrm>
            <a:off x="0" y="1097280"/>
            <a:ext cx="9144000" cy="16459"/>
          </a:xfrm>
          <a:prstGeom prst="rect">
            <a:avLst/>
          </a:prstGeom>
          <a:solidFill>
            <a:srgbClr val="1F3050"/>
          </a:solidFill>
          <a:ln w="12700">
            <a:solidFill>
              <a:srgbClr val="1F3050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3A56F164-1E7E-1815-3DC7-EBC971E2196E}"/>
              </a:ext>
            </a:extLst>
          </p:cNvPr>
          <p:cNvSpPr/>
          <p:nvPr/>
        </p:nvSpPr>
        <p:spPr>
          <a:xfrm>
            <a:off x="0" y="5102352"/>
            <a:ext cx="9144000" cy="41148"/>
          </a:xfrm>
          <a:prstGeom prst="rect">
            <a:avLst/>
          </a:prstGeom>
          <a:solidFill>
            <a:srgbClr val="1F3050"/>
          </a:solidFill>
          <a:ln w="12700">
            <a:solidFill>
              <a:srgbClr val="1F3050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8" name="Shape 5">
            <a:extLst>
              <a:ext uri="{FF2B5EF4-FFF2-40B4-BE49-F238E27FC236}">
                <a16:creationId xmlns:a16="http://schemas.microsoft.com/office/drawing/2014/main" id="{AA4DB985-336E-01E5-6943-03148E0F7943}"/>
              </a:ext>
            </a:extLst>
          </p:cNvPr>
          <p:cNvSpPr/>
          <p:nvPr/>
        </p:nvSpPr>
        <p:spPr>
          <a:xfrm>
            <a:off x="270453" y="2395738"/>
            <a:ext cx="4203073" cy="778948"/>
          </a:xfrm>
          <a:prstGeom prst="rect">
            <a:avLst/>
          </a:prstGeom>
          <a:noFill/>
          <a:ln w="12700">
            <a:solidFill>
              <a:schemeClr val="accent2">
                <a:lumMod val="75000"/>
              </a:schemeClr>
            </a:solidFill>
            <a:prstDash val="solid"/>
          </a:ln>
        </p:spPr>
        <p:txBody>
          <a:bodyPr/>
          <a:lstStyle/>
          <a:p>
            <a:endParaRPr lang="hu-HU" dirty="0"/>
          </a:p>
        </p:txBody>
      </p:sp>
      <p:sp>
        <p:nvSpPr>
          <p:cNvPr id="10" name="Shape 7">
            <a:extLst>
              <a:ext uri="{FF2B5EF4-FFF2-40B4-BE49-F238E27FC236}">
                <a16:creationId xmlns:a16="http://schemas.microsoft.com/office/drawing/2014/main" id="{1CB547E6-A8D4-A687-D749-E6A6530661BE}"/>
              </a:ext>
            </a:extLst>
          </p:cNvPr>
          <p:cNvSpPr/>
          <p:nvPr/>
        </p:nvSpPr>
        <p:spPr>
          <a:xfrm>
            <a:off x="4919472" y="1221297"/>
            <a:ext cx="3657600" cy="658368"/>
          </a:xfrm>
          <a:prstGeom prst="rect">
            <a:avLst/>
          </a:prstGeom>
          <a:solidFill>
            <a:srgbClr val="1A2B42"/>
          </a:solidFill>
          <a:ln w="9525">
            <a:solidFill>
              <a:srgbClr val="1F3050"/>
            </a:solidFill>
            <a:prstDash val="solid"/>
          </a:ln>
          <a:effectLst>
            <a:outerShdw blurRad="101600" dist="254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hu-HU"/>
          </a:p>
        </p:txBody>
      </p:sp>
      <p:sp>
        <p:nvSpPr>
          <p:cNvPr id="11" name="Shape 8">
            <a:extLst>
              <a:ext uri="{FF2B5EF4-FFF2-40B4-BE49-F238E27FC236}">
                <a16:creationId xmlns:a16="http://schemas.microsoft.com/office/drawing/2014/main" id="{36C86907-9491-43AE-852B-2D0A6936F927}"/>
              </a:ext>
            </a:extLst>
          </p:cNvPr>
          <p:cNvSpPr/>
          <p:nvPr/>
        </p:nvSpPr>
        <p:spPr>
          <a:xfrm>
            <a:off x="4919472" y="1221297"/>
            <a:ext cx="45720" cy="658368"/>
          </a:xfrm>
          <a:prstGeom prst="rect">
            <a:avLst/>
          </a:prstGeom>
          <a:solidFill>
            <a:srgbClr val="E9A227"/>
          </a:solidFill>
          <a:ln w="12700">
            <a:solidFill>
              <a:srgbClr val="E9A227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12" name="Text 9">
            <a:extLst>
              <a:ext uri="{FF2B5EF4-FFF2-40B4-BE49-F238E27FC236}">
                <a16:creationId xmlns:a16="http://schemas.microsoft.com/office/drawing/2014/main" id="{7C35662A-BD30-C080-7A5D-969210BFA06A}"/>
              </a:ext>
            </a:extLst>
          </p:cNvPr>
          <p:cNvSpPr/>
          <p:nvPr/>
        </p:nvSpPr>
        <p:spPr>
          <a:xfrm>
            <a:off x="5093208" y="1294449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4" name="Shape 11">
            <a:extLst>
              <a:ext uri="{FF2B5EF4-FFF2-40B4-BE49-F238E27FC236}">
                <a16:creationId xmlns:a16="http://schemas.microsoft.com/office/drawing/2014/main" id="{1CC186EC-C9C1-7B15-765D-423AEEEBE522}"/>
              </a:ext>
            </a:extLst>
          </p:cNvPr>
          <p:cNvSpPr/>
          <p:nvPr/>
        </p:nvSpPr>
        <p:spPr>
          <a:xfrm>
            <a:off x="4919472" y="2155364"/>
            <a:ext cx="3657600" cy="658368"/>
          </a:xfrm>
          <a:prstGeom prst="rect">
            <a:avLst/>
          </a:prstGeom>
          <a:solidFill>
            <a:srgbClr val="1A2B42"/>
          </a:solidFill>
          <a:ln w="9525">
            <a:solidFill>
              <a:srgbClr val="1F3050"/>
            </a:solidFill>
            <a:prstDash val="solid"/>
          </a:ln>
          <a:effectLst>
            <a:outerShdw blurRad="101600" dist="254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hu-HU"/>
          </a:p>
        </p:txBody>
      </p:sp>
      <p:sp>
        <p:nvSpPr>
          <p:cNvPr id="15" name="Shape 12">
            <a:extLst>
              <a:ext uri="{FF2B5EF4-FFF2-40B4-BE49-F238E27FC236}">
                <a16:creationId xmlns:a16="http://schemas.microsoft.com/office/drawing/2014/main" id="{10D6744D-7651-2FF8-F733-DEA007ECD5F2}"/>
              </a:ext>
            </a:extLst>
          </p:cNvPr>
          <p:cNvSpPr/>
          <p:nvPr/>
        </p:nvSpPr>
        <p:spPr>
          <a:xfrm>
            <a:off x="4919472" y="2155364"/>
            <a:ext cx="45720" cy="658368"/>
          </a:xfrm>
          <a:prstGeom prst="rect">
            <a:avLst/>
          </a:prstGeom>
          <a:solidFill>
            <a:srgbClr val="E9A227"/>
          </a:solidFill>
          <a:ln w="12700">
            <a:solidFill>
              <a:srgbClr val="E9A227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16" name="Text 13">
            <a:extLst>
              <a:ext uri="{FF2B5EF4-FFF2-40B4-BE49-F238E27FC236}">
                <a16:creationId xmlns:a16="http://schemas.microsoft.com/office/drawing/2014/main" id="{83C8D4A7-7EA7-571A-731F-4EB5409C6405}"/>
              </a:ext>
            </a:extLst>
          </p:cNvPr>
          <p:cNvSpPr/>
          <p:nvPr/>
        </p:nvSpPr>
        <p:spPr>
          <a:xfrm>
            <a:off x="5093208" y="2228516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2" name="Shape 19">
            <a:extLst>
              <a:ext uri="{FF2B5EF4-FFF2-40B4-BE49-F238E27FC236}">
                <a16:creationId xmlns:a16="http://schemas.microsoft.com/office/drawing/2014/main" id="{749AFAED-9872-E15A-E0B8-E3E7393E71CA}"/>
              </a:ext>
            </a:extLst>
          </p:cNvPr>
          <p:cNvSpPr/>
          <p:nvPr/>
        </p:nvSpPr>
        <p:spPr>
          <a:xfrm>
            <a:off x="4901184" y="3089431"/>
            <a:ext cx="3675888" cy="658368"/>
          </a:xfrm>
          <a:prstGeom prst="rect">
            <a:avLst/>
          </a:prstGeom>
          <a:solidFill>
            <a:srgbClr val="1A2B42"/>
          </a:solidFill>
          <a:ln w="9525">
            <a:solidFill>
              <a:srgbClr val="1F3050"/>
            </a:solidFill>
            <a:prstDash val="solid"/>
          </a:ln>
          <a:effectLst>
            <a:outerShdw blurRad="101600" dist="254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hu-HU"/>
          </a:p>
        </p:txBody>
      </p:sp>
      <p:sp>
        <p:nvSpPr>
          <p:cNvPr id="23" name="Shape 20">
            <a:extLst>
              <a:ext uri="{FF2B5EF4-FFF2-40B4-BE49-F238E27FC236}">
                <a16:creationId xmlns:a16="http://schemas.microsoft.com/office/drawing/2014/main" id="{C71418B9-0A6F-E2B7-79E6-AA80C0D8C43B}"/>
              </a:ext>
            </a:extLst>
          </p:cNvPr>
          <p:cNvSpPr/>
          <p:nvPr/>
        </p:nvSpPr>
        <p:spPr>
          <a:xfrm>
            <a:off x="4901184" y="3089431"/>
            <a:ext cx="45720" cy="658368"/>
          </a:xfrm>
          <a:prstGeom prst="rect">
            <a:avLst/>
          </a:prstGeom>
          <a:solidFill>
            <a:srgbClr val="E9A227"/>
          </a:solidFill>
          <a:ln w="12700">
            <a:solidFill>
              <a:srgbClr val="E9A227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24" name="Text 21">
            <a:extLst>
              <a:ext uri="{FF2B5EF4-FFF2-40B4-BE49-F238E27FC236}">
                <a16:creationId xmlns:a16="http://schemas.microsoft.com/office/drawing/2014/main" id="{83AB9260-CA50-A5E7-3169-34DB607AAC27}"/>
              </a:ext>
            </a:extLst>
          </p:cNvPr>
          <p:cNvSpPr/>
          <p:nvPr/>
        </p:nvSpPr>
        <p:spPr>
          <a:xfrm>
            <a:off x="5144202" y="3299743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hu-HU" b="1" dirty="0">
                <a:solidFill>
                  <a:srgbClr val="FFFFFF"/>
                </a:solidFill>
                <a:latin typeface="Trebuchet MS" pitchFamily="34" charset="0"/>
              </a:rPr>
              <a:t>JWT-vel ekvivalens, </a:t>
            </a:r>
          </a:p>
          <a:p>
            <a:pPr marL="0" indent="0">
              <a:buNone/>
            </a:pPr>
            <a:r>
              <a:rPr lang="hu-HU" b="1" dirty="0">
                <a:solidFill>
                  <a:srgbClr val="FFFFFF"/>
                </a:solidFill>
                <a:latin typeface="Trebuchet MS" pitchFamily="34" charset="0"/>
              </a:rPr>
              <a:t>külső könyvtár nélkül</a:t>
            </a:r>
            <a:endParaRPr lang="en-US" dirty="0"/>
          </a:p>
        </p:txBody>
      </p:sp>
      <p:sp>
        <p:nvSpPr>
          <p:cNvPr id="34" name="Szövegdoboz 33">
            <a:extLst>
              <a:ext uri="{FF2B5EF4-FFF2-40B4-BE49-F238E27FC236}">
                <a16:creationId xmlns:a16="http://schemas.microsoft.com/office/drawing/2014/main" id="{567B6373-EA48-9AE5-3FC8-4ECCA3644EF6}"/>
              </a:ext>
            </a:extLst>
          </p:cNvPr>
          <p:cNvSpPr txBox="1"/>
          <p:nvPr/>
        </p:nvSpPr>
        <p:spPr>
          <a:xfrm>
            <a:off x="4981720" y="1395160"/>
            <a:ext cx="355701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b="1" dirty="0">
                <a:solidFill>
                  <a:schemeClr val="bg1"/>
                </a:solidFill>
                <a:latin typeface="Trebuchet MS" panose="020B0603020202020204" pitchFamily="34" charset="0"/>
              </a:rPr>
              <a:t>HMAC – SHA256 aláírás</a:t>
            </a:r>
          </a:p>
        </p:txBody>
      </p:sp>
      <p:sp>
        <p:nvSpPr>
          <p:cNvPr id="35" name="Szövegdoboz 34">
            <a:extLst>
              <a:ext uri="{FF2B5EF4-FFF2-40B4-BE49-F238E27FC236}">
                <a16:creationId xmlns:a16="http://schemas.microsoft.com/office/drawing/2014/main" id="{4F66EF25-4262-A012-9F67-B54E6DBB7C7C}"/>
              </a:ext>
            </a:extLst>
          </p:cNvPr>
          <p:cNvSpPr txBox="1"/>
          <p:nvPr/>
        </p:nvSpPr>
        <p:spPr>
          <a:xfrm>
            <a:off x="5006340" y="2292288"/>
            <a:ext cx="355701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b="1" dirty="0">
                <a:solidFill>
                  <a:schemeClr val="bg1"/>
                </a:solidFill>
                <a:latin typeface="Trebuchet MS" panose="020B0603020202020204" pitchFamily="34" charset="0"/>
              </a:rPr>
              <a:t>Lejárat a tokenbe égetett</a:t>
            </a:r>
          </a:p>
        </p:txBody>
      </p:sp>
      <p:sp>
        <p:nvSpPr>
          <p:cNvPr id="9" name="Text 6">
            <a:extLst>
              <a:ext uri="{FF2B5EF4-FFF2-40B4-BE49-F238E27FC236}">
                <a16:creationId xmlns:a16="http://schemas.microsoft.com/office/drawing/2014/main" id="{A959DCFC-AC88-042E-D6DD-78AD4AB4F6DB}"/>
              </a:ext>
            </a:extLst>
          </p:cNvPr>
          <p:cNvSpPr/>
          <p:nvPr/>
        </p:nvSpPr>
        <p:spPr>
          <a:xfrm>
            <a:off x="154569" y="3234217"/>
            <a:ext cx="4434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hu-HU" sz="1600" i="1" dirty="0">
                <a:solidFill>
                  <a:srgbClr val="5C7A9B"/>
                </a:solidFill>
                <a:latin typeface="Trebuchet MS" pitchFamily="34" charset="0"/>
              </a:rPr>
              <a:t>sign ( ), verify ( ), create_secret( )  </a:t>
            </a:r>
            <a:endParaRPr lang="en-US" sz="1600" dirty="0"/>
          </a:p>
        </p:txBody>
      </p:sp>
      <p:sp>
        <p:nvSpPr>
          <p:cNvPr id="13" name="Shape 19">
            <a:extLst>
              <a:ext uri="{FF2B5EF4-FFF2-40B4-BE49-F238E27FC236}">
                <a16:creationId xmlns:a16="http://schemas.microsoft.com/office/drawing/2014/main" id="{8EC856B9-DA5E-946C-6592-4A8C59456C6E}"/>
              </a:ext>
            </a:extLst>
          </p:cNvPr>
          <p:cNvSpPr/>
          <p:nvPr/>
        </p:nvSpPr>
        <p:spPr>
          <a:xfrm>
            <a:off x="4901184" y="4023498"/>
            <a:ext cx="3675888" cy="658368"/>
          </a:xfrm>
          <a:prstGeom prst="rect">
            <a:avLst/>
          </a:prstGeom>
          <a:solidFill>
            <a:srgbClr val="1A2B42"/>
          </a:solidFill>
          <a:ln w="9525">
            <a:solidFill>
              <a:srgbClr val="1F3050"/>
            </a:solidFill>
            <a:prstDash val="solid"/>
          </a:ln>
          <a:effectLst>
            <a:outerShdw blurRad="101600" dist="254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hu-HU"/>
          </a:p>
        </p:txBody>
      </p:sp>
      <p:sp>
        <p:nvSpPr>
          <p:cNvPr id="17" name="Shape 20">
            <a:extLst>
              <a:ext uri="{FF2B5EF4-FFF2-40B4-BE49-F238E27FC236}">
                <a16:creationId xmlns:a16="http://schemas.microsoft.com/office/drawing/2014/main" id="{14C6D3C8-173A-52FC-605A-9443859D8C95}"/>
              </a:ext>
            </a:extLst>
          </p:cNvPr>
          <p:cNvSpPr/>
          <p:nvPr/>
        </p:nvSpPr>
        <p:spPr>
          <a:xfrm>
            <a:off x="4901184" y="4023498"/>
            <a:ext cx="45720" cy="658368"/>
          </a:xfrm>
          <a:prstGeom prst="rect">
            <a:avLst/>
          </a:prstGeom>
          <a:solidFill>
            <a:srgbClr val="E9A227"/>
          </a:solidFill>
          <a:ln w="12700">
            <a:solidFill>
              <a:srgbClr val="E9A227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18" name="Text 21">
            <a:extLst>
              <a:ext uri="{FF2B5EF4-FFF2-40B4-BE49-F238E27FC236}">
                <a16:creationId xmlns:a16="http://schemas.microsoft.com/office/drawing/2014/main" id="{0D03A8D4-3165-E8EE-6965-0DA6D44BB8C0}"/>
              </a:ext>
            </a:extLst>
          </p:cNvPr>
          <p:cNvSpPr/>
          <p:nvPr/>
        </p:nvSpPr>
        <p:spPr>
          <a:xfrm>
            <a:off x="5144202" y="4233810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hu-HU" b="1" dirty="0">
                <a:solidFill>
                  <a:srgbClr val="FFFFFF"/>
                </a:solidFill>
                <a:latin typeface="Trebuchet MS" pitchFamily="34" charset="0"/>
              </a:rPr>
              <a:t>Timing-</a:t>
            </a:r>
            <a:r>
              <a:rPr lang="hu-HU" b="1" dirty="0" err="1">
                <a:solidFill>
                  <a:srgbClr val="FFFFFF"/>
                </a:solidFill>
                <a:latin typeface="Trebuchet MS" pitchFamily="34" charset="0"/>
              </a:rPr>
              <a:t>safe</a:t>
            </a:r>
            <a:r>
              <a:rPr lang="hu-HU" b="1" dirty="0">
                <a:solidFill>
                  <a:srgbClr val="FFFFFF"/>
                </a:solidFill>
                <a:latin typeface="Trebuchet MS" pitchFamily="34" charset="0"/>
              </a:rPr>
              <a:t> összehasonlítás</a:t>
            </a:r>
          </a:p>
        </p:txBody>
      </p:sp>
    </p:spTree>
    <p:extLst>
      <p:ext uri="{BB962C8B-B14F-4D97-AF65-F5344CB8AC3E}">
        <p14:creationId xmlns:p14="http://schemas.microsoft.com/office/powerpoint/2010/main" val="20257611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7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9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0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1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3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4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5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7" dur="5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8" dur="5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3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4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5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7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8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1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2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3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5" dur="5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6" dur="5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1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2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3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5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6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7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9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0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73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5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6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7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9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0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1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3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4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10" grpId="0" animBg="1"/>
      <p:bldP spid="11" grpId="0" animBg="1"/>
      <p:bldP spid="12" grpId="0" animBg="1"/>
      <p:bldP spid="14" grpId="0" animBg="1"/>
      <p:bldP spid="15" grpId="0" animBg="1"/>
      <p:bldP spid="16" grpId="0" animBg="1"/>
      <p:bldP spid="22" grpId="0" animBg="1"/>
      <p:bldP spid="23" grpId="0" animBg="1"/>
      <p:bldP spid="24" grpId="0" animBg="1"/>
      <p:bldP spid="34" grpId="0"/>
      <p:bldP spid="35" grpId="0"/>
      <p:bldP spid="9" grpId="0" animBg="1"/>
      <p:bldP spid="13" grpId="0" animBg="1"/>
      <p:bldP spid="17" grpId="0" animBg="1"/>
      <p:bldP spid="18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62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D926F5A-DF5C-F96E-2389-4867EBA074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38EA42D5-5C49-AA82-9BBE-5074B6AB5D0A}"/>
              </a:ext>
            </a:extLst>
          </p:cNvPr>
          <p:cNvSpPr/>
          <p:nvPr/>
        </p:nvSpPr>
        <p:spPr>
          <a:xfrm>
            <a:off x="457200" y="256032"/>
            <a:ext cx="54864" cy="713232"/>
          </a:xfrm>
          <a:prstGeom prst="rect">
            <a:avLst/>
          </a:prstGeom>
          <a:solidFill>
            <a:srgbClr val="E9A227"/>
          </a:solidFill>
          <a:ln w="12700">
            <a:solidFill>
              <a:srgbClr val="E9A227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E5ED81A2-F45F-E8A2-78F9-C40F3B18AF75}"/>
              </a:ext>
            </a:extLst>
          </p:cNvPr>
          <p:cNvSpPr/>
          <p:nvPr/>
        </p:nvSpPr>
        <p:spPr>
          <a:xfrm>
            <a:off x="658368" y="201168"/>
            <a:ext cx="8046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 err="1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Autentikáció</a:t>
            </a:r>
            <a:r>
              <a:rPr lang="hu-HU" sz="32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 (frontend)</a:t>
            </a:r>
            <a:r>
              <a:rPr lang="en-US" sz="32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 — JWT</a:t>
            </a:r>
            <a:endParaRPr lang="en-US" sz="3200" dirty="0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C450FCA0-9D43-396B-AFEA-8791783F86DA}"/>
              </a:ext>
            </a:extLst>
          </p:cNvPr>
          <p:cNvSpPr/>
          <p:nvPr/>
        </p:nvSpPr>
        <p:spPr>
          <a:xfrm>
            <a:off x="0" y="1097280"/>
            <a:ext cx="9144000" cy="16459"/>
          </a:xfrm>
          <a:prstGeom prst="rect">
            <a:avLst/>
          </a:prstGeom>
          <a:solidFill>
            <a:srgbClr val="1F3050"/>
          </a:solidFill>
          <a:ln w="12700">
            <a:solidFill>
              <a:srgbClr val="1F3050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70834C16-8F2F-9808-2955-6D996CFCCF82}"/>
              </a:ext>
            </a:extLst>
          </p:cNvPr>
          <p:cNvSpPr/>
          <p:nvPr/>
        </p:nvSpPr>
        <p:spPr>
          <a:xfrm>
            <a:off x="0" y="5102352"/>
            <a:ext cx="9144000" cy="41148"/>
          </a:xfrm>
          <a:prstGeom prst="rect">
            <a:avLst/>
          </a:prstGeom>
          <a:solidFill>
            <a:srgbClr val="1F3050"/>
          </a:solidFill>
          <a:ln w="12700">
            <a:solidFill>
              <a:srgbClr val="1F3050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pic>
        <p:nvPicPr>
          <p:cNvPr id="7" name="Image 0" descr="/home/claude/unpacked_clean/ppt/media/image2.png">
            <a:extLst>
              <a:ext uri="{FF2B5EF4-FFF2-40B4-BE49-F238E27FC236}">
                <a16:creationId xmlns:a16="http://schemas.microsoft.com/office/drawing/2014/main" id="{2072294C-82E6-650F-E32A-09C3F3EA76C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234440"/>
            <a:ext cx="4434840" cy="2980944"/>
          </a:xfrm>
          <a:prstGeom prst="rect">
            <a:avLst/>
          </a:prstGeom>
          <a:effectLst>
            <a:outerShdw blurRad="228600" dist="50800" dir="8100000" algn="bl" rotWithShape="0">
              <a:srgbClr val="000000">
                <a:alpha val="55000"/>
              </a:srgbClr>
            </a:outerShdw>
          </a:effectLst>
        </p:spPr>
      </p:pic>
      <p:sp>
        <p:nvSpPr>
          <p:cNvPr id="8" name="Shape 5">
            <a:extLst>
              <a:ext uri="{FF2B5EF4-FFF2-40B4-BE49-F238E27FC236}">
                <a16:creationId xmlns:a16="http://schemas.microsoft.com/office/drawing/2014/main" id="{94CB2B60-2F6E-36D9-6305-26D69D2F95BD}"/>
              </a:ext>
            </a:extLst>
          </p:cNvPr>
          <p:cNvSpPr/>
          <p:nvPr/>
        </p:nvSpPr>
        <p:spPr>
          <a:xfrm>
            <a:off x="457200" y="1234440"/>
            <a:ext cx="4434840" cy="2980944"/>
          </a:xfrm>
          <a:prstGeom prst="rect">
            <a:avLst/>
          </a:prstGeom>
          <a:solidFill>
            <a:srgbClr val="000000">
              <a:alpha val="0"/>
            </a:srgbClr>
          </a:solidFill>
          <a:ln w="12700">
            <a:solidFill>
              <a:srgbClr val="E9A227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9" name="Text 6">
            <a:extLst>
              <a:ext uri="{FF2B5EF4-FFF2-40B4-BE49-F238E27FC236}">
                <a16:creationId xmlns:a16="http://schemas.microsoft.com/office/drawing/2014/main" id="{938A5093-66DB-FFF2-FB92-A01B6D24DF2A}"/>
              </a:ext>
            </a:extLst>
          </p:cNvPr>
          <p:cNvSpPr/>
          <p:nvPr/>
        </p:nvSpPr>
        <p:spPr>
          <a:xfrm>
            <a:off x="396240" y="4323283"/>
            <a:ext cx="4434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i="1" dirty="0">
                <a:solidFill>
                  <a:srgbClr val="5C7A9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Token kezelése a frontend oldalon</a:t>
            </a:r>
            <a:endParaRPr lang="en-US" sz="1600" dirty="0"/>
          </a:p>
        </p:txBody>
      </p:sp>
      <p:sp>
        <p:nvSpPr>
          <p:cNvPr id="10" name="Shape 7">
            <a:extLst>
              <a:ext uri="{FF2B5EF4-FFF2-40B4-BE49-F238E27FC236}">
                <a16:creationId xmlns:a16="http://schemas.microsoft.com/office/drawing/2014/main" id="{835607D1-C6D1-705C-D04C-935165D9FB47}"/>
              </a:ext>
            </a:extLst>
          </p:cNvPr>
          <p:cNvSpPr/>
          <p:nvPr/>
        </p:nvSpPr>
        <p:spPr>
          <a:xfrm>
            <a:off x="5074920" y="1234440"/>
            <a:ext cx="3657600" cy="658368"/>
          </a:xfrm>
          <a:prstGeom prst="rect">
            <a:avLst/>
          </a:prstGeom>
          <a:solidFill>
            <a:srgbClr val="1A2B42"/>
          </a:solidFill>
          <a:ln w="9525">
            <a:solidFill>
              <a:srgbClr val="1F3050"/>
            </a:solidFill>
            <a:prstDash val="solid"/>
          </a:ln>
          <a:effectLst>
            <a:outerShdw blurRad="101600" dist="254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hu-HU"/>
          </a:p>
        </p:txBody>
      </p:sp>
      <p:sp>
        <p:nvSpPr>
          <p:cNvPr id="11" name="Shape 8">
            <a:extLst>
              <a:ext uri="{FF2B5EF4-FFF2-40B4-BE49-F238E27FC236}">
                <a16:creationId xmlns:a16="http://schemas.microsoft.com/office/drawing/2014/main" id="{B816CF74-ED3B-A21F-53A2-50D7ACB0A951}"/>
              </a:ext>
            </a:extLst>
          </p:cNvPr>
          <p:cNvSpPr/>
          <p:nvPr/>
        </p:nvSpPr>
        <p:spPr>
          <a:xfrm>
            <a:off x="5074920" y="1234440"/>
            <a:ext cx="45720" cy="658368"/>
          </a:xfrm>
          <a:prstGeom prst="rect">
            <a:avLst/>
          </a:prstGeom>
          <a:solidFill>
            <a:srgbClr val="E9A227"/>
          </a:solidFill>
          <a:ln w="12700">
            <a:solidFill>
              <a:srgbClr val="E9A227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12" name="Text 9">
            <a:extLst>
              <a:ext uri="{FF2B5EF4-FFF2-40B4-BE49-F238E27FC236}">
                <a16:creationId xmlns:a16="http://schemas.microsoft.com/office/drawing/2014/main" id="{77A3E8E8-706C-552A-0E15-638157653A39}"/>
              </a:ext>
            </a:extLst>
          </p:cNvPr>
          <p:cNvSpPr/>
          <p:nvPr/>
        </p:nvSpPr>
        <p:spPr>
          <a:xfrm>
            <a:off x="5248656" y="1307592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Bejelentkezés</a:t>
            </a:r>
            <a:endParaRPr lang="en-US" dirty="0"/>
          </a:p>
        </p:txBody>
      </p:sp>
      <p:sp>
        <p:nvSpPr>
          <p:cNvPr id="13" name="Text 10">
            <a:extLst>
              <a:ext uri="{FF2B5EF4-FFF2-40B4-BE49-F238E27FC236}">
                <a16:creationId xmlns:a16="http://schemas.microsoft.com/office/drawing/2014/main" id="{09370C10-E0C8-5F1D-2F91-19C76E8FCA44}"/>
              </a:ext>
            </a:extLst>
          </p:cNvPr>
          <p:cNvSpPr/>
          <p:nvPr/>
        </p:nvSpPr>
        <p:spPr>
          <a:xfrm>
            <a:off x="5248656" y="1618488"/>
            <a:ext cx="3383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C5D5E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(POST) /api/login  ·  username, password</a:t>
            </a:r>
            <a:endParaRPr lang="en-US" sz="1400" dirty="0"/>
          </a:p>
        </p:txBody>
      </p:sp>
      <p:sp>
        <p:nvSpPr>
          <p:cNvPr id="14" name="Shape 11">
            <a:extLst>
              <a:ext uri="{FF2B5EF4-FFF2-40B4-BE49-F238E27FC236}">
                <a16:creationId xmlns:a16="http://schemas.microsoft.com/office/drawing/2014/main" id="{51714F27-D6D6-4505-EA20-F08371FA8FAA}"/>
              </a:ext>
            </a:extLst>
          </p:cNvPr>
          <p:cNvSpPr/>
          <p:nvPr/>
        </p:nvSpPr>
        <p:spPr>
          <a:xfrm>
            <a:off x="5074920" y="2002536"/>
            <a:ext cx="3657600" cy="658368"/>
          </a:xfrm>
          <a:prstGeom prst="rect">
            <a:avLst/>
          </a:prstGeom>
          <a:solidFill>
            <a:srgbClr val="1A2B42"/>
          </a:solidFill>
          <a:ln w="9525">
            <a:solidFill>
              <a:srgbClr val="1F3050"/>
            </a:solidFill>
            <a:prstDash val="solid"/>
          </a:ln>
          <a:effectLst>
            <a:outerShdw blurRad="101600" dist="254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hu-HU"/>
          </a:p>
        </p:txBody>
      </p:sp>
      <p:sp>
        <p:nvSpPr>
          <p:cNvPr id="15" name="Shape 12">
            <a:extLst>
              <a:ext uri="{FF2B5EF4-FFF2-40B4-BE49-F238E27FC236}">
                <a16:creationId xmlns:a16="http://schemas.microsoft.com/office/drawing/2014/main" id="{0CB0AEE1-461C-5581-70EC-2E2042C7A273}"/>
              </a:ext>
            </a:extLst>
          </p:cNvPr>
          <p:cNvSpPr/>
          <p:nvPr/>
        </p:nvSpPr>
        <p:spPr>
          <a:xfrm>
            <a:off x="5074920" y="2002536"/>
            <a:ext cx="45720" cy="658368"/>
          </a:xfrm>
          <a:prstGeom prst="rect">
            <a:avLst/>
          </a:prstGeom>
          <a:solidFill>
            <a:srgbClr val="E9A227"/>
          </a:solidFill>
          <a:ln w="12700">
            <a:solidFill>
              <a:srgbClr val="E9A227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16" name="Text 13">
            <a:extLst>
              <a:ext uri="{FF2B5EF4-FFF2-40B4-BE49-F238E27FC236}">
                <a16:creationId xmlns:a16="http://schemas.microsoft.com/office/drawing/2014/main" id="{855BE660-A614-2D41-3685-FBC688F54C2B}"/>
              </a:ext>
            </a:extLst>
          </p:cNvPr>
          <p:cNvSpPr/>
          <p:nvPr/>
        </p:nvSpPr>
        <p:spPr>
          <a:xfrm>
            <a:off x="5248656" y="2075688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Token tárolás</a:t>
            </a:r>
            <a:endParaRPr lang="en-US" dirty="0"/>
          </a:p>
        </p:txBody>
      </p:sp>
      <p:sp>
        <p:nvSpPr>
          <p:cNvPr id="17" name="Text 14">
            <a:extLst>
              <a:ext uri="{FF2B5EF4-FFF2-40B4-BE49-F238E27FC236}">
                <a16:creationId xmlns:a16="http://schemas.microsoft.com/office/drawing/2014/main" id="{56F35D0C-3654-C65B-1C84-BBEC2772B8BC}"/>
              </a:ext>
            </a:extLst>
          </p:cNvPr>
          <p:cNvSpPr/>
          <p:nvPr/>
        </p:nvSpPr>
        <p:spPr>
          <a:xfrm>
            <a:off x="5248656" y="2386584"/>
            <a:ext cx="3383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C5D5E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Kliens oldalon localStorage + header</a:t>
            </a:r>
            <a:endParaRPr lang="en-US" sz="1400" dirty="0"/>
          </a:p>
        </p:txBody>
      </p:sp>
      <p:sp>
        <p:nvSpPr>
          <p:cNvPr id="22" name="Shape 19">
            <a:extLst>
              <a:ext uri="{FF2B5EF4-FFF2-40B4-BE49-F238E27FC236}">
                <a16:creationId xmlns:a16="http://schemas.microsoft.com/office/drawing/2014/main" id="{2E7BDDB8-D94B-BCC2-29D7-F0DA1EAC1C6C}"/>
              </a:ext>
            </a:extLst>
          </p:cNvPr>
          <p:cNvSpPr/>
          <p:nvPr/>
        </p:nvSpPr>
        <p:spPr>
          <a:xfrm>
            <a:off x="5074920" y="2836469"/>
            <a:ext cx="3657600" cy="658368"/>
          </a:xfrm>
          <a:prstGeom prst="rect">
            <a:avLst/>
          </a:prstGeom>
          <a:solidFill>
            <a:srgbClr val="1A2B42"/>
          </a:solidFill>
          <a:ln w="9525">
            <a:solidFill>
              <a:srgbClr val="1F3050"/>
            </a:solidFill>
            <a:prstDash val="solid"/>
          </a:ln>
          <a:effectLst>
            <a:outerShdw blurRad="101600" dist="254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hu-HU"/>
          </a:p>
        </p:txBody>
      </p:sp>
      <p:sp>
        <p:nvSpPr>
          <p:cNvPr id="23" name="Shape 20">
            <a:extLst>
              <a:ext uri="{FF2B5EF4-FFF2-40B4-BE49-F238E27FC236}">
                <a16:creationId xmlns:a16="http://schemas.microsoft.com/office/drawing/2014/main" id="{44EA7728-3AC8-EFA6-8113-BFDE3C94BBF3}"/>
              </a:ext>
            </a:extLst>
          </p:cNvPr>
          <p:cNvSpPr/>
          <p:nvPr/>
        </p:nvSpPr>
        <p:spPr>
          <a:xfrm>
            <a:off x="5074920" y="2836469"/>
            <a:ext cx="45720" cy="658368"/>
          </a:xfrm>
          <a:prstGeom prst="rect">
            <a:avLst/>
          </a:prstGeom>
          <a:solidFill>
            <a:srgbClr val="E9A227"/>
          </a:solidFill>
          <a:ln w="12700">
            <a:solidFill>
              <a:srgbClr val="E9A227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24" name="Text 21">
            <a:extLst>
              <a:ext uri="{FF2B5EF4-FFF2-40B4-BE49-F238E27FC236}">
                <a16:creationId xmlns:a16="http://schemas.microsoft.com/office/drawing/2014/main" id="{66495FF7-B3FC-4780-1FE2-BECAEB5CF881}"/>
              </a:ext>
            </a:extLst>
          </p:cNvPr>
          <p:cNvSpPr/>
          <p:nvPr/>
        </p:nvSpPr>
        <p:spPr>
          <a:xfrm>
            <a:off x="5248656" y="2909621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Védett végpont</a:t>
            </a:r>
            <a:endParaRPr lang="en-US" dirty="0"/>
          </a:p>
        </p:txBody>
      </p:sp>
      <p:sp>
        <p:nvSpPr>
          <p:cNvPr id="25" name="Text 22">
            <a:extLst>
              <a:ext uri="{FF2B5EF4-FFF2-40B4-BE49-F238E27FC236}">
                <a16:creationId xmlns:a16="http://schemas.microsoft.com/office/drawing/2014/main" id="{368CEE88-3EFD-A182-7E18-E6C2E596126C}"/>
              </a:ext>
            </a:extLst>
          </p:cNvPr>
          <p:cNvSpPr/>
          <p:nvPr/>
        </p:nvSpPr>
        <p:spPr>
          <a:xfrm>
            <a:off x="5248656" y="3220517"/>
            <a:ext cx="3383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C5D5E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Authorization: Bearer &lt;token&gt;</a:t>
            </a: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385760901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B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56032"/>
            <a:ext cx="54864" cy="713232"/>
          </a:xfrm>
          <a:prstGeom prst="rect">
            <a:avLst/>
          </a:prstGeom>
          <a:solidFill>
            <a:srgbClr val="E9A227"/>
          </a:solidFill>
          <a:ln w="12700">
            <a:solidFill>
              <a:srgbClr val="E9A227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3" name="Text 1"/>
          <p:cNvSpPr/>
          <p:nvPr/>
        </p:nvSpPr>
        <p:spPr>
          <a:xfrm>
            <a:off x="658368" y="201168"/>
            <a:ext cx="41879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Végponthívás a kliens oldalon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0" y="1097280"/>
            <a:ext cx="9144000" cy="16459"/>
          </a:xfrm>
          <a:prstGeom prst="rect">
            <a:avLst/>
          </a:prstGeom>
          <a:solidFill>
            <a:srgbClr val="1F3050"/>
          </a:solidFill>
          <a:ln w="12700">
            <a:solidFill>
              <a:srgbClr val="1F3050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5" name="Shape 3"/>
          <p:cNvSpPr/>
          <p:nvPr/>
        </p:nvSpPr>
        <p:spPr>
          <a:xfrm>
            <a:off x="0" y="5102352"/>
            <a:ext cx="9144000" cy="41148"/>
          </a:xfrm>
          <a:prstGeom prst="rect">
            <a:avLst/>
          </a:prstGeom>
          <a:solidFill>
            <a:srgbClr val="1F3050"/>
          </a:solidFill>
          <a:ln w="12700">
            <a:solidFill>
              <a:srgbClr val="1F3050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pic>
        <p:nvPicPr>
          <p:cNvPr id="7" name="Image 0" descr="/home/claude/unpacked_clean/ppt/media/image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89220" y="201168"/>
            <a:ext cx="3657600" cy="4756709"/>
          </a:xfrm>
          <a:prstGeom prst="rect">
            <a:avLst/>
          </a:prstGeom>
          <a:effectLst>
            <a:outerShdw blurRad="228600" dist="50800" dir="8100000" algn="bl" rotWithShape="0">
              <a:srgbClr val="000000">
                <a:alpha val="55000"/>
              </a:srgbClr>
            </a:outerShdw>
          </a:effectLst>
        </p:spPr>
      </p:pic>
      <p:sp>
        <p:nvSpPr>
          <p:cNvPr id="9" name="Shape 6"/>
          <p:cNvSpPr/>
          <p:nvPr/>
        </p:nvSpPr>
        <p:spPr>
          <a:xfrm>
            <a:off x="457200" y="1261872"/>
            <a:ext cx="4389120" cy="658368"/>
          </a:xfrm>
          <a:prstGeom prst="rect">
            <a:avLst/>
          </a:prstGeom>
          <a:solidFill>
            <a:srgbClr val="1A2B42"/>
          </a:solidFill>
          <a:ln w="9525">
            <a:solidFill>
              <a:srgbClr val="1F3050"/>
            </a:solidFill>
            <a:prstDash val="solid"/>
          </a:ln>
          <a:effectLst>
            <a:outerShdw blurRad="101600" dist="254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hu-HU"/>
          </a:p>
        </p:txBody>
      </p:sp>
      <p:sp>
        <p:nvSpPr>
          <p:cNvPr id="10" name="Shape 7"/>
          <p:cNvSpPr/>
          <p:nvPr/>
        </p:nvSpPr>
        <p:spPr>
          <a:xfrm>
            <a:off x="457200" y="1261872"/>
            <a:ext cx="45720" cy="658368"/>
          </a:xfrm>
          <a:prstGeom prst="rect">
            <a:avLst/>
          </a:prstGeom>
          <a:solidFill>
            <a:srgbClr val="E9A227"/>
          </a:solidFill>
          <a:ln w="12700">
            <a:solidFill>
              <a:srgbClr val="E9A227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11" name="Text 8"/>
          <p:cNvSpPr/>
          <p:nvPr/>
        </p:nvSpPr>
        <p:spPr>
          <a:xfrm>
            <a:off x="640080" y="1325880"/>
            <a:ext cx="4069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DRY elv</a:t>
            </a:r>
            <a:endParaRPr lang="en-US" dirty="0"/>
          </a:p>
        </p:txBody>
      </p:sp>
      <p:sp>
        <p:nvSpPr>
          <p:cNvPr id="12" name="Text 9"/>
          <p:cNvSpPr/>
          <p:nvPr/>
        </p:nvSpPr>
        <p:spPr>
          <a:xfrm>
            <a:off x="640080" y="1627632"/>
            <a:ext cx="4069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C5D5E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Egy függvény szinte minden műveletre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457200" y="2029968"/>
            <a:ext cx="4389120" cy="658368"/>
          </a:xfrm>
          <a:prstGeom prst="rect">
            <a:avLst/>
          </a:prstGeom>
          <a:solidFill>
            <a:srgbClr val="1A2B42"/>
          </a:solidFill>
          <a:ln w="9525">
            <a:solidFill>
              <a:srgbClr val="1F3050"/>
            </a:solidFill>
            <a:prstDash val="solid"/>
          </a:ln>
          <a:effectLst>
            <a:outerShdw blurRad="101600" dist="254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hu-HU"/>
          </a:p>
        </p:txBody>
      </p:sp>
      <p:sp>
        <p:nvSpPr>
          <p:cNvPr id="14" name="Shape 11"/>
          <p:cNvSpPr/>
          <p:nvPr/>
        </p:nvSpPr>
        <p:spPr>
          <a:xfrm>
            <a:off x="457200" y="2029968"/>
            <a:ext cx="45720" cy="658368"/>
          </a:xfrm>
          <a:prstGeom prst="rect">
            <a:avLst/>
          </a:prstGeom>
          <a:solidFill>
            <a:srgbClr val="E9A227"/>
          </a:solidFill>
          <a:ln w="12700">
            <a:solidFill>
              <a:srgbClr val="E9A227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15" name="Text 12"/>
          <p:cNvSpPr/>
          <p:nvPr/>
        </p:nvSpPr>
        <p:spPr>
          <a:xfrm>
            <a:off x="640080" y="2093976"/>
            <a:ext cx="4069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Auto</a:t>
            </a:r>
            <a:r>
              <a:rPr lang="hu-HU" b="1" dirty="0" err="1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matikus</a:t>
            </a:r>
            <a:r>
              <a:rPr lang="en-US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token kezelés</a:t>
            </a:r>
            <a:endParaRPr lang="en-US" dirty="0"/>
          </a:p>
        </p:txBody>
      </p:sp>
      <p:sp>
        <p:nvSpPr>
          <p:cNvPr id="16" name="Text 13"/>
          <p:cNvSpPr/>
          <p:nvPr/>
        </p:nvSpPr>
        <p:spPr>
          <a:xfrm>
            <a:off x="640080" y="2395728"/>
            <a:ext cx="4069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C5D5E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Token automatikus csatolása minden kéréshez</a:t>
            </a:r>
            <a:endParaRPr lang="en-US" sz="1400" dirty="0"/>
          </a:p>
        </p:txBody>
      </p:sp>
      <p:sp>
        <p:nvSpPr>
          <p:cNvPr id="17" name="Shape 14"/>
          <p:cNvSpPr/>
          <p:nvPr/>
        </p:nvSpPr>
        <p:spPr>
          <a:xfrm>
            <a:off x="457200" y="2798064"/>
            <a:ext cx="4389120" cy="658368"/>
          </a:xfrm>
          <a:prstGeom prst="rect">
            <a:avLst/>
          </a:prstGeom>
          <a:solidFill>
            <a:srgbClr val="1A2B42"/>
          </a:solidFill>
          <a:ln w="9525">
            <a:solidFill>
              <a:srgbClr val="1F3050"/>
            </a:solidFill>
            <a:prstDash val="solid"/>
          </a:ln>
          <a:effectLst>
            <a:outerShdw blurRad="101600" dist="254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hu-HU"/>
          </a:p>
        </p:txBody>
      </p:sp>
      <p:sp>
        <p:nvSpPr>
          <p:cNvPr id="18" name="Shape 15"/>
          <p:cNvSpPr/>
          <p:nvPr/>
        </p:nvSpPr>
        <p:spPr>
          <a:xfrm>
            <a:off x="457200" y="2798064"/>
            <a:ext cx="45720" cy="658368"/>
          </a:xfrm>
          <a:prstGeom prst="rect">
            <a:avLst/>
          </a:prstGeom>
          <a:solidFill>
            <a:srgbClr val="E9A227"/>
          </a:solidFill>
          <a:ln w="12700">
            <a:solidFill>
              <a:srgbClr val="E9A227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19" name="Text 16"/>
          <p:cNvSpPr/>
          <p:nvPr/>
        </p:nvSpPr>
        <p:spPr>
          <a:xfrm>
            <a:off x="640080" y="2862072"/>
            <a:ext cx="4069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Content-Type</a:t>
            </a:r>
            <a:endParaRPr lang="en-US" dirty="0"/>
          </a:p>
        </p:txBody>
      </p:sp>
      <p:sp>
        <p:nvSpPr>
          <p:cNvPr id="20" name="Text 17"/>
          <p:cNvSpPr/>
          <p:nvPr/>
        </p:nvSpPr>
        <p:spPr>
          <a:xfrm>
            <a:off x="640080" y="3163824"/>
            <a:ext cx="4069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C5D5E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Intelligens beállítás header szinten</a:t>
            </a:r>
            <a:endParaRPr lang="en-US" sz="1400" dirty="0"/>
          </a:p>
        </p:txBody>
      </p:sp>
      <p:sp>
        <p:nvSpPr>
          <p:cNvPr id="21" name="Shape 18"/>
          <p:cNvSpPr/>
          <p:nvPr/>
        </p:nvSpPr>
        <p:spPr>
          <a:xfrm>
            <a:off x="457200" y="3566160"/>
            <a:ext cx="4389120" cy="658368"/>
          </a:xfrm>
          <a:prstGeom prst="rect">
            <a:avLst/>
          </a:prstGeom>
          <a:solidFill>
            <a:srgbClr val="1A2B42"/>
          </a:solidFill>
          <a:ln w="9525">
            <a:solidFill>
              <a:srgbClr val="1F3050"/>
            </a:solidFill>
            <a:prstDash val="solid"/>
          </a:ln>
          <a:effectLst>
            <a:outerShdw blurRad="101600" dist="254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hu-HU"/>
          </a:p>
        </p:txBody>
      </p:sp>
      <p:sp>
        <p:nvSpPr>
          <p:cNvPr id="22" name="Shape 19"/>
          <p:cNvSpPr/>
          <p:nvPr/>
        </p:nvSpPr>
        <p:spPr>
          <a:xfrm>
            <a:off x="457200" y="3566160"/>
            <a:ext cx="45720" cy="658368"/>
          </a:xfrm>
          <a:prstGeom prst="rect">
            <a:avLst/>
          </a:prstGeom>
          <a:solidFill>
            <a:srgbClr val="E9A227"/>
          </a:solidFill>
          <a:ln w="12700">
            <a:solidFill>
              <a:srgbClr val="E9A227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23" name="Text 20"/>
          <p:cNvSpPr/>
          <p:nvPr/>
        </p:nvSpPr>
        <p:spPr>
          <a:xfrm>
            <a:off x="640080" y="3630168"/>
            <a:ext cx="4069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Token lejárat</a:t>
            </a:r>
            <a:endParaRPr lang="en-US" dirty="0"/>
          </a:p>
        </p:txBody>
      </p:sp>
      <p:sp>
        <p:nvSpPr>
          <p:cNvPr id="24" name="Text 21"/>
          <p:cNvSpPr/>
          <p:nvPr/>
        </p:nvSpPr>
        <p:spPr>
          <a:xfrm>
            <a:off x="640080" y="3931920"/>
            <a:ext cx="4069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C5D5E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Automatikus lejárat kezelése</a:t>
            </a:r>
            <a:endParaRPr lang="en-US" sz="1400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B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56032"/>
            <a:ext cx="54864" cy="713232"/>
          </a:xfrm>
          <a:prstGeom prst="rect">
            <a:avLst/>
          </a:prstGeom>
          <a:solidFill>
            <a:srgbClr val="E9A227"/>
          </a:solidFill>
          <a:ln w="12700">
            <a:solidFill>
              <a:srgbClr val="E9A227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3" name="Text 1"/>
          <p:cNvSpPr/>
          <p:nvPr/>
        </p:nvSpPr>
        <p:spPr>
          <a:xfrm>
            <a:off x="658368" y="201168"/>
            <a:ext cx="8046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Admin </a:t>
            </a:r>
            <a:r>
              <a:rPr lang="hu-HU" sz="32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f</a:t>
            </a:r>
            <a:r>
              <a:rPr lang="en-US" sz="3200" b="1" dirty="0" err="1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elület</a:t>
            </a:r>
            <a:r>
              <a:rPr lang="en-US" sz="32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 </a:t>
            </a:r>
            <a:r>
              <a:rPr lang="hu-HU" sz="32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m</a:t>
            </a:r>
            <a:r>
              <a:rPr lang="en-US" sz="3200" b="1" dirty="0" err="1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egvalósítása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0" y="1097280"/>
            <a:ext cx="9144000" cy="16459"/>
          </a:xfrm>
          <a:prstGeom prst="rect">
            <a:avLst/>
          </a:prstGeom>
          <a:solidFill>
            <a:srgbClr val="1F3050"/>
          </a:solidFill>
          <a:ln w="12700">
            <a:solidFill>
              <a:srgbClr val="1F3050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5" name="Shape 3"/>
          <p:cNvSpPr/>
          <p:nvPr/>
        </p:nvSpPr>
        <p:spPr>
          <a:xfrm>
            <a:off x="0" y="5102352"/>
            <a:ext cx="9144000" cy="41148"/>
          </a:xfrm>
          <a:prstGeom prst="rect">
            <a:avLst/>
          </a:prstGeom>
          <a:solidFill>
            <a:srgbClr val="1F3050"/>
          </a:solidFill>
          <a:ln w="12700">
            <a:solidFill>
              <a:srgbClr val="1F3050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7" name="Shape 5"/>
          <p:cNvSpPr/>
          <p:nvPr/>
        </p:nvSpPr>
        <p:spPr>
          <a:xfrm>
            <a:off x="457200" y="1243584"/>
            <a:ext cx="4069080" cy="1051560"/>
          </a:xfrm>
          <a:prstGeom prst="rect">
            <a:avLst/>
          </a:prstGeom>
          <a:solidFill>
            <a:srgbClr val="1A2B42"/>
          </a:solidFill>
          <a:ln w="9525">
            <a:solidFill>
              <a:srgbClr val="1F3050"/>
            </a:solidFill>
            <a:prstDash val="solid"/>
          </a:ln>
          <a:effectLst>
            <a:outerShdw blurRad="101600" dist="254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hu-HU"/>
          </a:p>
        </p:txBody>
      </p:sp>
      <p:sp>
        <p:nvSpPr>
          <p:cNvPr id="8" name="Shape 6"/>
          <p:cNvSpPr/>
          <p:nvPr/>
        </p:nvSpPr>
        <p:spPr>
          <a:xfrm>
            <a:off x="457200" y="1243584"/>
            <a:ext cx="45720" cy="1051560"/>
          </a:xfrm>
          <a:prstGeom prst="rect">
            <a:avLst/>
          </a:prstGeom>
          <a:solidFill>
            <a:srgbClr val="E9A227"/>
          </a:solidFill>
          <a:ln w="12700">
            <a:solidFill>
              <a:srgbClr val="E9A227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9" name="Text 7"/>
          <p:cNvSpPr/>
          <p:nvPr/>
        </p:nvSpPr>
        <p:spPr>
          <a:xfrm>
            <a:off x="621792" y="1335024"/>
            <a:ext cx="3749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Szerepkör alapú hozzáférés</a:t>
            </a:r>
            <a:endParaRPr lang="en-US" dirty="0"/>
          </a:p>
        </p:txBody>
      </p:sp>
      <p:sp>
        <p:nvSpPr>
          <p:cNvPr id="10" name="Shape 8"/>
          <p:cNvSpPr/>
          <p:nvPr/>
        </p:nvSpPr>
        <p:spPr>
          <a:xfrm>
            <a:off x="621792" y="1792224"/>
            <a:ext cx="3566160" cy="36576"/>
          </a:xfrm>
          <a:prstGeom prst="rect">
            <a:avLst/>
          </a:prstGeom>
          <a:solidFill>
            <a:srgbClr val="E9A227"/>
          </a:solidFill>
          <a:ln w="12700">
            <a:solidFill>
              <a:srgbClr val="E9A227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11" name="Text 9"/>
          <p:cNvSpPr/>
          <p:nvPr/>
        </p:nvSpPr>
        <p:spPr>
          <a:xfrm>
            <a:off x="621792" y="1883664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C5D5E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role: 'user' / 'admin'  ·  JWT payload-ban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4754880" y="1243584"/>
            <a:ext cx="4069080" cy="1051560"/>
          </a:xfrm>
          <a:prstGeom prst="rect">
            <a:avLst/>
          </a:prstGeom>
          <a:solidFill>
            <a:srgbClr val="1A2B42"/>
          </a:solidFill>
          <a:ln w="9525">
            <a:solidFill>
              <a:srgbClr val="1F3050"/>
            </a:solidFill>
            <a:prstDash val="solid"/>
          </a:ln>
          <a:effectLst>
            <a:outerShdw blurRad="101600" dist="254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hu-HU"/>
          </a:p>
        </p:txBody>
      </p:sp>
      <p:sp>
        <p:nvSpPr>
          <p:cNvPr id="13" name="Shape 11"/>
          <p:cNvSpPr/>
          <p:nvPr/>
        </p:nvSpPr>
        <p:spPr>
          <a:xfrm>
            <a:off x="4754880" y="1243584"/>
            <a:ext cx="45720" cy="1051560"/>
          </a:xfrm>
          <a:prstGeom prst="rect">
            <a:avLst/>
          </a:prstGeom>
          <a:solidFill>
            <a:srgbClr val="E9A227"/>
          </a:solidFill>
          <a:ln w="12700">
            <a:solidFill>
              <a:srgbClr val="E9A227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14" name="Text 12"/>
          <p:cNvSpPr/>
          <p:nvPr/>
        </p:nvSpPr>
        <p:spPr>
          <a:xfrm>
            <a:off x="4919472" y="1335024"/>
            <a:ext cx="3749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r>
              <a:rPr lang="hu-HU" b="1" dirty="0">
                <a:solidFill>
                  <a:srgbClr val="FFFFFF"/>
                </a:solidFill>
                <a:latin typeface="Trebuchet MS" pitchFamily="34" charset="0"/>
              </a:rPr>
              <a:t>Termékkezelés (CRUD)</a:t>
            </a:r>
            <a:endParaRPr lang="en-US" b="1" dirty="0">
              <a:solidFill>
                <a:srgbClr val="FFFFFF"/>
              </a:solidFill>
              <a:latin typeface="Trebuchet MS" pitchFamily="34" charset="0"/>
            </a:endParaRPr>
          </a:p>
        </p:txBody>
      </p:sp>
      <p:sp>
        <p:nvSpPr>
          <p:cNvPr id="15" name="Shape 13"/>
          <p:cNvSpPr/>
          <p:nvPr/>
        </p:nvSpPr>
        <p:spPr>
          <a:xfrm>
            <a:off x="4919472" y="1792224"/>
            <a:ext cx="3566160" cy="36576"/>
          </a:xfrm>
          <a:prstGeom prst="rect">
            <a:avLst/>
          </a:prstGeom>
          <a:solidFill>
            <a:srgbClr val="E9A227"/>
          </a:solidFill>
          <a:ln w="12700">
            <a:solidFill>
              <a:srgbClr val="E9A227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16" name="Text 14"/>
          <p:cNvSpPr/>
          <p:nvPr/>
        </p:nvSpPr>
        <p:spPr>
          <a:xfrm>
            <a:off x="4919472" y="1883664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hu-HU" sz="1400" dirty="0">
                <a:solidFill>
                  <a:srgbClr val="C5D5E8"/>
                </a:solidFill>
                <a:latin typeface="Trebuchet MS" pitchFamily="34" charset="0"/>
              </a:rPr>
              <a:t>Mindent lefedő termékkezelés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457200" y="2505456"/>
            <a:ext cx="4069080" cy="1051560"/>
          </a:xfrm>
          <a:prstGeom prst="rect">
            <a:avLst/>
          </a:prstGeom>
          <a:solidFill>
            <a:srgbClr val="1A2B42"/>
          </a:solidFill>
          <a:ln w="9525">
            <a:solidFill>
              <a:srgbClr val="1F3050"/>
            </a:solidFill>
            <a:prstDash val="solid"/>
          </a:ln>
          <a:effectLst>
            <a:outerShdw blurRad="101600" dist="254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hu-HU"/>
          </a:p>
        </p:txBody>
      </p:sp>
      <p:sp>
        <p:nvSpPr>
          <p:cNvPr id="18" name="Shape 16"/>
          <p:cNvSpPr/>
          <p:nvPr/>
        </p:nvSpPr>
        <p:spPr>
          <a:xfrm>
            <a:off x="457200" y="2505456"/>
            <a:ext cx="45720" cy="1051560"/>
          </a:xfrm>
          <a:prstGeom prst="rect">
            <a:avLst/>
          </a:prstGeom>
          <a:solidFill>
            <a:srgbClr val="E9A227"/>
          </a:solidFill>
          <a:ln w="12700">
            <a:solidFill>
              <a:srgbClr val="E9A227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19" name="Text 17"/>
          <p:cNvSpPr/>
          <p:nvPr/>
        </p:nvSpPr>
        <p:spPr>
          <a:xfrm>
            <a:off x="621792" y="2596896"/>
            <a:ext cx="3749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b="1" dirty="0" err="1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Rendelések</a:t>
            </a:r>
            <a:r>
              <a:rPr lang="en-US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</a:t>
            </a:r>
            <a:r>
              <a:rPr lang="en-US" b="1" dirty="0" err="1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listázása</a:t>
            </a:r>
            <a:r>
              <a:rPr lang="en-US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, lezárása</a:t>
            </a:r>
            <a:endParaRPr lang="en-US" dirty="0"/>
          </a:p>
        </p:txBody>
      </p:sp>
      <p:sp>
        <p:nvSpPr>
          <p:cNvPr id="20" name="Shape 18"/>
          <p:cNvSpPr/>
          <p:nvPr/>
        </p:nvSpPr>
        <p:spPr>
          <a:xfrm>
            <a:off x="621792" y="3054096"/>
            <a:ext cx="3566160" cy="36576"/>
          </a:xfrm>
          <a:prstGeom prst="rect">
            <a:avLst/>
          </a:prstGeom>
          <a:solidFill>
            <a:srgbClr val="E9A227"/>
          </a:solidFill>
          <a:ln w="12700">
            <a:solidFill>
              <a:srgbClr val="E9A227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21" name="Text 19"/>
          <p:cNvSpPr/>
          <p:nvPr/>
        </p:nvSpPr>
        <p:spPr>
          <a:xfrm>
            <a:off x="621792" y="3145536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hu-HU" sz="1400" dirty="0">
                <a:solidFill>
                  <a:srgbClr val="C5D5E8"/>
                </a:solidFill>
                <a:latin typeface="Trebuchet MS" pitchFamily="34" charset="0"/>
              </a:rPr>
              <a:t>Külön felület az összefüggő funkcióknak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4754880" y="2505456"/>
            <a:ext cx="4069080" cy="1051560"/>
          </a:xfrm>
          <a:prstGeom prst="rect">
            <a:avLst/>
          </a:prstGeom>
          <a:solidFill>
            <a:srgbClr val="1A2B42"/>
          </a:solidFill>
          <a:ln w="9525">
            <a:solidFill>
              <a:srgbClr val="1F3050"/>
            </a:solidFill>
            <a:prstDash val="solid"/>
          </a:ln>
          <a:effectLst>
            <a:outerShdw blurRad="101600" dist="254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hu-HU"/>
          </a:p>
        </p:txBody>
      </p:sp>
      <p:sp>
        <p:nvSpPr>
          <p:cNvPr id="23" name="Shape 21"/>
          <p:cNvSpPr/>
          <p:nvPr/>
        </p:nvSpPr>
        <p:spPr>
          <a:xfrm>
            <a:off x="4754880" y="2505456"/>
            <a:ext cx="45720" cy="1051560"/>
          </a:xfrm>
          <a:prstGeom prst="rect">
            <a:avLst/>
          </a:prstGeom>
          <a:solidFill>
            <a:srgbClr val="E9A227"/>
          </a:solidFill>
          <a:ln w="12700">
            <a:solidFill>
              <a:srgbClr val="E9A227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24" name="Text 22"/>
          <p:cNvSpPr/>
          <p:nvPr/>
        </p:nvSpPr>
        <p:spPr>
          <a:xfrm>
            <a:off x="4919472" y="2596896"/>
            <a:ext cx="3749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b="1" dirty="0" err="1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Felhasználók</a:t>
            </a:r>
            <a:r>
              <a:rPr lang="hu-HU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között</a:t>
            </a:r>
            <a:r>
              <a:rPr lang="en-US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</a:t>
            </a:r>
            <a:r>
              <a:rPr lang="en-US" b="1" dirty="0" err="1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böngészés</a:t>
            </a:r>
            <a:endParaRPr lang="en-US" dirty="0"/>
          </a:p>
        </p:txBody>
      </p:sp>
      <p:sp>
        <p:nvSpPr>
          <p:cNvPr id="25" name="Shape 23"/>
          <p:cNvSpPr/>
          <p:nvPr/>
        </p:nvSpPr>
        <p:spPr>
          <a:xfrm>
            <a:off x="4919472" y="3054096"/>
            <a:ext cx="3566160" cy="36576"/>
          </a:xfrm>
          <a:prstGeom prst="rect">
            <a:avLst/>
          </a:prstGeom>
          <a:solidFill>
            <a:srgbClr val="E9A227"/>
          </a:solidFill>
          <a:ln w="12700">
            <a:solidFill>
              <a:srgbClr val="E9A227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26" name="Text 24"/>
          <p:cNvSpPr/>
          <p:nvPr/>
        </p:nvSpPr>
        <p:spPr>
          <a:xfrm>
            <a:off x="4919472" y="3145536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hu-HU" sz="1400" dirty="0">
                <a:solidFill>
                  <a:srgbClr val="C5D5E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</a:t>
            </a:r>
            <a:r>
              <a:rPr lang="en-US" sz="1400" dirty="0" err="1">
                <a:solidFill>
                  <a:srgbClr val="C5D5E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elhasználó-kezelő</a:t>
            </a:r>
            <a:r>
              <a:rPr lang="en-US" sz="1400" dirty="0">
                <a:solidFill>
                  <a:srgbClr val="C5D5E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modul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457200" y="3767328"/>
            <a:ext cx="4069080" cy="1051560"/>
          </a:xfrm>
          <a:prstGeom prst="rect">
            <a:avLst/>
          </a:prstGeom>
          <a:solidFill>
            <a:srgbClr val="1A2B42"/>
          </a:solidFill>
          <a:ln w="9525">
            <a:solidFill>
              <a:srgbClr val="1F3050"/>
            </a:solidFill>
            <a:prstDash val="solid"/>
          </a:ln>
          <a:effectLst>
            <a:outerShdw blurRad="101600" dist="254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hu-HU"/>
          </a:p>
        </p:txBody>
      </p:sp>
      <p:sp>
        <p:nvSpPr>
          <p:cNvPr id="28" name="Shape 26"/>
          <p:cNvSpPr/>
          <p:nvPr/>
        </p:nvSpPr>
        <p:spPr>
          <a:xfrm>
            <a:off x="457200" y="3767328"/>
            <a:ext cx="45720" cy="1051560"/>
          </a:xfrm>
          <a:prstGeom prst="rect">
            <a:avLst/>
          </a:prstGeom>
          <a:solidFill>
            <a:srgbClr val="E9A227"/>
          </a:solidFill>
          <a:ln w="12700">
            <a:solidFill>
              <a:srgbClr val="E9A227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29" name="Text 27"/>
          <p:cNvSpPr/>
          <p:nvPr/>
        </p:nvSpPr>
        <p:spPr>
          <a:xfrm>
            <a:off x="621792" y="3858768"/>
            <a:ext cx="3749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Szervizek listázása és böngészése</a:t>
            </a:r>
            <a:endParaRPr lang="en-US" dirty="0"/>
          </a:p>
        </p:txBody>
      </p:sp>
      <p:sp>
        <p:nvSpPr>
          <p:cNvPr id="30" name="Shape 28"/>
          <p:cNvSpPr/>
          <p:nvPr/>
        </p:nvSpPr>
        <p:spPr>
          <a:xfrm>
            <a:off x="621792" y="4315968"/>
            <a:ext cx="3566160" cy="36576"/>
          </a:xfrm>
          <a:prstGeom prst="rect">
            <a:avLst/>
          </a:prstGeom>
          <a:solidFill>
            <a:srgbClr val="E9A227"/>
          </a:solidFill>
          <a:ln w="12700">
            <a:solidFill>
              <a:srgbClr val="E9A227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31" name="Text 29"/>
          <p:cNvSpPr/>
          <p:nvPr/>
        </p:nvSpPr>
        <p:spPr>
          <a:xfrm>
            <a:off x="621792" y="4407408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C5D5E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Szerviz adminisztrációs felület</a:t>
            </a:r>
            <a:endParaRPr lang="en-US" sz="1400" dirty="0"/>
          </a:p>
        </p:txBody>
      </p:sp>
      <p:sp>
        <p:nvSpPr>
          <p:cNvPr id="32" name="Shape 30"/>
          <p:cNvSpPr/>
          <p:nvPr/>
        </p:nvSpPr>
        <p:spPr>
          <a:xfrm>
            <a:off x="4754880" y="3767328"/>
            <a:ext cx="4069080" cy="1051560"/>
          </a:xfrm>
          <a:prstGeom prst="rect">
            <a:avLst/>
          </a:prstGeom>
          <a:solidFill>
            <a:srgbClr val="1A2B42"/>
          </a:solidFill>
          <a:ln w="9525">
            <a:solidFill>
              <a:srgbClr val="1F3050"/>
            </a:solidFill>
            <a:prstDash val="solid"/>
          </a:ln>
          <a:effectLst>
            <a:outerShdw blurRad="101600" dist="254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hu-HU" dirty="0"/>
          </a:p>
        </p:txBody>
      </p:sp>
      <p:sp>
        <p:nvSpPr>
          <p:cNvPr id="33" name="Shape 31"/>
          <p:cNvSpPr/>
          <p:nvPr/>
        </p:nvSpPr>
        <p:spPr>
          <a:xfrm>
            <a:off x="4754880" y="3767328"/>
            <a:ext cx="45720" cy="1051560"/>
          </a:xfrm>
          <a:prstGeom prst="rect">
            <a:avLst/>
          </a:prstGeom>
          <a:solidFill>
            <a:srgbClr val="E9A227"/>
          </a:solidFill>
          <a:ln w="12700">
            <a:solidFill>
              <a:srgbClr val="E9A227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34" name="Text 32"/>
          <p:cNvSpPr/>
          <p:nvPr/>
        </p:nvSpPr>
        <p:spPr>
          <a:xfrm>
            <a:off x="4919472" y="3858768"/>
            <a:ext cx="3749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r>
              <a:rPr lang="hu-HU" b="1" dirty="0">
                <a:solidFill>
                  <a:srgbClr val="FFFFFF"/>
                </a:solidFill>
                <a:latin typeface="Trebuchet MS" pitchFamily="34" charset="0"/>
              </a:rPr>
              <a:t>Automatikus e-mail értesítések</a:t>
            </a:r>
            <a:endParaRPr lang="en-US" b="1" dirty="0">
              <a:solidFill>
                <a:srgbClr val="FFFFFF"/>
              </a:solidFill>
              <a:latin typeface="Trebuchet MS" pitchFamily="34" charset="0"/>
            </a:endParaRPr>
          </a:p>
        </p:txBody>
      </p:sp>
      <p:sp>
        <p:nvSpPr>
          <p:cNvPr id="35" name="Shape 33"/>
          <p:cNvSpPr/>
          <p:nvPr/>
        </p:nvSpPr>
        <p:spPr>
          <a:xfrm>
            <a:off x="4919472" y="4315968"/>
            <a:ext cx="3566160" cy="36576"/>
          </a:xfrm>
          <a:prstGeom prst="rect">
            <a:avLst/>
          </a:prstGeom>
          <a:solidFill>
            <a:srgbClr val="E9A227"/>
          </a:solidFill>
          <a:ln w="12700">
            <a:solidFill>
              <a:srgbClr val="E9A227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36" name="Text 34"/>
          <p:cNvSpPr/>
          <p:nvPr/>
        </p:nvSpPr>
        <p:spPr>
          <a:xfrm>
            <a:off x="4919472" y="4407408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hu-HU" sz="1400" dirty="0">
                <a:solidFill>
                  <a:srgbClr val="C5D5E8"/>
                </a:solidFill>
                <a:latin typeface="Trebuchet MS" pitchFamily="34" charset="0"/>
              </a:rPr>
              <a:t>Rendelési és szerviz műveleteknél</a:t>
            </a:r>
            <a:endParaRPr lang="en-US" sz="1400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9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0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1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3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4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5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7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8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1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2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3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5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6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1" dur="5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2" dur="5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3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5" dur="5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6" dur="5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7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9" dur="5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0" dur="5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1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3" dur="5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4" dur="5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5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7" dur="5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8" dur="5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9" fill="hold">
                      <p:stCondLst>
                        <p:cond delay="indefinite"/>
                      </p:stCondLst>
                      <p:childTnLst>
                        <p:par>
                          <p:cTn id="70" fill="hold">
                            <p:stCondLst>
                              <p:cond delay="0"/>
                            </p:stCondLst>
                            <p:childTnLst>
                              <p:par>
                                <p:cTn id="7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3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4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5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7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8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1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2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3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5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6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7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9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0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1" fill="hold">
                      <p:stCondLst>
                        <p:cond delay="indefinite"/>
                      </p:stCondLst>
                      <p:childTnLst>
                        <p:par>
                          <p:cTn id="92" fill="hold">
                            <p:stCondLst>
                              <p:cond delay="0"/>
                            </p:stCondLst>
                            <p:childTnLst>
                              <p:par>
                                <p:cTn id="93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5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6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7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9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0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1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3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4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5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7" dur="5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8" dur="5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1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2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3" fill="hold">
                      <p:stCondLst>
                        <p:cond delay="indefinite"/>
                      </p:stCondLst>
                      <p:childTnLst>
                        <p:par>
                          <p:cTn id="114" fill="hold">
                            <p:stCondLst>
                              <p:cond delay="0"/>
                            </p:stCondLst>
                            <p:childTnLst>
                              <p:par>
                                <p:cTn id="11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7" dur="5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8" dur="5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1" dur="5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2" dur="5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3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5" dur="5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6" dur="5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7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9" dur="5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0" dur="5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1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3" dur="5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4" dur="5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B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56032"/>
            <a:ext cx="54864" cy="713232"/>
          </a:xfrm>
          <a:prstGeom prst="rect">
            <a:avLst/>
          </a:prstGeom>
          <a:solidFill>
            <a:srgbClr val="E9A227"/>
          </a:solidFill>
          <a:ln w="12700">
            <a:solidFill>
              <a:srgbClr val="E9A227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3" name="Text 1"/>
          <p:cNvSpPr/>
          <p:nvPr/>
        </p:nvSpPr>
        <p:spPr>
          <a:xfrm>
            <a:off x="658368" y="201168"/>
            <a:ext cx="8046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Jövőbeli Továbbfejlesztések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0" y="1097280"/>
            <a:ext cx="9144000" cy="16459"/>
          </a:xfrm>
          <a:prstGeom prst="rect">
            <a:avLst/>
          </a:prstGeom>
          <a:solidFill>
            <a:srgbClr val="1F3050"/>
          </a:solidFill>
          <a:ln w="12700">
            <a:solidFill>
              <a:srgbClr val="1F3050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5" name="Shape 3"/>
          <p:cNvSpPr/>
          <p:nvPr/>
        </p:nvSpPr>
        <p:spPr>
          <a:xfrm>
            <a:off x="0" y="5102352"/>
            <a:ext cx="9144000" cy="41148"/>
          </a:xfrm>
          <a:prstGeom prst="rect">
            <a:avLst/>
          </a:prstGeom>
          <a:solidFill>
            <a:srgbClr val="1F3050"/>
          </a:solidFill>
          <a:ln w="12700">
            <a:solidFill>
              <a:srgbClr val="1F3050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7" name="Shape 5"/>
          <p:cNvSpPr/>
          <p:nvPr/>
        </p:nvSpPr>
        <p:spPr>
          <a:xfrm>
            <a:off x="457200" y="1280160"/>
            <a:ext cx="8229600" cy="621792"/>
          </a:xfrm>
          <a:prstGeom prst="rect">
            <a:avLst/>
          </a:prstGeom>
          <a:solidFill>
            <a:srgbClr val="1A2B42"/>
          </a:solidFill>
          <a:ln w="9525">
            <a:solidFill>
              <a:srgbClr val="1F3050"/>
            </a:solidFill>
            <a:prstDash val="solid"/>
          </a:ln>
          <a:effectLst>
            <a:outerShdw blurRad="101600" dist="254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hu-HU"/>
          </a:p>
        </p:txBody>
      </p:sp>
      <p:sp>
        <p:nvSpPr>
          <p:cNvPr id="8" name="Shape 6"/>
          <p:cNvSpPr/>
          <p:nvPr/>
        </p:nvSpPr>
        <p:spPr>
          <a:xfrm>
            <a:off x="457200" y="1280160"/>
            <a:ext cx="45720" cy="621792"/>
          </a:xfrm>
          <a:prstGeom prst="rect">
            <a:avLst/>
          </a:prstGeom>
          <a:solidFill>
            <a:srgbClr val="E9A227"/>
          </a:solidFill>
          <a:ln w="12700">
            <a:solidFill>
              <a:srgbClr val="E9A227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9" name="Shape 7"/>
          <p:cNvSpPr/>
          <p:nvPr/>
        </p:nvSpPr>
        <p:spPr>
          <a:xfrm>
            <a:off x="658368" y="1481328"/>
            <a:ext cx="219456" cy="219456"/>
          </a:xfrm>
          <a:prstGeom prst="ellipse">
            <a:avLst/>
          </a:prstGeom>
          <a:solidFill>
            <a:srgbClr val="E9A227"/>
          </a:solidFill>
          <a:ln w="12700">
            <a:solidFill>
              <a:srgbClr val="E9A227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10" name="Text 8"/>
          <p:cNvSpPr/>
          <p:nvPr/>
        </p:nvSpPr>
        <p:spPr>
          <a:xfrm>
            <a:off x="1024128" y="1353312"/>
            <a:ext cx="74523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Online fizetési integráció</a:t>
            </a:r>
            <a:endParaRPr lang="en-US" dirty="0"/>
          </a:p>
        </p:txBody>
      </p:sp>
      <p:sp>
        <p:nvSpPr>
          <p:cNvPr id="11" name="Shape 9"/>
          <p:cNvSpPr/>
          <p:nvPr/>
        </p:nvSpPr>
        <p:spPr>
          <a:xfrm>
            <a:off x="457200" y="2039112"/>
            <a:ext cx="8229600" cy="621792"/>
          </a:xfrm>
          <a:prstGeom prst="rect">
            <a:avLst/>
          </a:prstGeom>
          <a:solidFill>
            <a:srgbClr val="1A2B42"/>
          </a:solidFill>
          <a:ln w="9525">
            <a:solidFill>
              <a:srgbClr val="1F3050"/>
            </a:solidFill>
            <a:prstDash val="solid"/>
          </a:ln>
          <a:effectLst>
            <a:outerShdw blurRad="101600" dist="254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hu-HU"/>
          </a:p>
        </p:txBody>
      </p:sp>
      <p:sp>
        <p:nvSpPr>
          <p:cNvPr id="12" name="Shape 10"/>
          <p:cNvSpPr/>
          <p:nvPr/>
        </p:nvSpPr>
        <p:spPr>
          <a:xfrm>
            <a:off x="457200" y="2039112"/>
            <a:ext cx="45720" cy="621792"/>
          </a:xfrm>
          <a:prstGeom prst="rect">
            <a:avLst/>
          </a:prstGeom>
          <a:solidFill>
            <a:srgbClr val="E9A227"/>
          </a:solidFill>
          <a:ln w="12700">
            <a:solidFill>
              <a:srgbClr val="E9A227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13" name="Shape 11"/>
          <p:cNvSpPr/>
          <p:nvPr/>
        </p:nvSpPr>
        <p:spPr>
          <a:xfrm>
            <a:off x="658368" y="2240280"/>
            <a:ext cx="219456" cy="219456"/>
          </a:xfrm>
          <a:prstGeom prst="ellipse">
            <a:avLst/>
          </a:prstGeom>
          <a:solidFill>
            <a:srgbClr val="E9A227"/>
          </a:solidFill>
          <a:ln w="12700">
            <a:solidFill>
              <a:srgbClr val="E9A227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14" name="Text 12"/>
          <p:cNvSpPr/>
          <p:nvPr/>
        </p:nvSpPr>
        <p:spPr>
          <a:xfrm>
            <a:off x="1024128" y="2112264"/>
            <a:ext cx="74523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hu-HU" dirty="0">
                <a:solidFill>
                  <a:srgbClr val="FFFFFF"/>
                </a:solidFill>
                <a:latin typeface="Trebuchet MS" pitchFamily="34" charset="0"/>
              </a:rPr>
              <a:t>SMTP integráció valós környezetben</a:t>
            </a:r>
            <a:endParaRPr lang="en-US" dirty="0"/>
          </a:p>
        </p:txBody>
      </p:sp>
      <p:sp>
        <p:nvSpPr>
          <p:cNvPr id="15" name="Shape 13"/>
          <p:cNvSpPr/>
          <p:nvPr/>
        </p:nvSpPr>
        <p:spPr>
          <a:xfrm>
            <a:off x="457200" y="2798064"/>
            <a:ext cx="8229600" cy="621792"/>
          </a:xfrm>
          <a:prstGeom prst="rect">
            <a:avLst/>
          </a:prstGeom>
          <a:solidFill>
            <a:srgbClr val="1A2B42"/>
          </a:solidFill>
          <a:ln w="9525">
            <a:solidFill>
              <a:srgbClr val="1F3050"/>
            </a:solidFill>
            <a:prstDash val="solid"/>
          </a:ln>
          <a:effectLst>
            <a:outerShdw blurRad="101600" dist="254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hu-HU"/>
          </a:p>
        </p:txBody>
      </p:sp>
      <p:sp>
        <p:nvSpPr>
          <p:cNvPr id="16" name="Shape 14"/>
          <p:cNvSpPr/>
          <p:nvPr/>
        </p:nvSpPr>
        <p:spPr>
          <a:xfrm>
            <a:off x="457200" y="2798064"/>
            <a:ext cx="45720" cy="621792"/>
          </a:xfrm>
          <a:prstGeom prst="rect">
            <a:avLst/>
          </a:prstGeom>
          <a:solidFill>
            <a:srgbClr val="E9A227"/>
          </a:solidFill>
          <a:ln w="12700">
            <a:solidFill>
              <a:srgbClr val="E9A227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17" name="Shape 15"/>
          <p:cNvSpPr/>
          <p:nvPr/>
        </p:nvSpPr>
        <p:spPr>
          <a:xfrm>
            <a:off x="658368" y="2999232"/>
            <a:ext cx="219456" cy="219456"/>
          </a:xfrm>
          <a:prstGeom prst="ellipse">
            <a:avLst/>
          </a:prstGeom>
          <a:solidFill>
            <a:srgbClr val="E9A227"/>
          </a:solidFill>
          <a:ln w="12700">
            <a:solidFill>
              <a:srgbClr val="E9A227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18" name="Text 16"/>
          <p:cNvSpPr/>
          <p:nvPr/>
        </p:nvSpPr>
        <p:spPr>
          <a:xfrm>
            <a:off x="1024128" y="2871216"/>
            <a:ext cx="74523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Megfelelő megrendeléskezelés</a:t>
            </a:r>
            <a:endParaRPr lang="en-US" dirty="0"/>
          </a:p>
        </p:txBody>
      </p:sp>
      <p:sp>
        <p:nvSpPr>
          <p:cNvPr id="19" name="Shape 17"/>
          <p:cNvSpPr/>
          <p:nvPr/>
        </p:nvSpPr>
        <p:spPr>
          <a:xfrm>
            <a:off x="457200" y="3557016"/>
            <a:ext cx="8229600" cy="621792"/>
          </a:xfrm>
          <a:prstGeom prst="rect">
            <a:avLst/>
          </a:prstGeom>
          <a:solidFill>
            <a:srgbClr val="1A2B42"/>
          </a:solidFill>
          <a:ln w="9525">
            <a:solidFill>
              <a:srgbClr val="1F3050"/>
            </a:solidFill>
            <a:prstDash val="solid"/>
          </a:ln>
          <a:effectLst>
            <a:outerShdw blurRad="101600" dist="254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hu-HU"/>
          </a:p>
        </p:txBody>
      </p:sp>
      <p:sp>
        <p:nvSpPr>
          <p:cNvPr id="20" name="Shape 18"/>
          <p:cNvSpPr/>
          <p:nvPr/>
        </p:nvSpPr>
        <p:spPr>
          <a:xfrm>
            <a:off x="457200" y="3557016"/>
            <a:ext cx="45720" cy="621792"/>
          </a:xfrm>
          <a:prstGeom prst="rect">
            <a:avLst/>
          </a:prstGeom>
          <a:solidFill>
            <a:srgbClr val="E9A227"/>
          </a:solidFill>
          <a:ln w="12700">
            <a:solidFill>
              <a:srgbClr val="E9A227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21" name="Shape 19"/>
          <p:cNvSpPr/>
          <p:nvPr/>
        </p:nvSpPr>
        <p:spPr>
          <a:xfrm>
            <a:off x="658368" y="3758184"/>
            <a:ext cx="219456" cy="219456"/>
          </a:xfrm>
          <a:prstGeom prst="ellipse">
            <a:avLst/>
          </a:prstGeom>
          <a:solidFill>
            <a:srgbClr val="E9A227"/>
          </a:solidFill>
          <a:ln w="12700">
            <a:solidFill>
              <a:srgbClr val="E9A227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22" name="Text 20"/>
          <p:cNvSpPr/>
          <p:nvPr/>
        </p:nvSpPr>
        <p:spPr>
          <a:xfrm>
            <a:off x="1024128" y="3630168"/>
            <a:ext cx="74523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dirty="0" err="1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Szerviz</a:t>
            </a:r>
            <a:r>
              <a:rPr lang="en-US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</a:t>
            </a:r>
            <a:r>
              <a:rPr lang="en-US" dirty="0" err="1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felület</a:t>
            </a:r>
            <a:r>
              <a:rPr lang="en-US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</a:t>
            </a:r>
            <a:r>
              <a:rPr lang="en-US" dirty="0" err="1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továbbfejlesztése</a:t>
            </a:r>
            <a:endParaRPr lang="en-US" dirty="0"/>
          </a:p>
        </p:txBody>
      </p:sp>
      <p:sp>
        <p:nvSpPr>
          <p:cNvPr id="23" name="Shape 21"/>
          <p:cNvSpPr/>
          <p:nvPr/>
        </p:nvSpPr>
        <p:spPr>
          <a:xfrm>
            <a:off x="457200" y="4315968"/>
            <a:ext cx="8229600" cy="621792"/>
          </a:xfrm>
          <a:prstGeom prst="rect">
            <a:avLst/>
          </a:prstGeom>
          <a:solidFill>
            <a:srgbClr val="1A2B42"/>
          </a:solidFill>
          <a:ln w="9525">
            <a:solidFill>
              <a:srgbClr val="1F3050"/>
            </a:solidFill>
            <a:prstDash val="solid"/>
          </a:ln>
          <a:effectLst>
            <a:outerShdw blurRad="101600" dist="254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hu-HU" dirty="0"/>
          </a:p>
        </p:txBody>
      </p:sp>
      <p:sp>
        <p:nvSpPr>
          <p:cNvPr id="24" name="Shape 22"/>
          <p:cNvSpPr/>
          <p:nvPr/>
        </p:nvSpPr>
        <p:spPr>
          <a:xfrm>
            <a:off x="457200" y="4315968"/>
            <a:ext cx="45720" cy="621792"/>
          </a:xfrm>
          <a:prstGeom prst="rect">
            <a:avLst/>
          </a:prstGeom>
          <a:solidFill>
            <a:srgbClr val="E9A227"/>
          </a:solidFill>
          <a:ln w="12700">
            <a:solidFill>
              <a:srgbClr val="E9A227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25" name="Shape 23"/>
          <p:cNvSpPr/>
          <p:nvPr/>
        </p:nvSpPr>
        <p:spPr>
          <a:xfrm>
            <a:off x="658368" y="4517136"/>
            <a:ext cx="219456" cy="219456"/>
          </a:xfrm>
          <a:prstGeom prst="ellipse">
            <a:avLst/>
          </a:prstGeom>
          <a:solidFill>
            <a:srgbClr val="E9A227"/>
          </a:solidFill>
          <a:ln w="12700">
            <a:solidFill>
              <a:srgbClr val="E9A227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26" name="Text 24"/>
          <p:cNvSpPr/>
          <p:nvPr/>
        </p:nvSpPr>
        <p:spPr>
          <a:xfrm>
            <a:off x="1024128" y="4389120"/>
            <a:ext cx="74523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6" name="Szövegdoboz 5">
            <a:extLst>
              <a:ext uri="{FF2B5EF4-FFF2-40B4-BE49-F238E27FC236}">
                <a16:creationId xmlns:a16="http://schemas.microsoft.com/office/drawing/2014/main" id="{BB3F5325-D90C-17CD-4585-708B37A64641}"/>
              </a:ext>
            </a:extLst>
          </p:cNvPr>
          <p:cNvSpPr txBox="1"/>
          <p:nvPr/>
        </p:nvSpPr>
        <p:spPr>
          <a:xfrm>
            <a:off x="1024128" y="4466058"/>
            <a:ext cx="471549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dirty="0">
                <a:solidFill>
                  <a:srgbClr val="FFFFFF"/>
                </a:solidFill>
                <a:latin typeface="Trebuchet MS" pitchFamily="34" charset="0"/>
              </a:rPr>
              <a:t>További kliens oldali funkciók beépítése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7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9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0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1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3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4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5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7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8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3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4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5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7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8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1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2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3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5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6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1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2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3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5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6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7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9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0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1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3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4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5" fill="hold">
                      <p:stCondLst>
                        <p:cond delay="indefinite"/>
                      </p:stCondLst>
                      <p:childTnLst>
                        <p:par>
                          <p:cTn id="76" fill="hold">
                            <p:stCondLst>
                              <p:cond delay="0"/>
                            </p:stCondLst>
                            <p:childTnLst>
                              <p:par>
                                <p:cTn id="7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9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0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1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3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4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5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7" dur="5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8" dur="5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1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2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3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5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6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6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B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56032"/>
            <a:ext cx="54864" cy="713232"/>
          </a:xfrm>
          <a:prstGeom prst="rect">
            <a:avLst/>
          </a:prstGeom>
          <a:solidFill>
            <a:srgbClr val="E9A227"/>
          </a:solidFill>
          <a:ln w="12700">
            <a:solidFill>
              <a:srgbClr val="E9A227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3" name="Text 1"/>
          <p:cNvSpPr/>
          <p:nvPr/>
        </p:nvSpPr>
        <p:spPr>
          <a:xfrm>
            <a:off x="658368" y="201168"/>
            <a:ext cx="8046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Munkamegosztás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0" y="1097280"/>
            <a:ext cx="9144000" cy="16459"/>
          </a:xfrm>
          <a:prstGeom prst="rect">
            <a:avLst/>
          </a:prstGeom>
          <a:solidFill>
            <a:srgbClr val="1F3050"/>
          </a:solidFill>
          <a:ln w="12700">
            <a:solidFill>
              <a:srgbClr val="1F3050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5" name="Shape 3"/>
          <p:cNvSpPr/>
          <p:nvPr/>
        </p:nvSpPr>
        <p:spPr>
          <a:xfrm>
            <a:off x="0" y="5102352"/>
            <a:ext cx="9144000" cy="41148"/>
          </a:xfrm>
          <a:prstGeom prst="rect">
            <a:avLst/>
          </a:prstGeom>
          <a:solidFill>
            <a:srgbClr val="1F3050"/>
          </a:solidFill>
          <a:ln w="12700">
            <a:solidFill>
              <a:srgbClr val="1F3050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7" name="Shape 5"/>
          <p:cNvSpPr/>
          <p:nvPr/>
        </p:nvSpPr>
        <p:spPr>
          <a:xfrm>
            <a:off x="384048" y="1234440"/>
            <a:ext cx="2697480" cy="3611880"/>
          </a:xfrm>
          <a:prstGeom prst="rect">
            <a:avLst/>
          </a:prstGeom>
          <a:solidFill>
            <a:srgbClr val="1A2B42"/>
          </a:solidFill>
          <a:ln w="9525">
            <a:solidFill>
              <a:srgbClr val="1F3050"/>
            </a:solidFill>
            <a:prstDash val="solid"/>
          </a:ln>
          <a:effectLst>
            <a:outerShdw blurRad="101600" dist="254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hu-HU"/>
          </a:p>
        </p:txBody>
      </p:sp>
      <p:sp>
        <p:nvSpPr>
          <p:cNvPr id="8" name="Shape 6"/>
          <p:cNvSpPr/>
          <p:nvPr/>
        </p:nvSpPr>
        <p:spPr>
          <a:xfrm>
            <a:off x="384048" y="1234440"/>
            <a:ext cx="2697480" cy="566928"/>
          </a:xfrm>
          <a:prstGeom prst="rect">
            <a:avLst/>
          </a:prstGeom>
          <a:solidFill>
            <a:srgbClr val="E9A227"/>
          </a:solidFill>
          <a:ln w="12700">
            <a:solidFill>
              <a:srgbClr val="E9A227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9" name="Text 7"/>
          <p:cNvSpPr/>
          <p:nvPr/>
        </p:nvSpPr>
        <p:spPr>
          <a:xfrm>
            <a:off x="512064" y="1252728"/>
            <a:ext cx="24414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B1628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Ádám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512064" y="1581912"/>
            <a:ext cx="24414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0B162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Frontend Developer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514174" y="1896325"/>
            <a:ext cx="251249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C5D5E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Frontend fejlesztés (React)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512064" y="2347722"/>
            <a:ext cx="232961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C5D5E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API integráció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514174" y="2805836"/>
            <a:ext cx="232961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 err="1">
                <a:solidFill>
                  <a:srgbClr val="C5D5E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Reszponzív</a:t>
            </a:r>
            <a:r>
              <a:rPr lang="hu-HU" sz="1600" dirty="0">
                <a:solidFill>
                  <a:srgbClr val="C5D5E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</a:t>
            </a:r>
            <a:r>
              <a:rPr lang="en-US" sz="1600" dirty="0">
                <a:solidFill>
                  <a:srgbClr val="C5D5E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design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512064" y="3281324"/>
            <a:ext cx="232961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C5D5E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UI / UX</a:t>
            </a:r>
            <a:r>
              <a:rPr lang="hu-HU" sz="1600">
                <a:solidFill>
                  <a:srgbClr val="C5D5E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design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514174" y="3713072"/>
            <a:ext cx="251249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endParaRPr lang="en-US" sz="1600" dirty="0">
              <a:solidFill>
                <a:srgbClr val="C5D5E8"/>
              </a:solidFill>
              <a:latin typeface="Trebuchet MS" pitchFamily="34" charset="0"/>
            </a:endParaRPr>
          </a:p>
        </p:txBody>
      </p:sp>
      <p:sp>
        <p:nvSpPr>
          <p:cNvPr id="21" name="Shape 19"/>
          <p:cNvSpPr/>
          <p:nvPr/>
        </p:nvSpPr>
        <p:spPr>
          <a:xfrm>
            <a:off x="3236976" y="1234440"/>
            <a:ext cx="2697480" cy="3611880"/>
          </a:xfrm>
          <a:prstGeom prst="rect">
            <a:avLst/>
          </a:prstGeom>
          <a:solidFill>
            <a:srgbClr val="1A2B42"/>
          </a:solidFill>
          <a:ln w="9525">
            <a:solidFill>
              <a:srgbClr val="1F3050"/>
            </a:solidFill>
            <a:prstDash val="solid"/>
          </a:ln>
          <a:effectLst>
            <a:outerShdw blurRad="101600" dist="254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hu-HU"/>
          </a:p>
        </p:txBody>
      </p:sp>
      <p:sp>
        <p:nvSpPr>
          <p:cNvPr id="22" name="Shape 20"/>
          <p:cNvSpPr/>
          <p:nvPr/>
        </p:nvSpPr>
        <p:spPr>
          <a:xfrm>
            <a:off x="3236976" y="1234440"/>
            <a:ext cx="2697480" cy="566928"/>
          </a:xfrm>
          <a:prstGeom prst="rect">
            <a:avLst/>
          </a:prstGeom>
          <a:solidFill>
            <a:srgbClr val="E9A227"/>
          </a:solidFill>
          <a:ln w="12700">
            <a:solidFill>
              <a:srgbClr val="E9A227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23" name="Text 21"/>
          <p:cNvSpPr/>
          <p:nvPr/>
        </p:nvSpPr>
        <p:spPr>
          <a:xfrm>
            <a:off x="3364992" y="1252728"/>
            <a:ext cx="24414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B1628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Github &amp; Discord</a:t>
            </a:r>
            <a:endParaRPr lang="en-US" sz="2000" dirty="0"/>
          </a:p>
        </p:txBody>
      </p:sp>
      <p:sp>
        <p:nvSpPr>
          <p:cNvPr id="24" name="Text 22"/>
          <p:cNvSpPr/>
          <p:nvPr/>
        </p:nvSpPr>
        <p:spPr>
          <a:xfrm>
            <a:off x="3364991" y="1581912"/>
            <a:ext cx="251999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 err="1">
                <a:solidFill>
                  <a:srgbClr val="0B162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Verziókezelés</a:t>
            </a:r>
            <a:r>
              <a:rPr lang="en-US" sz="1400" dirty="0">
                <a:solidFill>
                  <a:srgbClr val="0B162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</a:t>
            </a:r>
            <a:r>
              <a:rPr lang="hu-HU" sz="1400" dirty="0">
                <a:solidFill>
                  <a:srgbClr val="0B162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&amp;</a:t>
            </a:r>
            <a:r>
              <a:rPr lang="en-US" sz="1400" dirty="0">
                <a:solidFill>
                  <a:srgbClr val="0B162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Kommunikáció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3364992" y="1896325"/>
            <a:ext cx="223113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C5D5E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Feladatok megbeszélése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3364992" y="2347722"/>
            <a:ext cx="223113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C5D5E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Verziókezelés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6089904" y="1234440"/>
            <a:ext cx="2697480" cy="3611880"/>
          </a:xfrm>
          <a:prstGeom prst="rect">
            <a:avLst/>
          </a:prstGeom>
          <a:solidFill>
            <a:srgbClr val="1A2B42"/>
          </a:solidFill>
          <a:ln w="9525">
            <a:solidFill>
              <a:srgbClr val="1F3050"/>
            </a:solidFill>
            <a:prstDash val="solid"/>
          </a:ln>
          <a:effectLst>
            <a:outerShdw blurRad="101600" dist="254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hu-HU"/>
          </a:p>
        </p:txBody>
      </p:sp>
      <p:sp>
        <p:nvSpPr>
          <p:cNvPr id="30" name="Shape 28"/>
          <p:cNvSpPr/>
          <p:nvPr/>
        </p:nvSpPr>
        <p:spPr>
          <a:xfrm>
            <a:off x="6089904" y="1234440"/>
            <a:ext cx="2697480" cy="566928"/>
          </a:xfrm>
          <a:prstGeom prst="rect">
            <a:avLst/>
          </a:prstGeom>
          <a:solidFill>
            <a:srgbClr val="E9A227"/>
          </a:solidFill>
          <a:ln w="12700">
            <a:solidFill>
              <a:srgbClr val="E9A227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31" name="Text 29"/>
          <p:cNvSpPr/>
          <p:nvPr/>
        </p:nvSpPr>
        <p:spPr>
          <a:xfrm>
            <a:off x="6217920" y="1252728"/>
            <a:ext cx="24414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B1628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Matyi</a:t>
            </a:r>
            <a:endParaRPr lang="en-US" sz="2000" dirty="0"/>
          </a:p>
        </p:txBody>
      </p:sp>
      <p:sp>
        <p:nvSpPr>
          <p:cNvPr id="32" name="Text 30"/>
          <p:cNvSpPr/>
          <p:nvPr/>
        </p:nvSpPr>
        <p:spPr>
          <a:xfrm>
            <a:off x="6217920" y="1581912"/>
            <a:ext cx="24414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0B162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Backend Developer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6217920" y="1911096"/>
            <a:ext cx="241401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C5D5E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Backend fejlesztés (Odin)</a:t>
            </a:r>
            <a:endParaRPr lang="en-US" sz="1600" dirty="0"/>
          </a:p>
        </p:txBody>
      </p:sp>
      <p:sp>
        <p:nvSpPr>
          <p:cNvPr id="36" name="Text 34"/>
          <p:cNvSpPr/>
          <p:nvPr/>
        </p:nvSpPr>
        <p:spPr>
          <a:xfrm>
            <a:off x="6217920" y="2375506"/>
            <a:ext cx="241401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 err="1">
                <a:solidFill>
                  <a:srgbClr val="C5D5E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Adatbázis</a:t>
            </a:r>
            <a:r>
              <a:rPr lang="hu-HU" sz="1600" dirty="0">
                <a:solidFill>
                  <a:srgbClr val="C5D5E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létrehozása</a:t>
            </a:r>
            <a:endParaRPr lang="en-US" sz="1600" dirty="0"/>
          </a:p>
        </p:txBody>
      </p:sp>
      <p:sp>
        <p:nvSpPr>
          <p:cNvPr id="38" name="Text 36"/>
          <p:cNvSpPr/>
          <p:nvPr/>
        </p:nvSpPr>
        <p:spPr>
          <a:xfrm>
            <a:off x="6215671" y="2898648"/>
            <a:ext cx="244369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hu-HU" sz="1600" dirty="0">
                <a:solidFill>
                  <a:srgbClr val="C5D5E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r>
              <a:rPr lang="en-US" sz="1600" dirty="0" err="1">
                <a:solidFill>
                  <a:srgbClr val="C5D5E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iddleware</a:t>
            </a:r>
            <a:r>
              <a:rPr lang="hu-HU" sz="1600" dirty="0">
                <a:solidFill>
                  <a:srgbClr val="C5D5E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kialakítása</a:t>
            </a:r>
            <a:r>
              <a:rPr lang="en-US" sz="1600" dirty="0">
                <a:solidFill>
                  <a:srgbClr val="C5D5E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</a:t>
            </a:r>
            <a:endParaRPr lang="hu-HU" sz="1600" dirty="0">
              <a:solidFill>
                <a:srgbClr val="C5D5E8"/>
              </a:solidFill>
              <a:latin typeface="Trebuchet MS" pitchFamily="34" charset="0"/>
              <a:ea typeface="Trebuchet MS" pitchFamily="34" charset="-122"/>
              <a:cs typeface="Trebuchet MS" pitchFamily="34" charset="-120"/>
            </a:endParaRPr>
          </a:p>
        </p:txBody>
      </p:sp>
      <p:sp>
        <p:nvSpPr>
          <p:cNvPr id="40" name="Text 38"/>
          <p:cNvSpPr/>
          <p:nvPr/>
        </p:nvSpPr>
        <p:spPr>
          <a:xfrm>
            <a:off x="6217920" y="3374136"/>
            <a:ext cx="241401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C5D5E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Autentikáció</a:t>
            </a:r>
            <a:endParaRPr lang="en-US" sz="1600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B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1148"/>
          </a:xfrm>
          <a:prstGeom prst="rect">
            <a:avLst/>
          </a:prstGeom>
          <a:solidFill>
            <a:srgbClr val="E9A227"/>
          </a:solidFill>
          <a:ln w="12700">
            <a:solidFill>
              <a:srgbClr val="E9A227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3" name="Shape 1"/>
          <p:cNvSpPr/>
          <p:nvPr/>
        </p:nvSpPr>
        <p:spPr>
          <a:xfrm>
            <a:off x="3931920" y="548640"/>
            <a:ext cx="4937760" cy="4937760"/>
          </a:xfrm>
          <a:prstGeom prst="ellipse">
            <a:avLst/>
          </a:prstGeom>
          <a:solidFill>
            <a:srgbClr val="132035"/>
          </a:solidFill>
          <a:ln w="12700">
            <a:solidFill>
              <a:srgbClr val="1F3050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4" name="Shape 2"/>
          <p:cNvSpPr/>
          <p:nvPr/>
        </p:nvSpPr>
        <p:spPr>
          <a:xfrm>
            <a:off x="4663440" y="1234440"/>
            <a:ext cx="3474720" cy="3474720"/>
          </a:xfrm>
          <a:prstGeom prst="ellipse">
            <a:avLst/>
          </a:prstGeom>
          <a:solidFill>
            <a:srgbClr val="1A2B42"/>
          </a:solidFill>
          <a:ln w="19050">
            <a:solidFill>
              <a:srgbClr val="E9A227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6" name="Text 3"/>
          <p:cNvSpPr/>
          <p:nvPr/>
        </p:nvSpPr>
        <p:spPr>
          <a:xfrm>
            <a:off x="475488" y="960120"/>
            <a:ext cx="3931920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4400" b="1" dirty="0" err="1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Próbáljuk</a:t>
            </a:r>
            <a:r>
              <a:rPr lang="en-US" sz="44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 </a:t>
            </a:r>
            <a:r>
              <a:rPr lang="hu-HU" sz="44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k</a:t>
            </a:r>
            <a:r>
              <a:rPr lang="en-US" sz="4400" b="1" dirty="0" err="1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i</a:t>
            </a:r>
            <a:endParaRPr lang="en-US" sz="44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4400" b="1" dirty="0" err="1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az</a:t>
            </a:r>
            <a:r>
              <a:rPr lang="en-US" sz="44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 </a:t>
            </a:r>
            <a:r>
              <a:rPr lang="hu-HU" sz="44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a</a:t>
            </a:r>
            <a:r>
              <a:rPr lang="en-US" sz="4400" b="1" dirty="0" err="1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lkalmazást</a:t>
            </a:r>
            <a:r>
              <a:rPr lang="en-US" sz="44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!</a:t>
            </a:r>
            <a:endParaRPr lang="en-US" sz="4400" dirty="0"/>
          </a:p>
        </p:txBody>
      </p:sp>
      <p:sp>
        <p:nvSpPr>
          <p:cNvPr id="7" name="Shape 4"/>
          <p:cNvSpPr/>
          <p:nvPr/>
        </p:nvSpPr>
        <p:spPr>
          <a:xfrm>
            <a:off x="475488" y="3401568"/>
            <a:ext cx="2560320" cy="36576"/>
          </a:xfrm>
          <a:prstGeom prst="rect">
            <a:avLst/>
          </a:prstGeom>
          <a:solidFill>
            <a:srgbClr val="E9A227"/>
          </a:solidFill>
          <a:ln w="12700">
            <a:solidFill>
              <a:srgbClr val="E9A227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8" name="Text 5"/>
          <p:cNvSpPr/>
          <p:nvPr/>
        </p:nvSpPr>
        <p:spPr>
          <a:xfrm>
            <a:off x="502920" y="3566160"/>
            <a:ext cx="3840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hu-HU" sz="1500" i="1" dirty="0">
                <a:solidFill>
                  <a:srgbClr val="E9A22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Élő </a:t>
            </a:r>
            <a:r>
              <a:rPr lang="hu-HU" sz="1500" i="1" dirty="0" err="1">
                <a:solidFill>
                  <a:srgbClr val="E9A22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demo</a:t>
            </a:r>
            <a:r>
              <a:rPr lang="en-US" sz="1500" i="1" dirty="0">
                <a:solidFill>
                  <a:srgbClr val="E9A22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következik →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0" y="5102352"/>
            <a:ext cx="9144000" cy="41148"/>
          </a:xfrm>
          <a:prstGeom prst="rect">
            <a:avLst/>
          </a:prstGeom>
          <a:solidFill>
            <a:srgbClr val="1F3050"/>
          </a:solidFill>
          <a:ln w="12700">
            <a:solidFill>
              <a:srgbClr val="1F3050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pic>
        <p:nvPicPr>
          <p:cNvPr id="12" name="Kép 11">
            <a:extLst>
              <a:ext uri="{FF2B5EF4-FFF2-40B4-BE49-F238E27FC236}">
                <a16:creationId xmlns:a16="http://schemas.microsoft.com/office/drawing/2014/main" id="{4ABAD5F1-DA36-A3AF-D4F9-8DEADE67DF4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29237" y="1945957"/>
            <a:ext cx="2143125" cy="2143125"/>
          </a:xfrm>
          <a:prstGeom prst="ellipse">
            <a:avLst/>
          </a:prstGeom>
          <a:ln w="190500" cap="rnd">
            <a:solidFill>
              <a:srgbClr val="C8C6BD"/>
            </a:solidFill>
            <a:prstDash val="solid"/>
          </a:ln>
          <a:effectLst>
            <a:outerShdw blurRad="127000" algn="bl" rotWithShape="0">
              <a:srgbClr val="000000"/>
            </a:outerShdw>
          </a:effectLst>
          <a:scene3d>
            <a:camera prst="perspectiveFront" fov="5400000"/>
            <a:lightRig rig="threePt" dir="t">
              <a:rot lat="0" lon="0" rev="19200000"/>
            </a:lightRig>
          </a:scene3d>
          <a:sp3d extrusionH="25400">
            <a:bevelT w="304800" h="152400" prst="hardEdge"/>
            <a:extrusionClr>
              <a:srgbClr val="000000"/>
            </a:extrusionClr>
          </a:sp3d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B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unpacked_clean/ppt/media/image1.jpeg"/>
          <p:cNvPicPr>
            <a:picLocks noChangeAspect="1"/>
          </p:cNvPicPr>
          <p:nvPr/>
        </p:nvPicPr>
        <p:blipFill>
          <a:blip r:embed="rId3">
            <a:alphaModFix amt="40000"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B1628">
              <a:alpha val="75000"/>
            </a:srgbClr>
          </a:solidFill>
          <a:ln w="12700">
            <a:solidFill>
              <a:srgbClr val="0B1628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4" name="Shape 1"/>
          <p:cNvSpPr/>
          <p:nvPr/>
        </p:nvSpPr>
        <p:spPr>
          <a:xfrm>
            <a:off x="0" y="0"/>
            <a:ext cx="9144000" cy="41148"/>
          </a:xfrm>
          <a:prstGeom prst="rect">
            <a:avLst/>
          </a:prstGeom>
          <a:solidFill>
            <a:srgbClr val="E9A227"/>
          </a:solidFill>
          <a:ln w="12700">
            <a:solidFill>
              <a:srgbClr val="E9A227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5" name="Text 2"/>
          <p:cNvSpPr/>
          <p:nvPr/>
        </p:nvSpPr>
        <p:spPr>
          <a:xfrm>
            <a:off x="914400" y="822960"/>
            <a:ext cx="731520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64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Köszönjük</a:t>
            </a:r>
            <a:endParaRPr lang="en-US" sz="6400" dirty="0"/>
          </a:p>
          <a:p>
            <a:pPr marL="0" indent="0" algn="ctr">
              <a:lnSpc>
                <a:spcPct val="100000"/>
              </a:lnSpc>
              <a:buNone/>
            </a:pPr>
            <a:r>
              <a:rPr lang="en-US" sz="64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a Figyelmet!</a:t>
            </a:r>
            <a:endParaRPr lang="en-US" sz="6400" dirty="0"/>
          </a:p>
        </p:txBody>
      </p:sp>
      <p:sp>
        <p:nvSpPr>
          <p:cNvPr id="6" name="Shape 3"/>
          <p:cNvSpPr/>
          <p:nvPr/>
        </p:nvSpPr>
        <p:spPr>
          <a:xfrm>
            <a:off x="3108960" y="3657600"/>
            <a:ext cx="2926080" cy="36576"/>
          </a:xfrm>
          <a:prstGeom prst="rect">
            <a:avLst/>
          </a:prstGeom>
          <a:solidFill>
            <a:srgbClr val="E9A227"/>
          </a:solidFill>
          <a:ln w="12700">
            <a:solidFill>
              <a:srgbClr val="E9A227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7" name="Text 4"/>
          <p:cNvSpPr/>
          <p:nvPr/>
        </p:nvSpPr>
        <p:spPr>
          <a:xfrm>
            <a:off x="0" y="3858768"/>
            <a:ext cx="9144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kern="0" spc="150" dirty="0">
                <a:solidFill>
                  <a:srgbClr val="C5D5E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Ádám &amp; Matyi  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0" y="5102352"/>
            <a:ext cx="9144000" cy="41148"/>
          </a:xfrm>
          <a:prstGeom prst="rect">
            <a:avLst/>
          </a:prstGeom>
          <a:solidFill>
            <a:srgbClr val="1F3050"/>
          </a:solidFill>
          <a:ln w="12700">
            <a:solidFill>
              <a:srgbClr val="1F3050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-téma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ReferenceId xmlns="87aa24f1-5ba0-4b45-9ca0-cb710780616f" xsi:nil="true"/>
  </documentManagement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kumentum" ma:contentTypeID="0x010100CF33BF45BA2D51468C049D7F49465F36" ma:contentTypeVersion="4" ma:contentTypeDescription="Új dokumentum létrehozása." ma:contentTypeScope="" ma:versionID="99230fe3e1de2d885706f7e7f862bcf2">
  <xsd:schema xmlns:xsd="http://www.w3.org/2001/XMLSchema" xmlns:xs="http://www.w3.org/2001/XMLSchema" xmlns:p="http://schemas.microsoft.com/office/2006/metadata/properties" xmlns:ns2="87aa24f1-5ba0-4b45-9ca0-cb710780616f" targetNamespace="http://schemas.microsoft.com/office/2006/metadata/properties" ma:root="true" ma:fieldsID="4c780e0772cac3b1fb0a258a91ebf9e8" ns2:_="">
    <xsd:import namespace="87aa24f1-5ba0-4b45-9ca0-cb710780616f"/>
    <xsd:element name="properties">
      <xsd:complexType>
        <xsd:sequence>
          <xsd:element name="documentManagement">
            <xsd:complexType>
              <xsd:all>
                <xsd:element ref="ns2:ReferenceId" minOccurs="0"/>
                <xsd:element ref="ns2:MediaServiceMetadata" minOccurs="0"/>
                <xsd:element ref="ns2:MediaServiceFastMetadata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87aa24f1-5ba0-4b45-9ca0-cb710780616f" elementFormDefault="qualified">
    <xsd:import namespace="http://schemas.microsoft.com/office/2006/documentManagement/types"/>
    <xsd:import namespace="http://schemas.microsoft.com/office/infopath/2007/PartnerControls"/>
    <xsd:element name="ReferenceId" ma:index="8" nillable="true" ma:displayName="ReferenceId" ma:indexed="true" ma:internalName="ReferenceId">
      <xsd:simpleType>
        <xsd:restriction base="dms:Text"/>
      </xsd:simpleType>
    </xsd:element>
    <xsd:element name="MediaServiceMetadata" ma:index="9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0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1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artalomtípus"/>
        <xsd:element ref="dc:title" minOccurs="0" maxOccurs="1" ma:index="4" ma:displayName="Cím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6200B2EB-C840-4BCD-BAB1-BC8073AF05E6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EAC5D19B-4118-451B-867A-9FDFB4FA3F3D}">
  <ds:schemaRefs>
    <ds:schemaRef ds:uri="http://schemas.microsoft.com/office/2006/metadata/properties"/>
    <ds:schemaRef ds:uri="http://schemas.microsoft.com/office/infopath/2007/PartnerControls"/>
    <ds:schemaRef ds:uri="87aa24f1-5ba0-4b45-9ca0-cb710780616f"/>
  </ds:schemaRefs>
</ds:datastoreItem>
</file>

<file path=customXml/itemProps3.xml><?xml version="1.0" encoding="utf-8"?>
<ds:datastoreItem xmlns:ds="http://schemas.openxmlformats.org/officeDocument/2006/customXml" ds:itemID="{26430B49-CDF2-4854-9EF5-30E772CBB287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87aa24f1-5ba0-4b45-9ca0-cb710780616f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257</TotalTime>
  <Words>409</Words>
  <Application>Microsoft Office PowerPoint</Application>
  <PresentationFormat>Diavetítés a képernyőre (16:9 oldalarány)</PresentationFormat>
  <Paragraphs>123</Paragraphs>
  <Slides>14</Slides>
  <Notes>14</Notes>
  <HiddenSlides>0</HiddenSlides>
  <MMClips>0</MMClips>
  <ScaleCrop>false</ScaleCrop>
  <HeadingPairs>
    <vt:vector size="6" baseType="variant">
      <vt:variant>
        <vt:lpstr>Használt betűtípusok</vt:lpstr>
      </vt:variant>
      <vt:variant>
        <vt:i4>3</vt:i4>
      </vt:variant>
      <vt:variant>
        <vt:lpstr>Téma</vt:lpstr>
      </vt:variant>
      <vt:variant>
        <vt:i4>1</vt:i4>
      </vt:variant>
      <vt:variant>
        <vt:lpstr>Diacímek</vt:lpstr>
      </vt:variant>
      <vt:variant>
        <vt:i4>14</vt:i4>
      </vt:variant>
    </vt:vector>
  </HeadingPairs>
  <TitlesOfParts>
    <vt:vector size="18" baseType="lpstr">
      <vt:lpstr>Arial</vt:lpstr>
      <vt:lpstr>Palatino Linotype</vt:lpstr>
      <vt:lpstr>Trebuchet MS</vt:lpstr>
      <vt:lpstr>Office Theme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Cross Country Webshop</dc:title>
  <dc:subject>PptxGenJS Presentation</dc:subject>
  <dc:creator>Ádám &amp; Matyi</dc:creator>
  <cp:lastModifiedBy>Ádám Czirják</cp:lastModifiedBy>
  <cp:revision>20</cp:revision>
  <dcterms:created xsi:type="dcterms:W3CDTF">2026-03-23T20:12:40Z</dcterms:created>
  <dcterms:modified xsi:type="dcterms:W3CDTF">2026-04-09T10:27:26Z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0x010100CF33BF45BA2D51468C049D7F49465F36</vt:lpwstr>
  </property>
</Properties>
</file>