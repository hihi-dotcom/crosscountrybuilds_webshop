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wdp" ContentType="image/vnd.ms-photo"/>
  <Default Extension="xml" ContentType="application/xml"/>
  <Override PartName="/ppt/presentation.xml" ContentType="application/vnd.openxmlformats-officedocument.presentationml.presentation.main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Masters/slideMaster1.xml" ContentType="application/vnd.openxmlformats-officedocument.presentationml.slideMaster+xml"/>
  <Override PartName="/ppt/notesSlides/notesSlide8.xml" ContentType="application/vnd.openxmlformats-officedocument.presentationml.notesSlide+xml"/>
  <Override PartName="/ppt/notesSlides/notesSlide2.xml" ContentType="application/vnd.openxmlformats-officedocument.presentationml.notesSlide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9.xml" ContentType="application/vnd.openxmlformats-officedocument.presentationml.notesSlide+xml"/>
  <Override PartName="/ppt/notesMasters/notesMaster1.xml" ContentType="application/vnd.openxmlformats-officedocument.presentationml.notes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app.xml" ContentType="application/vnd.openxmlformats-officedocument.extended-properties+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14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</p:sldIdLst>
  <p:sldSz cx="9144000" cy="5143500" type="screen16x9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5611"/>
    <p:restoredTop sz="94610"/>
  </p:normalViewPr>
  <p:slideViewPr>
    <p:cSldViewPr snapToGrid="0" snapToObjects="1">
      <p:cViewPr varScale="1">
        <p:scale>
          <a:sx n="109" d="100"/>
          <a:sy n="109" d="100"/>
        </p:scale>
        <p:origin x="706" y="9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tableStyles" Target="tableStyles.xml"/><Relationship Id="rId3" Type="http://schemas.openxmlformats.org/officeDocument/2006/relationships/slide" Target="slides/slide2.xml"/><Relationship Id="rId21" Type="http://schemas.openxmlformats.org/officeDocument/2006/relationships/customXml" Target="../customXml/item3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theme" Target="theme/theme1.xml"/><Relationship Id="rId2" Type="http://schemas.openxmlformats.org/officeDocument/2006/relationships/slide" Target="slides/slide1.xml"/><Relationship Id="rId16" Type="http://schemas.openxmlformats.org/officeDocument/2006/relationships/viewProps" Target="viewProps.xml"/><Relationship Id="rId20" Type="http://schemas.openxmlformats.org/officeDocument/2006/relationships/customXml" Target="../customXml/item2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presProps" Target="presProps.xml"/><Relationship Id="rId10" Type="http://schemas.openxmlformats.org/officeDocument/2006/relationships/slide" Target="slides/slide9.xml"/><Relationship Id="rId19" Type="http://schemas.openxmlformats.org/officeDocument/2006/relationships/customXml" Target="../customXml/item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notesMaster" Target="notesMasters/notesMaster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449007353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e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7" Type="http://schemas.openxmlformats.org/officeDocument/2006/relationships/image" Target="../media/image5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Relationship Id="rId6" Type="http://schemas.microsoft.com/office/2007/relationships/hdphoto" Target="../media/hdphoto1.wdp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e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B162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claude/unpacked_clean/ppt/media/image1.jpeg"/>
          <p:cNvPicPr>
            <a:picLocks noChangeAspect="1"/>
          </p:cNvPicPr>
          <p:nvPr/>
        </p:nvPicPr>
        <p:blipFill>
          <a:blip r:embed="rId3">
            <a:alphaModFix amt="62000"/>
          </a:blip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-10551" y="-59436"/>
            <a:ext cx="5669280" cy="5143500"/>
          </a:xfrm>
          <a:prstGeom prst="rect">
            <a:avLst/>
          </a:prstGeom>
          <a:solidFill>
            <a:srgbClr val="0B1628"/>
          </a:solidFill>
          <a:ln w="12700">
            <a:solidFill>
              <a:srgbClr val="0B1628"/>
            </a:solidFill>
            <a:prstDash val="solid"/>
          </a:ln>
        </p:spPr>
        <p:txBody>
          <a:bodyPr/>
          <a:lstStyle/>
          <a:p>
            <a:endParaRPr lang="hu-HU"/>
          </a:p>
        </p:txBody>
      </p:sp>
      <p:sp>
        <p:nvSpPr>
          <p:cNvPr id="4" name="Shape 1"/>
          <p:cNvSpPr/>
          <p:nvPr/>
        </p:nvSpPr>
        <p:spPr>
          <a:xfrm>
            <a:off x="5120640" y="0"/>
            <a:ext cx="1371600" cy="5143500"/>
          </a:xfrm>
          <a:prstGeom prst="rect">
            <a:avLst/>
          </a:prstGeom>
          <a:solidFill>
            <a:srgbClr val="0B1628">
              <a:alpha val="45000"/>
            </a:srgbClr>
          </a:solidFill>
          <a:ln w="12700">
            <a:solidFill>
              <a:srgbClr val="0B1628"/>
            </a:solidFill>
            <a:prstDash val="solid"/>
          </a:ln>
        </p:spPr>
        <p:txBody>
          <a:bodyPr/>
          <a:lstStyle/>
          <a:p>
            <a:endParaRPr lang="hu-HU"/>
          </a:p>
        </p:txBody>
      </p:sp>
      <p:sp>
        <p:nvSpPr>
          <p:cNvPr id="5" name="Shape 2"/>
          <p:cNvSpPr/>
          <p:nvPr/>
        </p:nvSpPr>
        <p:spPr>
          <a:xfrm>
            <a:off x="0" y="0"/>
            <a:ext cx="9144000" cy="41148"/>
          </a:xfrm>
          <a:prstGeom prst="rect">
            <a:avLst/>
          </a:prstGeom>
          <a:solidFill>
            <a:srgbClr val="E9A227"/>
          </a:solidFill>
          <a:ln w="12700">
            <a:solidFill>
              <a:srgbClr val="E9A227"/>
            </a:solidFill>
            <a:prstDash val="solid"/>
          </a:ln>
        </p:spPr>
        <p:txBody>
          <a:bodyPr/>
          <a:lstStyle/>
          <a:p>
            <a:endParaRPr lang="hu-HU"/>
          </a:p>
        </p:txBody>
      </p:sp>
      <p:sp>
        <p:nvSpPr>
          <p:cNvPr id="6" name="Text 3"/>
          <p:cNvSpPr/>
          <p:nvPr/>
        </p:nvSpPr>
        <p:spPr>
          <a:xfrm>
            <a:off x="502920" y="182880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b="1" kern="0" spc="300" dirty="0">
                <a:solidFill>
                  <a:srgbClr val="E9A227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PROJEKT BEMUTATÓ</a:t>
            </a:r>
            <a:endParaRPr lang="en-US" sz="900" dirty="0"/>
          </a:p>
        </p:txBody>
      </p:sp>
      <p:sp>
        <p:nvSpPr>
          <p:cNvPr id="7" name="Text 4"/>
          <p:cNvSpPr/>
          <p:nvPr/>
        </p:nvSpPr>
        <p:spPr>
          <a:xfrm>
            <a:off x="457200" y="566928"/>
            <a:ext cx="5486400" cy="2468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98000"/>
              </a:lnSpc>
              <a:buNone/>
            </a:pPr>
            <a:r>
              <a:rPr lang="en-US" sz="5800" b="1" dirty="0">
                <a:solidFill>
                  <a:srgbClr val="FFFFFF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Cross Country</a:t>
            </a:r>
            <a:endParaRPr lang="en-US" sz="5800" dirty="0"/>
          </a:p>
          <a:p>
            <a:pPr marL="0" indent="0">
              <a:lnSpc>
                <a:spcPct val="98000"/>
              </a:lnSpc>
              <a:buNone/>
            </a:pPr>
            <a:r>
              <a:rPr lang="en-US" sz="5800" b="1" dirty="0">
                <a:solidFill>
                  <a:srgbClr val="FFFFFF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Webshop</a:t>
            </a:r>
            <a:endParaRPr lang="en-US" sz="5800" dirty="0"/>
          </a:p>
        </p:txBody>
      </p:sp>
      <p:sp>
        <p:nvSpPr>
          <p:cNvPr id="8" name="Shape 5"/>
          <p:cNvSpPr/>
          <p:nvPr/>
        </p:nvSpPr>
        <p:spPr>
          <a:xfrm>
            <a:off x="475488" y="2999232"/>
            <a:ext cx="2377440" cy="36576"/>
          </a:xfrm>
          <a:prstGeom prst="rect">
            <a:avLst/>
          </a:prstGeom>
          <a:solidFill>
            <a:srgbClr val="E9A227"/>
          </a:solidFill>
          <a:ln w="12700">
            <a:solidFill>
              <a:srgbClr val="E9A227"/>
            </a:solidFill>
            <a:prstDash val="solid"/>
          </a:ln>
        </p:spPr>
        <p:txBody>
          <a:bodyPr/>
          <a:lstStyle/>
          <a:p>
            <a:endParaRPr lang="hu-HU"/>
          </a:p>
        </p:txBody>
      </p:sp>
      <p:sp>
        <p:nvSpPr>
          <p:cNvPr id="9" name="Text 6"/>
          <p:cNvSpPr/>
          <p:nvPr/>
        </p:nvSpPr>
        <p:spPr>
          <a:xfrm>
            <a:off x="207498" y="3504262"/>
            <a:ext cx="614406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55000"/>
              </a:lnSpc>
              <a:buNone/>
            </a:pPr>
            <a:r>
              <a:rPr lang="en-US" sz="1400" dirty="0">
                <a:solidFill>
                  <a:srgbClr val="C5D5E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Architektúra  ·  Funkciók  ·  </a:t>
            </a:r>
            <a:r>
              <a:rPr lang="en-US" sz="1400" dirty="0" err="1">
                <a:solidFill>
                  <a:srgbClr val="C5D5E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Tokenizáció</a:t>
            </a:r>
            <a:endParaRPr lang="hu-HU" sz="1400" dirty="0">
              <a:solidFill>
                <a:srgbClr val="C5D5E8"/>
              </a:solidFill>
              <a:latin typeface="Trebuchet MS" pitchFamily="34" charset="0"/>
              <a:ea typeface="Trebuchet MS" pitchFamily="34" charset="-122"/>
              <a:cs typeface="Trebuchet MS" pitchFamily="34" charset="-120"/>
            </a:endParaRPr>
          </a:p>
          <a:p>
            <a:pPr marL="0" indent="0">
              <a:lnSpc>
                <a:spcPct val="155000"/>
              </a:lnSpc>
              <a:buNone/>
            </a:pPr>
            <a:r>
              <a:rPr lang="hu-HU" sz="1400" dirty="0"/>
              <a:t> </a:t>
            </a:r>
            <a:r>
              <a:rPr lang="en-US" sz="1400" dirty="0" err="1">
                <a:solidFill>
                  <a:srgbClr val="C5D5E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Végponthívás</a:t>
            </a:r>
            <a:r>
              <a:rPr lang="en-US" sz="1400" dirty="0">
                <a:solidFill>
                  <a:srgbClr val="C5D5E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  ·  Munkamegosztás</a:t>
            </a:r>
            <a:endParaRPr lang="en-US" sz="1400" dirty="0"/>
          </a:p>
        </p:txBody>
      </p:sp>
      <p:sp>
        <p:nvSpPr>
          <p:cNvPr id="10" name="Shape 7"/>
          <p:cNvSpPr/>
          <p:nvPr/>
        </p:nvSpPr>
        <p:spPr>
          <a:xfrm>
            <a:off x="0" y="5102352"/>
            <a:ext cx="9144000" cy="41148"/>
          </a:xfrm>
          <a:prstGeom prst="rect">
            <a:avLst/>
          </a:prstGeom>
          <a:solidFill>
            <a:srgbClr val="1F3050"/>
          </a:solidFill>
          <a:ln w="12700">
            <a:solidFill>
              <a:srgbClr val="1F3050"/>
            </a:solidFill>
            <a:prstDash val="solid"/>
          </a:ln>
        </p:spPr>
        <p:txBody>
          <a:bodyPr/>
          <a:lstStyle/>
          <a:p>
            <a:endParaRPr lang="hu-HU"/>
          </a:p>
        </p:txBody>
      </p:sp>
      <p:sp>
        <p:nvSpPr>
          <p:cNvPr id="11" name="Text 8"/>
          <p:cNvSpPr/>
          <p:nvPr/>
        </p:nvSpPr>
        <p:spPr>
          <a:xfrm>
            <a:off x="8503920" y="4882896"/>
            <a:ext cx="5029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5C7A9B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01</a:t>
            </a:r>
            <a:endParaRPr lang="en-US" sz="9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B162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56032"/>
            <a:ext cx="54864" cy="713232"/>
          </a:xfrm>
          <a:prstGeom prst="rect">
            <a:avLst/>
          </a:prstGeom>
          <a:solidFill>
            <a:srgbClr val="E9A227"/>
          </a:solidFill>
          <a:ln w="12700">
            <a:solidFill>
              <a:srgbClr val="E9A227"/>
            </a:solidFill>
            <a:prstDash val="solid"/>
          </a:ln>
        </p:spPr>
        <p:txBody>
          <a:bodyPr/>
          <a:lstStyle/>
          <a:p>
            <a:endParaRPr lang="hu-HU"/>
          </a:p>
        </p:txBody>
      </p:sp>
      <p:sp>
        <p:nvSpPr>
          <p:cNvPr id="3" name="Text 1"/>
          <p:cNvSpPr/>
          <p:nvPr/>
        </p:nvSpPr>
        <p:spPr>
          <a:xfrm>
            <a:off x="658368" y="201168"/>
            <a:ext cx="80467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rgbClr val="FFFFFF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A Projekt Bemutatása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0" y="1097280"/>
            <a:ext cx="9144000" cy="16459"/>
          </a:xfrm>
          <a:prstGeom prst="rect">
            <a:avLst/>
          </a:prstGeom>
          <a:solidFill>
            <a:srgbClr val="1F3050"/>
          </a:solidFill>
          <a:ln w="12700">
            <a:solidFill>
              <a:srgbClr val="1F3050"/>
            </a:solidFill>
            <a:prstDash val="solid"/>
          </a:ln>
        </p:spPr>
        <p:txBody>
          <a:bodyPr/>
          <a:lstStyle/>
          <a:p>
            <a:endParaRPr lang="hu-HU"/>
          </a:p>
        </p:txBody>
      </p:sp>
      <p:sp>
        <p:nvSpPr>
          <p:cNvPr id="5" name="Shape 3"/>
          <p:cNvSpPr/>
          <p:nvPr/>
        </p:nvSpPr>
        <p:spPr>
          <a:xfrm>
            <a:off x="0" y="5102352"/>
            <a:ext cx="9144000" cy="41148"/>
          </a:xfrm>
          <a:prstGeom prst="rect">
            <a:avLst/>
          </a:prstGeom>
          <a:solidFill>
            <a:srgbClr val="1F3050"/>
          </a:solidFill>
          <a:ln w="12700">
            <a:solidFill>
              <a:srgbClr val="1F3050"/>
            </a:solidFill>
            <a:prstDash val="solid"/>
          </a:ln>
        </p:spPr>
        <p:txBody>
          <a:bodyPr/>
          <a:lstStyle/>
          <a:p>
            <a:endParaRPr lang="hu-HU"/>
          </a:p>
        </p:txBody>
      </p:sp>
      <p:sp>
        <p:nvSpPr>
          <p:cNvPr id="7" name="Shape 5"/>
          <p:cNvSpPr/>
          <p:nvPr/>
        </p:nvSpPr>
        <p:spPr>
          <a:xfrm>
            <a:off x="411480" y="1261872"/>
            <a:ext cx="2633472" cy="3493008"/>
          </a:xfrm>
          <a:prstGeom prst="rect">
            <a:avLst/>
          </a:prstGeom>
          <a:solidFill>
            <a:srgbClr val="1A2B42"/>
          </a:solidFill>
          <a:ln w="9525">
            <a:solidFill>
              <a:srgbClr val="1F3050"/>
            </a:solidFill>
            <a:prstDash val="solid"/>
          </a:ln>
          <a:effectLst>
            <a:outerShdw blurRad="101600" dist="25400" dir="8100000" algn="bl" rotWithShape="0">
              <a:srgbClr val="000000">
                <a:alpha val="30000"/>
              </a:srgbClr>
            </a:outerShdw>
          </a:effectLst>
        </p:spPr>
        <p:txBody>
          <a:bodyPr/>
          <a:lstStyle/>
          <a:p>
            <a:endParaRPr lang="hu-HU"/>
          </a:p>
        </p:txBody>
      </p:sp>
      <p:sp>
        <p:nvSpPr>
          <p:cNvPr id="8" name="Shape 6"/>
          <p:cNvSpPr/>
          <p:nvPr/>
        </p:nvSpPr>
        <p:spPr>
          <a:xfrm>
            <a:off x="411480" y="1261872"/>
            <a:ext cx="45720" cy="3493008"/>
          </a:xfrm>
          <a:prstGeom prst="rect">
            <a:avLst/>
          </a:prstGeom>
          <a:solidFill>
            <a:srgbClr val="E9A227"/>
          </a:solidFill>
          <a:ln w="12700">
            <a:solidFill>
              <a:srgbClr val="E9A227"/>
            </a:solidFill>
            <a:prstDash val="solid"/>
          </a:ln>
        </p:spPr>
        <p:txBody>
          <a:bodyPr/>
          <a:lstStyle/>
          <a:p>
            <a:endParaRPr lang="hu-HU"/>
          </a:p>
        </p:txBody>
      </p:sp>
      <p:sp>
        <p:nvSpPr>
          <p:cNvPr id="9" name="Text 7"/>
          <p:cNvSpPr/>
          <p:nvPr/>
        </p:nvSpPr>
        <p:spPr>
          <a:xfrm>
            <a:off x="566928" y="1353312"/>
            <a:ext cx="2377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b="1" kern="0" spc="150" dirty="0">
                <a:solidFill>
                  <a:srgbClr val="E9A227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SZOFTVER CÉLJA</a:t>
            </a:r>
            <a:endParaRPr lang="en-US" sz="950" dirty="0"/>
          </a:p>
        </p:txBody>
      </p:sp>
      <p:sp>
        <p:nvSpPr>
          <p:cNvPr id="10" name="Shape 8"/>
          <p:cNvSpPr/>
          <p:nvPr/>
        </p:nvSpPr>
        <p:spPr>
          <a:xfrm>
            <a:off x="566928" y="1645920"/>
            <a:ext cx="2286000" cy="36576"/>
          </a:xfrm>
          <a:prstGeom prst="rect">
            <a:avLst/>
          </a:prstGeom>
          <a:solidFill>
            <a:srgbClr val="E9A227"/>
          </a:solidFill>
          <a:ln w="12700">
            <a:solidFill>
              <a:srgbClr val="E9A227"/>
            </a:solidFill>
            <a:prstDash val="solid"/>
          </a:ln>
        </p:spPr>
        <p:txBody>
          <a:bodyPr/>
          <a:lstStyle/>
          <a:p>
            <a:endParaRPr lang="hu-HU"/>
          </a:p>
        </p:txBody>
      </p:sp>
      <p:sp>
        <p:nvSpPr>
          <p:cNvPr id="11" name="Text 9"/>
          <p:cNvSpPr/>
          <p:nvPr/>
        </p:nvSpPr>
        <p:spPr>
          <a:xfrm>
            <a:off x="566928" y="1755648"/>
            <a:ext cx="2377440" cy="2743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50000"/>
              </a:lnSpc>
              <a:buNone/>
            </a:pPr>
            <a:r>
              <a:rPr lang="en-US" sz="1300" dirty="0">
                <a:solidFill>
                  <a:srgbClr val="C5D5E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Egy teljes értékű webshop, ahol fiatalok böngészhetnek, kerékpár szervizt foglalhatnak, és termékeket rendelhetnek.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3227832" y="1261872"/>
            <a:ext cx="2633472" cy="3493008"/>
          </a:xfrm>
          <a:prstGeom prst="rect">
            <a:avLst/>
          </a:prstGeom>
          <a:solidFill>
            <a:srgbClr val="1A2B42"/>
          </a:solidFill>
          <a:ln w="9525">
            <a:solidFill>
              <a:srgbClr val="1F3050"/>
            </a:solidFill>
            <a:prstDash val="solid"/>
          </a:ln>
          <a:effectLst>
            <a:outerShdw blurRad="101600" dist="25400" dir="8100000" algn="bl" rotWithShape="0">
              <a:srgbClr val="000000">
                <a:alpha val="30000"/>
              </a:srgbClr>
            </a:outerShdw>
          </a:effectLst>
        </p:spPr>
        <p:txBody>
          <a:bodyPr/>
          <a:lstStyle/>
          <a:p>
            <a:endParaRPr lang="hu-HU"/>
          </a:p>
        </p:txBody>
      </p:sp>
      <p:sp>
        <p:nvSpPr>
          <p:cNvPr id="13" name="Shape 11"/>
          <p:cNvSpPr/>
          <p:nvPr/>
        </p:nvSpPr>
        <p:spPr>
          <a:xfrm>
            <a:off x="3227832" y="1261872"/>
            <a:ext cx="45720" cy="3493008"/>
          </a:xfrm>
          <a:prstGeom prst="rect">
            <a:avLst/>
          </a:prstGeom>
          <a:solidFill>
            <a:srgbClr val="E9A227"/>
          </a:solidFill>
          <a:ln w="12700">
            <a:solidFill>
              <a:srgbClr val="E9A227"/>
            </a:solidFill>
            <a:prstDash val="solid"/>
          </a:ln>
        </p:spPr>
        <p:txBody>
          <a:bodyPr/>
          <a:lstStyle/>
          <a:p>
            <a:endParaRPr lang="hu-HU"/>
          </a:p>
        </p:txBody>
      </p:sp>
      <p:sp>
        <p:nvSpPr>
          <p:cNvPr id="14" name="Text 12"/>
          <p:cNvSpPr/>
          <p:nvPr/>
        </p:nvSpPr>
        <p:spPr>
          <a:xfrm>
            <a:off x="3383280" y="1353312"/>
            <a:ext cx="2377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b="1" kern="0" spc="150" dirty="0">
                <a:solidFill>
                  <a:srgbClr val="E9A227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KINEK SZÓL?</a:t>
            </a:r>
            <a:endParaRPr lang="en-US" sz="950" dirty="0"/>
          </a:p>
        </p:txBody>
      </p:sp>
      <p:sp>
        <p:nvSpPr>
          <p:cNvPr id="15" name="Shape 13"/>
          <p:cNvSpPr/>
          <p:nvPr/>
        </p:nvSpPr>
        <p:spPr>
          <a:xfrm>
            <a:off x="3383280" y="1645920"/>
            <a:ext cx="2286000" cy="36576"/>
          </a:xfrm>
          <a:prstGeom prst="rect">
            <a:avLst/>
          </a:prstGeom>
          <a:solidFill>
            <a:srgbClr val="E9A227"/>
          </a:solidFill>
          <a:ln w="12700">
            <a:solidFill>
              <a:srgbClr val="E9A227"/>
            </a:solidFill>
            <a:prstDash val="solid"/>
          </a:ln>
        </p:spPr>
        <p:txBody>
          <a:bodyPr/>
          <a:lstStyle/>
          <a:p>
            <a:endParaRPr lang="hu-HU"/>
          </a:p>
        </p:txBody>
      </p:sp>
      <p:sp>
        <p:nvSpPr>
          <p:cNvPr id="16" name="Text 14"/>
          <p:cNvSpPr/>
          <p:nvPr/>
        </p:nvSpPr>
        <p:spPr>
          <a:xfrm>
            <a:off x="3383280" y="1755648"/>
            <a:ext cx="2377440" cy="2743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50000"/>
              </a:lnSpc>
              <a:buNone/>
            </a:pPr>
            <a:r>
              <a:rPr lang="en-US" sz="1300" dirty="0">
                <a:solidFill>
                  <a:srgbClr val="C5D5E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Olyan fiatal végfelhasználóknak, akiket érdekel a kerékpározás világa, akár magas szinten is. Természetesen adminisztrátorok számára is.</a:t>
            </a:r>
            <a:endParaRPr lang="en-US" sz="1300" dirty="0"/>
          </a:p>
        </p:txBody>
      </p:sp>
      <p:sp>
        <p:nvSpPr>
          <p:cNvPr id="17" name="Shape 15"/>
          <p:cNvSpPr/>
          <p:nvPr/>
        </p:nvSpPr>
        <p:spPr>
          <a:xfrm>
            <a:off x="6044184" y="1261872"/>
            <a:ext cx="2633472" cy="3493008"/>
          </a:xfrm>
          <a:prstGeom prst="rect">
            <a:avLst/>
          </a:prstGeom>
          <a:solidFill>
            <a:srgbClr val="1A2B42"/>
          </a:solidFill>
          <a:ln w="9525">
            <a:solidFill>
              <a:srgbClr val="1F3050"/>
            </a:solidFill>
            <a:prstDash val="solid"/>
          </a:ln>
          <a:effectLst>
            <a:outerShdw blurRad="101600" dist="25400" dir="8100000" algn="bl" rotWithShape="0">
              <a:srgbClr val="000000">
                <a:alpha val="30000"/>
              </a:srgbClr>
            </a:outerShdw>
          </a:effectLst>
        </p:spPr>
        <p:txBody>
          <a:bodyPr/>
          <a:lstStyle/>
          <a:p>
            <a:endParaRPr lang="hu-HU"/>
          </a:p>
        </p:txBody>
      </p:sp>
      <p:sp>
        <p:nvSpPr>
          <p:cNvPr id="18" name="Shape 16"/>
          <p:cNvSpPr/>
          <p:nvPr/>
        </p:nvSpPr>
        <p:spPr>
          <a:xfrm>
            <a:off x="6044184" y="1261872"/>
            <a:ext cx="45720" cy="3493008"/>
          </a:xfrm>
          <a:prstGeom prst="rect">
            <a:avLst/>
          </a:prstGeom>
          <a:solidFill>
            <a:srgbClr val="E9A227"/>
          </a:solidFill>
          <a:ln w="12700">
            <a:solidFill>
              <a:srgbClr val="E9A227"/>
            </a:solidFill>
            <a:prstDash val="solid"/>
          </a:ln>
        </p:spPr>
        <p:txBody>
          <a:bodyPr/>
          <a:lstStyle/>
          <a:p>
            <a:endParaRPr lang="hu-HU"/>
          </a:p>
        </p:txBody>
      </p:sp>
      <p:sp>
        <p:nvSpPr>
          <p:cNvPr id="19" name="Text 17"/>
          <p:cNvSpPr/>
          <p:nvPr/>
        </p:nvSpPr>
        <p:spPr>
          <a:xfrm>
            <a:off x="6199632" y="1353312"/>
            <a:ext cx="2377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b="1" kern="0" spc="150" dirty="0">
                <a:solidFill>
                  <a:srgbClr val="E9A227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MIÉRT?</a:t>
            </a:r>
            <a:endParaRPr lang="en-US" sz="950" dirty="0"/>
          </a:p>
        </p:txBody>
      </p:sp>
      <p:sp>
        <p:nvSpPr>
          <p:cNvPr id="20" name="Shape 18"/>
          <p:cNvSpPr/>
          <p:nvPr/>
        </p:nvSpPr>
        <p:spPr>
          <a:xfrm>
            <a:off x="6199632" y="1645920"/>
            <a:ext cx="2286000" cy="36576"/>
          </a:xfrm>
          <a:prstGeom prst="rect">
            <a:avLst/>
          </a:prstGeom>
          <a:solidFill>
            <a:srgbClr val="E9A227"/>
          </a:solidFill>
          <a:ln w="12700">
            <a:solidFill>
              <a:srgbClr val="E9A227"/>
            </a:solidFill>
            <a:prstDash val="solid"/>
          </a:ln>
        </p:spPr>
        <p:txBody>
          <a:bodyPr/>
          <a:lstStyle/>
          <a:p>
            <a:endParaRPr lang="hu-HU"/>
          </a:p>
        </p:txBody>
      </p:sp>
      <p:sp>
        <p:nvSpPr>
          <p:cNvPr id="21" name="Text 19"/>
          <p:cNvSpPr/>
          <p:nvPr/>
        </p:nvSpPr>
        <p:spPr>
          <a:xfrm>
            <a:off x="6199632" y="1755648"/>
            <a:ext cx="2377440" cy="2743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50000"/>
              </a:lnSpc>
              <a:buNone/>
            </a:pPr>
            <a:r>
              <a:rPr lang="en-US" sz="1300" dirty="0">
                <a:solidFill>
                  <a:srgbClr val="C5D5E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Személy szerint nagyon érdekel a kerékpározás világa, illetve maga a sportág is.</a:t>
            </a:r>
            <a:endParaRPr lang="en-US" sz="13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B162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56032"/>
            <a:ext cx="54864" cy="713232"/>
          </a:xfrm>
          <a:prstGeom prst="rect">
            <a:avLst/>
          </a:prstGeom>
          <a:solidFill>
            <a:srgbClr val="E9A227"/>
          </a:solidFill>
          <a:ln w="12700">
            <a:solidFill>
              <a:srgbClr val="E9A227"/>
            </a:solidFill>
            <a:prstDash val="solid"/>
          </a:ln>
        </p:spPr>
        <p:txBody>
          <a:bodyPr/>
          <a:lstStyle/>
          <a:p>
            <a:endParaRPr lang="hu-HU"/>
          </a:p>
        </p:txBody>
      </p:sp>
      <p:sp>
        <p:nvSpPr>
          <p:cNvPr id="3" name="Text 1"/>
          <p:cNvSpPr/>
          <p:nvPr/>
        </p:nvSpPr>
        <p:spPr>
          <a:xfrm>
            <a:off x="658368" y="201168"/>
            <a:ext cx="80467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rgbClr val="FFFFFF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Rendszer Architektúra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0" y="1097280"/>
            <a:ext cx="9144000" cy="16459"/>
          </a:xfrm>
          <a:prstGeom prst="rect">
            <a:avLst/>
          </a:prstGeom>
          <a:solidFill>
            <a:srgbClr val="1F3050"/>
          </a:solidFill>
          <a:ln w="12700">
            <a:solidFill>
              <a:srgbClr val="1F3050"/>
            </a:solidFill>
            <a:prstDash val="solid"/>
          </a:ln>
        </p:spPr>
        <p:txBody>
          <a:bodyPr/>
          <a:lstStyle/>
          <a:p>
            <a:endParaRPr lang="hu-HU"/>
          </a:p>
        </p:txBody>
      </p:sp>
      <p:sp>
        <p:nvSpPr>
          <p:cNvPr id="5" name="Shape 3"/>
          <p:cNvSpPr/>
          <p:nvPr/>
        </p:nvSpPr>
        <p:spPr>
          <a:xfrm>
            <a:off x="0" y="5102352"/>
            <a:ext cx="9144000" cy="41148"/>
          </a:xfrm>
          <a:prstGeom prst="rect">
            <a:avLst/>
          </a:prstGeom>
          <a:solidFill>
            <a:srgbClr val="1F3050"/>
          </a:solidFill>
          <a:ln w="12700">
            <a:solidFill>
              <a:srgbClr val="1F3050"/>
            </a:solidFill>
            <a:prstDash val="solid"/>
          </a:ln>
        </p:spPr>
        <p:txBody>
          <a:bodyPr/>
          <a:lstStyle/>
          <a:p>
            <a:endParaRPr lang="hu-HU"/>
          </a:p>
        </p:txBody>
      </p:sp>
      <p:sp>
        <p:nvSpPr>
          <p:cNvPr id="7" name="Shape 5"/>
          <p:cNvSpPr/>
          <p:nvPr/>
        </p:nvSpPr>
        <p:spPr>
          <a:xfrm>
            <a:off x="960120" y="2304288"/>
            <a:ext cx="7178040" cy="20117"/>
          </a:xfrm>
          <a:prstGeom prst="rect">
            <a:avLst/>
          </a:prstGeom>
          <a:solidFill>
            <a:srgbClr val="1F3050"/>
          </a:solidFill>
          <a:ln w="12700">
            <a:solidFill>
              <a:srgbClr val="1F3050"/>
            </a:solidFill>
            <a:prstDash val="solid"/>
          </a:ln>
        </p:spPr>
        <p:txBody>
          <a:bodyPr/>
          <a:lstStyle/>
          <a:p>
            <a:endParaRPr lang="hu-HU"/>
          </a:p>
        </p:txBody>
      </p:sp>
      <p:sp>
        <p:nvSpPr>
          <p:cNvPr id="9" name="Text 7"/>
          <p:cNvSpPr/>
          <p:nvPr/>
        </p:nvSpPr>
        <p:spPr>
          <a:xfrm>
            <a:off x="1024128" y="1298448"/>
            <a:ext cx="694944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endParaRPr lang="en-US" sz="1400" dirty="0"/>
          </a:p>
        </p:txBody>
      </p:sp>
      <p:sp>
        <p:nvSpPr>
          <p:cNvPr id="10" name="Shape 8"/>
          <p:cNvSpPr/>
          <p:nvPr/>
        </p:nvSpPr>
        <p:spPr>
          <a:xfrm>
            <a:off x="1298448" y="2258568"/>
            <a:ext cx="146304" cy="146304"/>
          </a:xfrm>
          <a:prstGeom prst="ellipse">
            <a:avLst/>
          </a:prstGeom>
          <a:solidFill>
            <a:srgbClr val="E9A227"/>
          </a:solidFill>
          <a:ln w="12700">
            <a:solidFill>
              <a:srgbClr val="E9A227"/>
            </a:solidFill>
            <a:prstDash val="solid"/>
          </a:ln>
        </p:spPr>
        <p:txBody>
          <a:bodyPr/>
          <a:lstStyle/>
          <a:p>
            <a:endParaRPr lang="hu-HU"/>
          </a:p>
        </p:txBody>
      </p:sp>
      <p:sp>
        <p:nvSpPr>
          <p:cNvPr id="11" name="Shape 9"/>
          <p:cNvSpPr/>
          <p:nvPr/>
        </p:nvSpPr>
        <p:spPr>
          <a:xfrm>
            <a:off x="411480" y="2514600"/>
            <a:ext cx="1920240" cy="2286000"/>
          </a:xfrm>
          <a:prstGeom prst="rect">
            <a:avLst/>
          </a:prstGeom>
          <a:solidFill>
            <a:srgbClr val="1A2B42"/>
          </a:solidFill>
          <a:ln w="9525">
            <a:solidFill>
              <a:srgbClr val="1F3050"/>
            </a:solidFill>
            <a:prstDash val="solid"/>
          </a:ln>
          <a:effectLst>
            <a:outerShdw blurRad="101600" dist="25400" dir="8100000" algn="bl" rotWithShape="0">
              <a:srgbClr val="000000">
                <a:alpha val="30000"/>
              </a:srgbClr>
            </a:outerShdw>
          </a:effectLst>
        </p:spPr>
        <p:txBody>
          <a:bodyPr/>
          <a:lstStyle/>
          <a:p>
            <a:endParaRPr lang="hu-HU"/>
          </a:p>
        </p:txBody>
      </p:sp>
      <p:sp>
        <p:nvSpPr>
          <p:cNvPr id="12" name="Text 10"/>
          <p:cNvSpPr/>
          <p:nvPr/>
        </p:nvSpPr>
        <p:spPr>
          <a:xfrm>
            <a:off x="539496" y="2596896"/>
            <a:ext cx="166420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b="1" kern="0" spc="150" dirty="0">
                <a:solidFill>
                  <a:srgbClr val="E9A227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FRONTEND</a:t>
            </a:r>
            <a:endParaRPr lang="en-US" sz="900" dirty="0"/>
          </a:p>
        </p:txBody>
      </p:sp>
      <p:sp>
        <p:nvSpPr>
          <p:cNvPr id="13" name="Shape 11"/>
          <p:cNvSpPr/>
          <p:nvPr/>
        </p:nvSpPr>
        <p:spPr>
          <a:xfrm>
            <a:off x="539496" y="2898648"/>
            <a:ext cx="1600200" cy="36576"/>
          </a:xfrm>
          <a:prstGeom prst="rect">
            <a:avLst/>
          </a:prstGeom>
          <a:solidFill>
            <a:srgbClr val="E9A227"/>
          </a:solidFill>
          <a:ln w="12700">
            <a:solidFill>
              <a:srgbClr val="E9A227"/>
            </a:solidFill>
            <a:prstDash val="solid"/>
          </a:ln>
        </p:spPr>
        <p:txBody>
          <a:bodyPr/>
          <a:lstStyle/>
          <a:p>
            <a:endParaRPr lang="hu-HU"/>
          </a:p>
        </p:txBody>
      </p:sp>
      <p:sp>
        <p:nvSpPr>
          <p:cNvPr id="14" name="Text 12"/>
          <p:cNvSpPr/>
          <p:nvPr/>
        </p:nvSpPr>
        <p:spPr>
          <a:xfrm>
            <a:off x="539496" y="2999232"/>
            <a:ext cx="1664208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40000"/>
              </a:lnSpc>
              <a:buNone/>
            </a:pPr>
            <a:r>
              <a:rPr lang="en-US" sz="1200" dirty="0">
                <a:solidFill>
                  <a:srgbClr val="C5D5E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React + React Router v7</a:t>
            </a:r>
            <a:endParaRPr lang="en-US" sz="1200" dirty="0"/>
          </a:p>
          <a:p>
            <a:pPr marL="0" indent="0">
              <a:lnSpc>
                <a:spcPct val="140000"/>
              </a:lnSpc>
              <a:buNone/>
            </a:pPr>
            <a:r>
              <a:rPr lang="en-US" sz="1200" dirty="0">
                <a:solidFill>
                  <a:srgbClr val="C5D5E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Tailwind CSS</a:t>
            </a:r>
            <a:endParaRPr lang="en-US" sz="1200" dirty="0"/>
          </a:p>
          <a:p>
            <a:pPr marL="0" indent="0">
              <a:lnSpc>
                <a:spcPct val="140000"/>
              </a:lnSpc>
              <a:buNone/>
            </a:pPr>
            <a:r>
              <a:rPr lang="en-US" sz="1200" dirty="0">
                <a:solidFill>
                  <a:srgbClr val="C5D5E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Flowbite React komponens könyvtár</a:t>
            </a:r>
            <a:endParaRPr lang="en-US" sz="1200" dirty="0"/>
          </a:p>
        </p:txBody>
      </p:sp>
      <p:sp>
        <p:nvSpPr>
          <p:cNvPr id="16" name="Text 14"/>
          <p:cNvSpPr/>
          <p:nvPr/>
        </p:nvSpPr>
        <p:spPr>
          <a:xfrm>
            <a:off x="3127248" y="1298448"/>
            <a:ext cx="694944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endParaRPr lang="en-US" sz="1400" dirty="0"/>
          </a:p>
        </p:txBody>
      </p:sp>
      <p:sp>
        <p:nvSpPr>
          <p:cNvPr id="17" name="Shape 15"/>
          <p:cNvSpPr/>
          <p:nvPr/>
        </p:nvSpPr>
        <p:spPr>
          <a:xfrm>
            <a:off x="3401568" y="2258568"/>
            <a:ext cx="146304" cy="146304"/>
          </a:xfrm>
          <a:prstGeom prst="ellipse">
            <a:avLst/>
          </a:prstGeom>
          <a:solidFill>
            <a:srgbClr val="E9A227"/>
          </a:solidFill>
          <a:ln w="12700">
            <a:solidFill>
              <a:srgbClr val="E9A227"/>
            </a:solidFill>
            <a:prstDash val="solid"/>
          </a:ln>
        </p:spPr>
        <p:txBody>
          <a:bodyPr/>
          <a:lstStyle/>
          <a:p>
            <a:endParaRPr lang="hu-HU"/>
          </a:p>
        </p:txBody>
      </p:sp>
      <p:sp>
        <p:nvSpPr>
          <p:cNvPr id="18" name="Shape 16"/>
          <p:cNvSpPr/>
          <p:nvPr/>
        </p:nvSpPr>
        <p:spPr>
          <a:xfrm>
            <a:off x="2514600" y="2514600"/>
            <a:ext cx="1920240" cy="2286000"/>
          </a:xfrm>
          <a:prstGeom prst="rect">
            <a:avLst/>
          </a:prstGeom>
          <a:solidFill>
            <a:srgbClr val="1A2B42"/>
          </a:solidFill>
          <a:ln w="9525">
            <a:solidFill>
              <a:srgbClr val="1F3050"/>
            </a:solidFill>
            <a:prstDash val="solid"/>
          </a:ln>
          <a:effectLst>
            <a:outerShdw blurRad="101600" dist="25400" dir="8100000" algn="bl" rotWithShape="0">
              <a:srgbClr val="000000">
                <a:alpha val="30000"/>
              </a:srgbClr>
            </a:outerShdw>
          </a:effectLst>
        </p:spPr>
        <p:txBody>
          <a:bodyPr/>
          <a:lstStyle/>
          <a:p>
            <a:endParaRPr lang="hu-HU"/>
          </a:p>
        </p:txBody>
      </p:sp>
      <p:sp>
        <p:nvSpPr>
          <p:cNvPr id="19" name="Text 17"/>
          <p:cNvSpPr/>
          <p:nvPr/>
        </p:nvSpPr>
        <p:spPr>
          <a:xfrm>
            <a:off x="2642616" y="2596896"/>
            <a:ext cx="166420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b="1" kern="0" spc="150" dirty="0">
                <a:solidFill>
                  <a:srgbClr val="E9A227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BACKEND</a:t>
            </a:r>
            <a:endParaRPr lang="en-US" sz="900" dirty="0"/>
          </a:p>
        </p:txBody>
      </p:sp>
      <p:sp>
        <p:nvSpPr>
          <p:cNvPr id="20" name="Shape 18"/>
          <p:cNvSpPr/>
          <p:nvPr/>
        </p:nvSpPr>
        <p:spPr>
          <a:xfrm>
            <a:off x="2642616" y="2898648"/>
            <a:ext cx="1600200" cy="36576"/>
          </a:xfrm>
          <a:prstGeom prst="rect">
            <a:avLst/>
          </a:prstGeom>
          <a:solidFill>
            <a:srgbClr val="E9A227"/>
          </a:solidFill>
          <a:ln w="12700">
            <a:solidFill>
              <a:srgbClr val="E9A227"/>
            </a:solidFill>
            <a:prstDash val="solid"/>
          </a:ln>
        </p:spPr>
        <p:txBody>
          <a:bodyPr/>
          <a:lstStyle/>
          <a:p>
            <a:endParaRPr lang="hu-HU"/>
          </a:p>
        </p:txBody>
      </p:sp>
      <p:sp>
        <p:nvSpPr>
          <p:cNvPr id="21" name="Text 19"/>
          <p:cNvSpPr/>
          <p:nvPr/>
        </p:nvSpPr>
        <p:spPr>
          <a:xfrm>
            <a:off x="2642616" y="2999232"/>
            <a:ext cx="1664208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40000"/>
              </a:lnSpc>
              <a:buNone/>
            </a:pPr>
            <a:r>
              <a:rPr lang="en-US" sz="1200" dirty="0">
                <a:solidFill>
                  <a:srgbClr val="C5D5E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Express / Node.js</a:t>
            </a:r>
            <a:endParaRPr lang="en-US" sz="1200" dirty="0"/>
          </a:p>
          <a:p>
            <a:pPr marL="0" indent="0">
              <a:lnSpc>
                <a:spcPct val="140000"/>
              </a:lnSpc>
              <a:buNone/>
            </a:pPr>
            <a:r>
              <a:rPr lang="en-US" sz="1200" dirty="0">
                <a:solidFill>
                  <a:srgbClr val="C5D5E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Odin Framework</a:t>
            </a:r>
            <a:endParaRPr lang="en-US" sz="1200" dirty="0"/>
          </a:p>
        </p:txBody>
      </p:sp>
      <p:sp>
        <p:nvSpPr>
          <p:cNvPr id="23" name="Text 21"/>
          <p:cNvSpPr/>
          <p:nvPr/>
        </p:nvSpPr>
        <p:spPr>
          <a:xfrm>
            <a:off x="5230368" y="1298448"/>
            <a:ext cx="694944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endParaRPr lang="en-US" sz="1400" dirty="0"/>
          </a:p>
        </p:txBody>
      </p:sp>
      <p:sp>
        <p:nvSpPr>
          <p:cNvPr id="24" name="Shape 22"/>
          <p:cNvSpPr/>
          <p:nvPr/>
        </p:nvSpPr>
        <p:spPr>
          <a:xfrm>
            <a:off x="5504688" y="2258568"/>
            <a:ext cx="146304" cy="146304"/>
          </a:xfrm>
          <a:prstGeom prst="ellipse">
            <a:avLst/>
          </a:prstGeom>
          <a:solidFill>
            <a:srgbClr val="E9A227"/>
          </a:solidFill>
          <a:ln w="12700">
            <a:solidFill>
              <a:srgbClr val="E9A227"/>
            </a:solidFill>
            <a:prstDash val="solid"/>
          </a:ln>
        </p:spPr>
        <p:txBody>
          <a:bodyPr/>
          <a:lstStyle/>
          <a:p>
            <a:endParaRPr lang="hu-HU"/>
          </a:p>
        </p:txBody>
      </p:sp>
      <p:sp>
        <p:nvSpPr>
          <p:cNvPr id="25" name="Shape 23"/>
          <p:cNvSpPr/>
          <p:nvPr/>
        </p:nvSpPr>
        <p:spPr>
          <a:xfrm>
            <a:off x="4617720" y="2514600"/>
            <a:ext cx="1920240" cy="2286000"/>
          </a:xfrm>
          <a:prstGeom prst="rect">
            <a:avLst/>
          </a:prstGeom>
          <a:solidFill>
            <a:srgbClr val="1A2B42"/>
          </a:solidFill>
          <a:ln w="9525">
            <a:solidFill>
              <a:srgbClr val="1F3050"/>
            </a:solidFill>
            <a:prstDash val="solid"/>
          </a:ln>
          <a:effectLst>
            <a:outerShdw blurRad="101600" dist="25400" dir="8100000" algn="bl" rotWithShape="0">
              <a:srgbClr val="000000">
                <a:alpha val="30000"/>
              </a:srgbClr>
            </a:outerShdw>
          </a:effectLst>
        </p:spPr>
        <p:txBody>
          <a:bodyPr/>
          <a:lstStyle/>
          <a:p>
            <a:endParaRPr lang="hu-HU"/>
          </a:p>
        </p:txBody>
      </p:sp>
      <p:sp>
        <p:nvSpPr>
          <p:cNvPr id="26" name="Text 24"/>
          <p:cNvSpPr/>
          <p:nvPr/>
        </p:nvSpPr>
        <p:spPr>
          <a:xfrm>
            <a:off x="4745736" y="2596896"/>
            <a:ext cx="166420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b="1" kern="0" spc="150" dirty="0">
                <a:solidFill>
                  <a:srgbClr val="E9A227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ADATBÁZIS</a:t>
            </a:r>
            <a:endParaRPr lang="en-US" sz="900" dirty="0"/>
          </a:p>
        </p:txBody>
      </p:sp>
      <p:sp>
        <p:nvSpPr>
          <p:cNvPr id="27" name="Shape 25"/>
          <p:cNvSpPr/>
          <p:nvPr/>
        </p:nvSpPr>
        <p:spPr>
          <a:xfrm>
            <a:off x="4745736" y="2898648"/>
            <a:ext cx="1600200" cy="36576"/>
          </a:xfrm>
          <a:prstGeom prst="rect">
            <a:avLst/>
          </a:prstGeom>
          <a:solidFill>
            <a:srgbClr val="E9A227"/>
          </a:solidFill>
          <a:ln w="12700">
            <a:solidFill>
              <a:srgbClr val="E9A227"/>
            </a:solidFill>
            <a:prstDash val="solid"/>
          </a:ln>
        </p:spPr>
        <p:txBody>
          <a:bodyPr/>
          <a:lstStyle/>
          <a:p>
            <a:endParaRPr lang="hu-HU"/>
          </a:p>
        </p:txBody>
      </p:sp>
      <p:sp>
        <p:nvSpPr>
          <p:cNvPr id="28" name="Text 26"/>
          <p:cNvSpPr/>
          <p:nvPr/>
        </p:nvSpPr>
        <p:spPr>
          <a:xfrm>
            <a:off x="4745736" y="2999232"/>
            <a:ext cx="1664208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40000"/>
              </a:lnSpc>
              <a:buNone/>
            </a:pPr>
            <a:r>
              <a:rPr lang="en-US" sz="1200" dirty="0">
                <a:solidFill>
                  <a:srgbClr val="C5D5E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MySQL / PostgreSQL</a:t>
            </a:r>
            <a:endParaRPr lang="en-US" sz="1200" dirty="0"/>
          </a:p>
        </p:txBody>
      </p:sp>
      <p:sp>
        <p:nvSpPr>
          <p:cNvPr id="30" name="Text 28"/>
          <p:cNvSpPr/>
          <p:nvPr/>
        </p:nvSpPr>
        <p:spPr>
          <a:xfrm>
            <a:off x="7333488" y="1298448"/>
            <a:ext cx="694944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endParaRPr lang="en-US" sz="1400" dirty="0"/>
          </a:p>
        </p:txBody>
      </p:sp>
      <p:sp>
        <p:nvSpPr>
          <p:cNvPr id="31" name="Shape 29"/>
          <p:cNvSpPr/>
          <p:nvPr/>
        </p:nvSpPr>
        <p:spPr>
          <a:xfrm>
            <a:off x="7607808" y="2258568"/>
            <a:ext cx="146304" cy="146304"/>
          </a:xfrm>
          <a:prstGeom prst="ellipse">
            <a:avLst/>
          </a:prstGeom>
          <a:solidFill>
            <a:srgbClr val="E9A227"/>
          </a:solidFill>
          <a:ln w="12700">
            <a:solidFill>
              <a:srgbClr val="E9A227"/>
            </a:solidFill>
            <a:prstDash val="solid"/>
          </a:ln>
        </p:spPr>
        <p:txBody>
          <a:bodyPr/>
          <a:lstStyle/>
          <a:p>
            <a:endParaRPr lang="hu-HU"/>
          </a:p>
        </p:txBody>
      </p:sp>
      <p:sp>
        <p:nvSpPr>
          <p:cNvPr id="32" name="Shape 30"/>
          <p:cNvSpPr/>
          <p:nvPr/>
        </p:nvSpPr>
        <p:spPr>
          <a:xfrm>
            <a:off x="6720840" y="2514600"/>
            <a:ext cx="1920240" cy="2286000"/>
          </a:xfrm>
          <a:prstGeom prst="rect">
            <a:avLst/>
          </a:prstGeom>
          <a:solidFill>
            <a:srgbClr val="1A2B42"/>
          </a:solidFill>
          <a:ln w="9525">
            <a:solidFill>
              <a:srgbClr val="1F3050"/>
            </a:solidFill>
            <a:prstDash val="solid"/>
          </a:ln>
          <a:effectLst>
            <a:outerShdw blurRad="101600" dist="25400" dir="8100000" algn="bl" rotWithShape="0">
              <a:srgbClr val="000000">
                <a:alpha val="30000"/>
              </a:srgbClr>
            </a:outerShdw>
          </a:effectLst>
        </p:spPr>
        <p:txBody>
          <a:bodyPr/>
          <a:lstStyle/>
          <a:p>
            <a:endParaRPr lang="hu-HU"/>
          </a:p>
        </p:txBody>
      </p:sp>
      <p:sp>
        <p:nvSpPr>
          <p:cNvPr id="33" name="Text 31"/>
          <p:cNvSpPr/>
          <p:nvPr/>
        </p:nvSpPr>
        <p:spPr>
          <a:xfrm>
            <a:off x="6848856" y="2596896"/>
            <a:ext cx="166420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b="1" kern="0" spc="150" dirty="0">
                <a:solidFill>
                  <a:srgbClr val="E9A227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TESZTELÉS</a:t>
            </a:r>
            <a:endParaRPr lang="en-US" sz="900" dirty="0"/>
          </a:p>
        </p:txBody>
      </p:sp>
      <p:sp>
        <p:nvSpPr>
          <p:cNvPr id="34" name="Shape 32"/>
          <p:cNvSpPr/>
          <p:nvPr/>
        </p:nvSpPr>
        <p:spPr>
          <a:xfrm>
            <a:off x="6848856" y="2898648"/>
            <a:ext cx="1600200" cy="36576"/>
          </a:xfrm>
          <a:prstGeom prst="rect">
            <a:avLst/>
          </a:prstGeom>
          <a:solidFill>
            <a:srgbClr val="E9A227"/>
          </a:solidFill>
          <a:ln w="12700">
            <a:solidFill>
              <a:srgbClr val="E9A227"/>
            </a:solidFill>
            <a:prstDash val="solid"/>
          </a:ln>
        </p:spPr>
        <p:txBody>
          <a:bodyPr/>
          <a:lstStyle/>
          <a:p>
            <a:endParaRPr lang="hu-HU"/>
          </a:p>
        </p:txBody>
      </p:sp>
      <p:sp>
        <p:nvSpPr>
          <p:cNvPr id="35" name="Text 33"/>
          <p:cNvSpPr/>
          <p:nvPr/>
        </p:nvSpPr>
        <p:spPr>
          <a:xfrm>
            <a:off x="6848856" y="2999232"/>
            <a:ext cx="1664208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40000"/>
              </a:lnSpc>
              <a:buNone/>
            </a:pPr>
            <a:r>
              <a:rPr lang="en-US" sz="1200" dirty="0">
                <a:solidFill>
                  <a:srgbClr val="C5D5E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Cypress</a:t>
            </a:r>
            <a:endParaRPr lang="en-US" sz="1200" dirty="0"/>
          </a:p>
        </p:txBody>
      </p:sp>
      <p:pic>
        <p:nvPicPr>
          <p:cNvPr id="38" name="Kép 37">
            <a:extLst>
              <a:ext uri="{FF2B5EF4-FFF2-40B4-BE49-F238E27FC236}">
                <a16:creationId xmlns:a16="http://schemas.microsoft.com/office/drawing/2014/main" id="{67D48EFC-9131-6EC6-BD60-CDEA9BABD4A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72502" y="1325039"/>
            <a:ext cx="821129" cy="757965"/>
          </a:xfrm>
          <a:prstGeom prst="roundRect">
            <a:avLst>
              <a:gd name="adj" fmla="val 16667"/>
            </a:avLst>
          </a:prstGeom>
          <a:ln>
            <a:noFill/>
          </a:ln>
          <a:effectLst>
            <a:outerShdw blurRad="76200" dist="38100" dir="7800000" algn="tl" rotWithShape="0">
              <a:srgbClr val="000000">
                <a:alpha val="40000"/>
              </a:srgbClr>
            </a:outerShdw>
          </a:effectLst>
          <a:scene3d>
            <a:camera prst="orthographicFront"/>
            <a:lightRig rig="contrasting" dir="t">
              <a:rot lat="0" lon="0" rev="4200000"/>
            </a:lightRig>
          </a:scene3d>
          <a:sp3d prstMaterial="plastic">
            <a:bevelT w="381000" h="114300" prst="relaxedInset"/>
            <a:contourClr>
              <a:srgbClr val="969696"/>
            </a:contourClr>
          </a:sp3d>
        </p:spPr>
      </p:pic>
      <p:pic>
        <p:nvPicPr>
          <p:cNvPr id="40" name="Kép 39">
            <a:extLst>
              <a:ext uri="{FF2B5EF4-FFF2-40B4-BE49-F238E27FC236}">
                <a16:creationId xmlns:a16="http://schemas.microsoft.com/office/drawing/2014/main" id="{DB1931A8-C045-DA4A-A937-E8FE2922E68D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164461" y="1283415"/>
            <a:ext cx="821128" cy="847137"/>
          </a:xfrm>
          <a:prstGeom prst="roundRect">
            <a:avLst>
              <a:gd name="adj" fmla="val 16667"/>
            </a:avLst>
          </a:prstGeom>
          <a:ln>
            <a:noFill/>
          </a:ln>
          <a:effectLst>
            <a:outerShdw blurRad="76200" dist="38100" dir="7800000" algn="tl" rotWithShape="0">
              <a:srgbClr val="000000">
                <a:alpha val="40000"/>
              </a:srgbClr>
            </a:outerShdw>
          </a:effectLst>
          <a:scene3d>
            <a:camera prst="orthographicFront"/>
            <a:lightRig rig="contrasting" dir="t">
              <a:rot lat="0" lon="0" rev="4200000"/>
            </a:lightRig>
          </a:scene3d>
          <a:sp3d prstMaterial="plastic">
            <a:bevelT w="381000" h="114300" prst="relaxedInset"/>
            <a:contourClr>
              <a:srgbClr val="969696"/>
            </a:contourClr>
          </a:sp3d>
        </p:spPr>
      </p:pic>
      <p:pic>
        <p:nvPicPr>
          <p:cNvPr id="42" name="Kép 41">
            <a:extLst>
              <a:ext uri="{FF2B5EF4-FFF2-40B4-BE49-F238E27FC236}">
                <a16:creationId xmlns:a16="http://schemas.microsoft.com/office/drawing/2014/main" id="{2CE54654-A298-69AB-1534-6580DE950DB0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BEBA8EAE-BF5A-486C-A8C5-ECC9F3942E4B}">
                <a14:imgProps xmlns:a14="http://schemas.microsoft.com/office/drawing/2010/main">
                  <a14:imgLayer r:embed="rId6">
                    <a14:imgEffect>
                      <a14:sharpenSoften amount="-50000"/>
                    </a14:imgEffect>
                  </a14:imgLayer>
                </a14:imgProps>
              </a:ext>
            </a:extLst>
          </a:blip>
          <a:stretch>
            <a:fillRect/>
          </a:stretch>
        </p:blipFill>
        <p:spPr>
          <a:xfrm>
            <a:off x="7270395" y="1280874"/>
            <a:ext cx="821129" cy="849678"/>
          </a:xfrm>
          <a:prstGeom prst="roundRect">
            <a:avLst>
              <a:gd name="adj" fmla="val 16667"/>
            </a:avLst>
          </a:prstGeom>
          <a:ln>
            <a:noFill/>
          </a:ln>
          <a:effectLst>
            <a:outerShdw blurRad="76200" dist="38100" dir="7800000" algn="tl" rotWithShape="0">
              <a:srgbClr val="000000">
                <a:alpha val="40000"/>
              </a:srgbClr>
            </a:outerShdw>
          </a:effectLst>
          <a:scene3d>
            <a:camera prst="orthographicFront"/>
            <a:lightRig rig="contrasting" dir="t">
              <a:rot lat="0" lon="0" rev="4200000"/>
            </a:lightRig>
          </a:scene3d>
          <a:sp3d prstMaterial="plastic">
            <a:bevelT w="381000" h="114300" prst="relaxedInset"/>
            <a:contourClr>
              <a:srgbClr val="969696"/>
            </a:contourClr>
          </a:sp3d>
        </p:spPr>
      </p:pic>
      <p:pic>
        <p:nvPicPr>
          <p:cNvPr id="44" name="Kép 43">
            <a:extLst>
              <a:ext uri="{FF2B5EF4-FFF2-40B4-BE49-F238E27FC236}">
                <a16:creationId xmlns:a16="http://schemas.microsoft.com/office/drawing/2014/main" id="{AB6A49FD-6514-436D-5D46-969A0F488C91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3041093" y="1275386"/>
            <a:ext cx="867254" cy="867254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B162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56032"/>
            <a:ext cx="54864" cy="713232"/>
          </a:xfrm>
          <a:prstGeom prst="rect">
            <a:avLst/>
          </a:prstGeom>
          <a:solidFill>
            <a:srgbClr val="E9A227"/>
          </a:solidFill>
          <a:ln w="12700">
            <a:solidFill>
              <a:srgbClr val="E9A227"/>
            </a:solidFill>
            <a:prstDash val="solid"/>
          </a:ln>
        </p:spPr>
        <p:txBody>
          <a:bodyPr/>
          <a:lstStyle/>
          <a:p>
            <a:endParaRPr lang="hu-HU"/>
          </a:p>
        </p:txBody>
      </p:sp>
      <p:sp>
        <p:nvSpPr>
          <p:cNvPr id="3" name="Text 1"/>
          <p:cNvSpPr/>
          <p:nvPr/>
        </p:nvSpPr>
        <p:spPr>
          <a:xfrm>
            <a:off x="658368" y="201168"/>
            <a:ext cx="80467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rgbClr val="FFFFFF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Az Alkalmazás Főbb Funkciói  (felhasználói oldal)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0" y="1097280"/>
            <a:ext cx="9144000" cy="16459"/>
          </a:xfrm>
          <a:prstGeom prst="rect">
            <a:avLst/>
          </a:prstGeom>
          <a:solidFill>
            <a:srgbClr val="1F3050"/>
          </a:solidFill>
          <a:ln w="12700">
            <a:solidFill>
              <a:srgbClr val="1F3050"/>
            </a:solidFill>
            <a:prstDash val="solid"/>
          </a:ln>
        </p:spPr>
        <p:txBody>
          <a:bodyPr/>
          <a:lstStyle/>
          <a:p>
            <a:endParaRPr lang="hu-HU"/>
          </a:p>
        </p:txBody>
      </p:sp>
      <p:sp>
        <p:nvSpPr>
          <p:cNvPr id="5" name="Shape 3"/>
          <p:cNvSpPr/>
          <p:nvPr/>
        </p:nvSpPr>
        <p:spPr>
          <a:xfrm>
            <a:off x="0" y="5102352"/>
            <a:ext cx="9144000" cy="41148"/>
          </a:xfrm>
          <a:prstGeom prst="rect">
            <a:avLst/>
          </a:prstGeom>
          <a:solidFill>
            <a:srgbClr val="1F3050"/>
          </a:solidFill>
          <a:ln w="12700">
            <a:solidFill>
              <a:srgbClr val="1F3050"/>
            </a:solidFill>
            <a:prstDash val="solid"/>
          </a:ln>
        </p:spPr>
        <p:txBody>
          <a:bodyPr/>
          <a:lstStyle/>
          <a:p>
            <a:endParaRPr lang="hu-HU"/>
          </a:p>
        </p:txBody>
      </p:sp>
      <p:sp>
        <p:nvSpPr>
          <p:cNvPr id="7" name="Shape 5"/>
          <p:cNvSpPr/>
          <p:nvPr/>
        </p:nvSpPr>
        <p:spPr>
          <a:xfrm>
            <a:off x="457200" y="1261872"/>
            <a:ext cx="8229600" cy="731520"/>
          </a:xfrm>
          <a:prstGeom prst="rect">
            <a:avLst/>
          </a:prstGeom>
          <a:solidFill>
            <a:srgbClr val="1A2B42"/>
          </a:solidFill>
          <a:ln w="9525">
            <a:solidFill>
              <a:srgbClr val="1F3050"/>
            </a:solidFill>
            <a:prstDash val="solid"/>
          </a:ln>
          <a:effectLst>
            <a:outerShdw blurRad="101600" dist="25400" dir="8100000" algn="bl" rotWithShape="0">
              <a:srgbClr val="000000">
                <a:alpha val="30000"/>
              </a:srgbClr>
            </a:outerShdw>
          </a:effectLst>
        </p:spPr>
        <p:txBody>
          <a:bodyPr/>
          <a:lstStyle/>
          <a:p>
            <a:endParaRPr lang="hu-HU"/>
          </a:p>
        </p:txBody>
      </p:sp>
      <p:sp>
        <p:nvSpPr>
          <p:cNvPr id="8" name="Shape 6"/>
          <p:cNvSpPr/>
          <p:nvPr/>
        </p:nvSpPr>
        <p:spPr>
          <a:xfrm>
            <a:off x="457200" y="1261872"/>
            <a:ext cx="45720" cy="731520"/>
          </a:xfrm>
          <a:prstGeom prst="rect">
            <a:avLst/>
          </a:prstGeom>
          <a:solidFill>
            <a:srgbClr val="E9A227"/>
          </a:solidFill>
          <a:ln w="12700">
            <a:solidFill>
              <a:srgbClr val="E9A227"/>
            </a:solidFill>
            <a:prstDash val="solid"/>
          </a:ln>
        </p:spPr>
        <p:txBody>
          <a:bodyPr/>
          <a:lstStyle/>
          <a:p>
            <a:endParaRPr lang="hu-HU"/>
          </a:p>
        </p:txBody>
      </p:sp>
      <p:sp>
        <p:nvSpPr>
          <p:cNvPr id="9" name="Text 7"/>
          <p:cNvSpPr/>
          <p:nvPr/>
        </p:nvSpPr>
        <p:spPr>
          <a:xfrm>
            <a:off x="585216" y="1261872"/>
            <a:ext cx="6400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200" b="1" dirty="0">
                <a:solidFill>
                  <a:srgbClr val="E9A227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01</a:t>
            </a:r>
            <a:endParaRPr lang="en-US" sz="2200" dirty="0"/>
          </a:p>
        </p:txBody>
      </p:sp>
      <p:sp>
        <p:nvSpPr>
          <p:cNvPr id="10" name="Shape 8"/>
          <p:cNvSpPr/>
          <p:nvPr/>
        </p:nvSpPr>
        <p:spPr>
          <a:xfrm>
            <a:off x="1225296" y="1426464"/>
            <a:ext cx="16459" cy="402336"/>
          </a:xfrm>
          <a:prstGeom prst="rect">
            <a:avLst/>
          </a:prstGeom>
          <a:solidFill>
            <a:srgbClr val="1F3050"/>
          </a:solidFill>
          <a:ln w="12700">
            <a:solidFill>
              <a:srgbClr val="1F3050"/>
            </a:solidFill>
            <a:prstDash val="solid"/>
          </a:ln>
        </p:spPr>
        <p:txBody>
          <a:bodyPr/>
          <a:lstStyle/>
          <a:p>
            <a:endParaRPr lang="hu-HU"/>
          </a:p>
        </p:txBody>
      </p:sp>
      <p:sp>
        <p:nvSpPr>
          <p:cNvPr id="11" name="Text 9"/>
          <p:cNvSpPr/>
          <p:nvPr/>
        </p:nvSpPr>
        <p:spPr>
          <a:xfrm>
            <a:off x="1335024" y="1316736"/>
            <a:ext cx="713232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Termékek böngészése, szűrése</a:t>
            </a:r>
            <a:endParaRPr lang="en-US" sz="1400" dirty="0"/>
          </a:p>
        </p:txBody>
      </p:sp>
      <p:sp>
        <p:nvSpPr>
          <p:cNvPr id="12" name="Shape 10"/>
          <p:cNvSpPr/>
          <p:nvPr/>
        </p:nvSpPr>
        <p:spPr>
          <a:xfrm>
            <a:off x="457200" y="2157984"/>
            <a:ext cx="8229600" cy="731520"/>
          </a:xfrm>
          <a:prstGeom prst="rect">
            <a:avLst/>
          </a:prstGeom>
          <a:solidFill>
            <a:srgbClr val="1A2B42"/>
          </a:solidFill>
          <a:ln w="9525">
            <a:solidFill>
              <a:srgbClr val="1F3050"/>
            </a:solidFill>
            <a:prstDash val="solid"/>
          </a:ln>
          <a:effectLst>
            <a:outerShdw blurRad="101600" dist="25400" dir="8100000" algn="bl" rotWithShape="0">
              <a:srgbClr val="000000">
                <a:alpha val="30000"/>
              </a:srgbClr>
            </a:outerShdw>
          </a:effectLst>
        </p:spPr>
        <p:txBody>
          <a:bodyPr/>
          <a:lstStyle/>
          <a:p>
            <a:endParaRPr lang="hu-HU"/>
          </a:p>
        </p:txBody>
      </p:sp>
      <p:sp>
        <p:nvSpPr>
          <p:cNvPr id="13" name="Shape 11"/>
          <p:cNvSpPr/>
          <p:nvPr/>
        </p:nvSpPr>
        <p:spPr>
          <a:xfrm>
            <a:off x="457200" y="2157984"/>
            <a:ext cx="45720" cy="731520"/>
          </a:xfrm>
          <a:prstGeom prst="rect">
            <a:avLst/>
          </a:prstGeom>
          <a:solidFill>
            <a:srgbClr val="E9A227"/>
          </a:solidFill>
          <a:ln w="12700">
            <a:solidFill>
              <a:srgbClr val="E9A227"/>
            </a:solidFill>
            <a:prstDash val="solid"/>
          </a:ln>
        </p:spPr>
        <p:txBody>
          <a:bodyPr/>
          <a:lstStyle/>
          <a:p>
            <a:endParaRPr lang="hu-HU"/>
          </a:p>
        </p:txBody>
      </p:sp>
      <p:sp>
        <p:nvSpPr>
          <p:cNvPr id="14" name="Text 12"/>
          <p:cNvSpPr/>
          <p:nvPr/>
        </p:nvSpPr>
        <p:spPr>
          <a:xfrm>
            <a:off x="585216" y="2157984"/>
            <a:ext cx="6400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200" b="1" dirty="0">
                <a:solidFill>
                  <a:srgbClr val="E9A227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02</a:t>
            </a:r>
            <a:endParaRPr lang="en-US" sz="2200" dirty="0"/>
          </a:p>
        </p:txBody>
      </p:sp>
      <p:sp>
        <p:nvSpPr>
          <p:cNvPr id="15" name="Shape 13"/>
          <p:cNvSpPr/>
          <p:nvPr/>
        </p:nvSpPr>
        <p:spPr>
          <a:xfrm>
            <a:off x="1225296" y="2322576"/>
            <a:ext cx="16459" cy="402336"/>
          </a:xfrm>
          <a:prstGeom prst="rect">
            <a:avLst/>
          </a:prstGeom>
          <a:solidFill>
            <a:srgbClr val="1F3050"/>
          </a:solidFill>
          <a:ln w="12700">
            <a:solidFill>
              <a:srgbClr val="1F3050"/>
            </a:solidFill>
            <a:prstDash val="solid"/>
          </a:ln>
        </p:spPr>
        <p:txBody>
          <a:bodyPr/>
          <a:lstStyle/>
          <a:p>
            <a:endParaRPr lang="hu-HU"/>
          </a:p>
        </p:txBody>
      </p:sp>
      <p:sp>
        <p:nvSpPr>
          <p:cNvPr id="16" name="Text 14"/>
          <p:cNvSpPr/>
          <p:nvPr/>
        </p:nvSpPr>
        <p:spPr>
          <a:xfrm>
            <a:off x="1335024" y="2212848"/>
            <a:ext cx="713232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Regisztráció / Bejelentkezés</a:t>
            </a:r>
            <a:endParaRPr lang="en-US" sz="1400" dirty="0"/>
          </a:p>
        </p:txBody>
      </p:sp>
      <p:sp>
        <p:nvSpPr>
          <p:cNvPr id="17" name="Shape 15"/>
          <p:cNvSpPr/>
          <p:nvPr/>
        </p:nvSpPr>
        <p:spPr>
          <a:xfrm>
            <a:off x="457200" y="3054096"/>
            <a:ext cx="8229600" cy="731520"/>
          </a:xfrm>
          <a:prstGeom prst="rect">
            <a:avLst/>
          </a:prstGeom>
          <a:solidFill>
            <a:srgbClr val="1A2B42"/>
          </a:solidFill>
          <a:ln w="9525">
            <a:solidFill>
              <a:srgbClr val="1F3050"/>
            </a:solidFill>
            <a:prstDash val="solid"/>
          </a:ln>
          <a:effectLst>
            <a:outerShdw blurRad="101600" dist="25400" dir="8100000" algn="bl" rotWithShape="0">
              <a:srgbClr val="000000">
                <a:alpha val="30000"/>
              </a:srgbClr>
            </a:outerShdw>
          </a:effectLst>
        </p:spPr>
        <p:txBody>
          <a:bodyPr/>
          <a:lstStyle/>
          <a:p>
            <a:endParaRPr lang="hu-HU"/>
          </a:p>
        </p:txBody>
      </p:sp>
      <p:sp>
        <p:nvSpPr>
          <p:cNvPr id="18" name="Shape 16"/>
          <p:cNvSpPr/>
          <p:nvPr/>
        </p:nvSpPr>
        <p:spPr>
          <a:xfrm>
            <a:off x="457200" y="3054096"/>
            <a:ext cx="45720" cy="731520"/>
          </a:xfrm>
          <a:prstGeom prst="rect">
            <a:avLst/>
          </a:prstGeom>
          <a:solidFill>
            <a:srgbClr val="E9A227"/>
          </a:solidFill>
          <a:ln w="12700">
            <a:solidFill>
              <a:srgbClr val="E9A227"/>
            </a:solidFill>
            <a:prstDash val="solid"/>
          </a:ln>
        </p:spPr>
        <p:txBody>
          <a:bodyPr/>
          <a:lstStyle/>
          <a:p>
            <a:endParaRPr lang="hu-HU"/>
          </a:p>
        </p:txBody>
      </p:sp>
      <p:sp>
        <p:nvSpPr>
          <p:cNvPr id="19" name="Text 17"/>
          <p:cNvSpPr/>
          <p:nvPr/>
        </p:nvSpPr>
        <p:spPr>
          <a:xfrm>
            <a:off x="585216" y="3054096"/>
            <a:ext cx="6400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200" b="1" dirty="0">
                <a:solidFill>
                  <a:srgbClr val="E9A227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03</a:t>
            </a:r>
            <a:endParaRPr lang="en-US" sz="2200" dirty="0"/>
          </a:p>
        </p:txBody>
      </p:sp>
      <p:sp>
        <p:nvSpPr>
          <p:cNvPr id="20" name="Shape 18"/>
          <p:cNvSpPr/>
          <p:nvPr/>
        </p:nvSpPr>
        <p:spPr>
          <a:xfrm>
            <a:off x="1225296" y="3218688"/>
            <a:ext cx="16459" cy="402336"/>
          </a:xfrm>
          <a:prstGeom prst="rect">
            <a:avLst/>
          </a:prstGeom>
          <a:solidFill>
            <a:srgbClr val="1F3050"/>
          </a:solidFill>
          <a:ln w="12700">
            <a:solidFill>
              <a:srgbClr val="1F3050"/>
            </a:solidFill>
            <a:prstDash val="solid"/>
          </a:ln>
        </p:spPr>
        <p:txBody>
          <a:bodyPr/>
          <a:lstStyle/>
          <a:p>
            <a:endParaRPr lang="hu-HU"/>
          </a:p>
        </p:txBody>
      </p:sp>
      <p:sp>
        <p:nvSpPr>
          <p:cNvPr id="21" name="Text 19"/>
          <p:cNvSpPr/>
          <p:nvPr/>
        </p:nvSpPr>
        <p:spPr>
          <a:xfrm>
            <a:off x="1335024" y="3108960"/>
            <a:ext cx="713232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Szerviz foglalás</a:t>
            </a:r>
            <a:endParaRPr lang="en-US" sz="1400" dirty="0"/>
          </a:p>
        </p:txBody>
      </p:sp>
      <p:sp>
        <p:nvSpPr>
          <p:cNvPr id="22" name="Shape 20"/>
          <p:cNvSpPr/>
          <p:nvPr/>
        </p:nvSpPr>
        <p:spPr>
          <a:xfrm>
            <a:off x="457200" y="3950208"/>
            <a:ext cx="8229600" cy="731520"/>
          </a:xfrm>
          <a:prstGeom prst="rect">
            <a:avLst/>
          </a:prstGeom>
          <a:solidFill>
            <a:srgbClr val="1A2B42"/>
          </a:solidFill>
          <a:ln w="9525">
            <a:solidFill>
              <a:srgbClr val="1F3050"/>
            </a:solidFill>
            <a:prstDash val="solid"/>
          </a:ln>
          <a:effectLst>
            <a:outerShdw blurRad="101600" dist="25400" dir="8100000" algn="bl" rotWithShape="0">
              <a:srgbClr val="000000">
                <a:alpha val="30000"/>
              </a:srgbClr>
            </a:outerShdw>
          </a:effectLst>
        </p:spPr>
        <p:txBody>
          <a:bodyPr/>
          <a:lstStyle/>
          <a:p>
            <a:endParaRPr lang="hu-HU"/>
          </a:p>
        </p:txBody>
      </p:sp>
      <p:sp>
        <p:nvSpPr>
          <p:cNvPr id="23" name="Shape 21"/>
          <p:cNvSpPr/>
          <p:nvPr/>
        </p:nvSpPr>
        <p:spPr>
          <a:xfrm>
            <a:off x="457200" y="3950208"/>
            <a:ext cx="45720" cy="731520"/>
          </a:xfrm>
          <a:prstGeom prst="rect">
            <a:avLst/>
          </a:prstGeom>
          <a:solidFill>
            <a:srgbClr val="E9A227"/>
          </a:solidFill>
          <a:ln w="12700">
            <a:solidFill>
              <a:srgbClr val="E9A227"/>
            </a:solidFill>
            <a:prstDash val="solid"/>
          </a:ln>
        </p:spPr>
        <p:txBody>
          <a:bodyPr/>
          <a:lstStyle/>
          <a:p>
            <a:endParaRPr lang="hu-HU"/>
          </a:p>
        </p:txBody>
      </p:sp>
      <p:sp>
        <p:nvSpPr>
          <p:cNvPr id="24" name="Text 22"/>
          <p:cNvSpPr/>
          <p:nvPr/>
        </p:nvSpPr>
        <p:spPr>
          <a:xfrm>
            <a:off x="585216" y="3950208"/>
            <a:ext cx="6400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200" b="1" dirty="0">
                <a:solidFill>
                  <a:srgbClr val="E9A227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04</a:t>
            </a:r>
            <a:endParaRPr lang="en-US" sz="2200" dirty="0"/>
          </a:p>
        </p:txBody>
      </p:sp>
      <p:sp>
        <p:nvSpPr>
          <p:cNvPr id="25" name="Shape 23"/>
          <p:cNvSpPr/>
          <p:nvPr/>
        </p:nvSpPr>
        <p:spPr>
          <a:xfrm>
            <a:off x="1225296" y="4114800"/>
            <a:ext cx="16459" cy="402336"/>
          </a:xfrm>
          <a:prstGeom prst="rect">
            <a:avLst/>
          </a:prstGeom>
          <a:solidFill>
            <a:srgbClr val="1F3050"/>
          </a:solidFill>
          <a:ln w="12700">
            <a:solidFill>
              <a:srgbClr val="1F3050"/>
            </a:solidFill>
            <a:prstDash val="solid"/>
          </a:ln>
        </p:spPr>
        <p:txBody>
          <a:bodyPr/>
          <a:lstStyle/>
          <a:p>
            <a:endParaRPr lang="hu-HU"/>
          </a:p>
        </p:txBody>
      </p:sp>
      <p:sp>
        <p:nvSpPr>
          <p:cNvPr id="26" name="Text 24"/>
          <p:cNvSpPr/>
          <p:nvPr/>
        </p:nvSpPr>
        <p:spPr>
          <a:xfrm>
            <a:off x="1335024" y="4005072"/>
            <a:ext cx="713232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spcAft>
                <a:spcPts val="600"/>
              </a:spcAft>
              <a:buNone/>
            </a:pPr>
            <a:r>
              <a:rPr lang="en-US" sz="1400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Megrendelés </a:t>
            </a:r>
            <a:r>
              <a:rPr lang="en-US" sz="1400" dirty="0" err="1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folyamata</a:t>
            </a:r>
            <a:r>
              <a:rPr lang="en-US" sz="1400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:</a:t>
            </a:r>
            <a:endParaRPr lang="hu-HU" sz="1400" dirty="0">
              <a:solidFill>
                <a:srgbClr val="FFFFFF"/>
              </a:solidFill>
              <a:latin typeface="Trebuchet MS" pitchFamily="34" charset="0"/>
              <a:ea typeface="Trebuchet MS" pitchFamily="34" charset="-122"/>
              <a:cs typeface="Trebuchet MS" pitchFamily="34" charset="-120"/>
            </a:endParaRPr>
          </a:p>
          <a:p>
            <a:pPr marL="0" indent="0">
              <a:buNone/>
            </a:pPr>
            <a:r>
              <a:rPr lang="en-US" sz="1400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 </a:t>
            </a:r>
            <a:r>
              <a:rPr lang="en-US" sz="1400" dirty="0" err="1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Termék</a:t>
            </a:r>
            <a:r>
              <a:rPr lang="hu-HU" sz="1400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 </a:t>
            </a:r>
            <a:r>
              <a:rPr lang="en-US" sz="1400" dirty="0" err="1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kiválasztása</a:t>
            </a:r>
            <a:r>
              <a:rPr lang="en-US" sz="1400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 → Személyes adatok megadása → Visszaigazolás (email)</a:t>
            </a:r>
            <a:endParaRPr lang="en-US" sz="14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B162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56032"/>
            <a:ext cx="54864" cy="713232"/>
          </a:xfrm>
          <a:prstGeom prst="rect">
            <a:avLst/>
          </a:prstGeom>
          <a:solidFill>
            <a:srgbClr val="E9A227"/>
          </a:solidFill>
          <a:ln w="12700">
            <a:solidFill>
              <a:srgbClr val="E9A227"/>
            </a:solidFill>
            <a:prstDash val="solid"/>
          </a:ln>
        </p:spPr>
        <p:txBody>
          <a:bodyPr/>
          <a:lstStyle/>
          <a:p>
            <a:endParaRPr lang="hu-HU"/>
          </a:p>
        </p:txBody>
      </p:sp>
      <p:sp>
        <p:nvSpPr>
          <p:cNvPr id="3" name="Text 1"/>
          <p:cNvSpPr/>
          <p:nvPr/>
        </p:nvSpPr>
        <p:spPr>
          <a:xfrm>
            <a:off x="658368" y="201168"/>
            <a:ext cx="80467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hu-HU" sz="3200" b="1" dirty="0">
                <a:solidFill>
                  <a:srgbClr val="FFFFFF"/>
                </a:solidFill>
                <a:latin typeface="Palatino Linotype" pitchFamily="34" charset="0"/>
              </a:rPr>
              <a:t>Próbáljuk ki! (megrendelés)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0" y="1097280"/>
            <a:ext cx="9144000" cy="16459"/>
          </a:xfrm>
          <a:prstGeom prst="rect">
            <a:avLst/>
          </a:prstGeom>
          <a:solidFill>
            <a:srgbClr val="1F3050"/>
          </a:solidFill>
          <a:ln w="12700">
            <a:solidFill>
              <a:srgbClr val="1F3050"/>
            </a:solidFill>
            <a:prstDash val="solid"/>
          </a:ln>
        </p:spPr>
        <p:txBody>
          <a:bodyPr/>
          <a:lstStyle/>
          <a:p>
            <a:endParaRPr lang="hu-HU"/>
          </a:p>
        </p:txBody>
      </p:sp>
      <p:sp>
        <p:nvSpPr>
          <p:cNvPr id="5" name="Shape 3"/>
          <p:cNvSpPr/>
          <p:nvPr/>
        </p:nvSpPr>
        <p:spPr>
          <a:xfrm>
            <a:off x="0" y="5102352"/>
            <a:ext cx="9144000" cy="41148"/>
          </a:xfrm>
          <a:prstGeom prst="rect">
            <a:avLst/>
          </a:prstGeom>
          <a:solidFill>
            <a:srgbClr val="1F3050"/>
          </a:solidFill>
          <a:ln w="12700">
            <a:solidFill>
              <a:srgbClr val="1F3050"/>
            </a:solidFill>
            <a:prstDash val="solid"/>
          </a:ln>
        </p:spPr>
        <p:txBody>
          <a:bodyPr/>
          <a:lstStyle/>
          <a:p>
            <a:endParaRPr lang="hu-HU"/>
          </a:p>
        </p:txBody>
      </p:sp>
      <p:sp>
        <p:nvSpPr>
          <p:cNvPr id="7" name="Shape 5"/>
          <p:cNvSpPr/>
          <p:nvPr/>
        </p:nvSpPr>
        <p:spPr>
          <a:xfrm>
            <a:off x="457200" y="1261872"/>
            <a:ext cx="4069080" cy="1005840"/>
          </a:xfrm>
          <a:prstGeom prst="rect">
            <a:avLst/>
          </a:prstGeom>
          <a:solidFill>
            <a:srgbClr val="1A2B42"/>
          </a:solidFill>
          <a:ln w="9525">
            <a:solidFill>
              <a:srgbClr val="1F3050"/>
            </a:solidFill>
            <a:prstDash val="solid"/>
          </a:ln>
          <a:effectLst>
            <a:outerShdw blurRad="101600" dist="25400" dir="8100000" algn="bl" rotWithShape="0">
              <a:srgbClr val="000000">
                <a:alpha val="30000"/>
              </a:srgbClr>
            </a:outerShdw>
          </a:effectLst>
        </p:spPr>
        <p:txBody>
          <a:bodyPr/>
          <a:lstStyle/>
          <a:p>
            <a:endParaRPr lang="hu-HU"/>
          </a:p>
        </p:txBody>
      </p:sp>
      <p:sp>
        <p:nvSpPr>
          <p:cNvPr id="8" name="Shape 6"/>
          <p:cNvSpPr/>
          <p:nvPr/>
        </p:nvSpPr>
        <p:spPr>
          <a:xfrm>
            <a:off x="603504" y="1417320"/>
            <a:ext cx="676656" cy="676656"/>
          </a:xfrm>
          <a:prstGeom prst="ellipse">
            <a:avLst/>
          </a:prstGeom>
          <a:solidFill>
            <a:srgbClr val="E9A227"/>
          </a:solidFill>
          <a:ln w="12700">
            <a:solidFill>
              <a:srgbClr val="E9A227"/>
            </a:solidFill>
            <a:prstDash val="solid"/>
          </a:ln>
        </p:spPr>
        <p:txBody>
          <a:bodyPr/>
          <a:lstStyle/>
          <a:p>
            <a:endParaRPr lang="hu-HU"/>
          </a:p>
        </p:txBody>
      </p:sp>
      <p:sp>
        <p:nvSpPr>
          <p:cNvPr id="9" name="Text 7"/>
          <p:cNvSpPr/>
          <p:nvPr/>
        </p:nvSpPr>
        <p:spPr>
          <a:xfrm>
            <a:off x="603504" y="1417320"/>
            <a:ext cx="676656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200" b="1" dirty="0">
                <a:solidFill>
                  <a:srgbClr val="0B1628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1</a:t>
            </a:r>
            <a:endParaRPr lang="en-US" sz="2200" dirty="0"/>
          </a:p>
        </p:txBody>
      </p:sp>
      <p:sp>
        <p:nvSpPr>
          <p:cNvPr id="10" name="Text 8"/>
          <p:cNvSpPr/>
          <p:nvPr/>
        </p:nvSpPr>
        <p:spPr>
          <a:xfrm>
            <a:off x="1426464" y="1353312"/>
            <a:ext cx="2944368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50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Böngészés termékek között</a:t>
            </a:r>
            <a:endParaRPr lang="en-US" sz="1350" dirty="0"/>
          </a:p>
        </p:txBody>
      </p:sp>
      <p:sp>
        <p:nvSpPr>
          <p:cNvPr id="11" name="Shape 9"/>
          <p:cNvSpPr/>
          <p:nvPr/>
        </p:nvSpPr>
        <p:spPr>
          <a:xfrm>
            <a:off x="4754880" y="1261872"/>
            <a:ext cx="4069080" cy="1005840"/>
          </a:xfrm>
          <a:prstGeom prst="rect">
            <a:avLst/>
          </a:prstGeom>
          <a:solidFill>
            <a:srgbClr val="1A2B42"/>
          </a:solidFill>
          <a:ln w="9525">
            <a:solidFill>
              <a:srgbClr val="1F3050"/>
            </a:solidFill>
            <a:prstDash val="solid"/>
          </a:ln>
          <a:effectLst>
            <a:outerShdw blurRad="101600" dist="25400" dir="8100000" algn="bl" rotWithShape="0">
              <a:srgbClr val="000000">
                <a:alpha val="30000"/>
              </a:srgbClr>
            </a:outerShdw>
          </a:effectLst>
        </p:spPr>
        <p:txBody>
          <a:bodyPr/>
          <a:lstStyle/>
          <a:p>
            <a:endParaRPr lang="hu-HU"/>
          </a:p>
        </p:txBody>
      </p:sp>
      <p:sp>
        <p:nvSpPr>
          <p:cNvPr id="12" name="Shape 10"/>
          <p:cNvSpPr/>
          <p:nvPr/>
        </p:nvSpPr>
        <p:spPr>
          <a:xfrm>
            <a:off x="4901184" y="1417320"/>
            <a:ext cx="676656" cy="676656"/>
          </a:xfrm>
          <a:prstGeom prst="ellipse">
            <a:avLst/>
          </a:prstGeom>
          <a:solidFill>
            <a:srgbClr val="E9A227"/>
          </a:solidFill>
          <a:ln w="12700">
            <a:solidFill>
              <a:srgbClr val="E9A227"/>
            </a:solidFill>
            <a:prstDash val="solid"/>
          </a:ln>
        </p:spPr>
        <p:txBody>
          <a:bodyPr/>
          <a:lstStyle/>
          <a:p>
            <a:endParaRPr lang="hu-HU"/>
          </a:p>
        </p:txBody>
      </p:sp>
      <p:sp>
        <p:nvSpPr>
          <p:cNvPr id="13" name="Text 11"/>
          <p:cNvSpPr/>
          <p:nvPr/>
        </p:nvSpPr>
        <p:spPr>
          <a:xfrm>
            <a:off x="4901184" y="1417320"/>
            <a:ext cx="676656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200" b="1" dirty="0">
                <a:solidFill>
                  <a:srgbClr val="0B1628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2</a:t>
            </a:r>
            <a:endParaRPr lang="en-US" sz="2200" dirty="0"/>
          </a:p>
        </p:txBody>
      </p:sp>
      <p:sp>
        <p:nvSpPr>
          <p:cNvPr id="14" name="Text 12"/>
          <p:cNvSpPr/>
          <p:nvPr/>
        </p:nvSpPr>
        <p:spPr>
          <a:xfrm>
            <a:off x="5724144" y="1353312"/>
            <a:ext cx="2944368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50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Termék hozzáadása a kosárhoz</a:t>
            </a:r>
            <a:endParaRPr lang="en-US" sz="1350" dirty="0"/>
          </a:p>
        </p:txBody>
      </p:sp>
      <p:sp>
        <p:nvSpPr>
          <p:cNvPr id="15" name="Shape 13"/>
          <p:cNvSpPr/>
          <p:nvPr/>
        </p:nvSpPr>
        <p:spPr>
          <a:xfrm>
            <a:off x="457200" y="2496312"/>
            <a:ext cx="4069080" cy="1005840"/>
          </a:xfrm>
          <a:prstGeom prst="rect">
            <a:avLst/>
          </a:prstGeom>
          <a:solidFill>
            <a:srgbClr val="1A2B42"/>
          </a:solidFill>
          <a:ln w="9525">
            <a:solidFill>
              <a:srgbClr val="1F3050"/>
            </a:solidFill>
            <a:prstDash val="solid"/>
          </a:ln>
          <a:effectLst>
            <a:outerShdw blurRad="101600" dist="25400" dir="8100000" algn="bl" rotWithShape="0">
              <a:srgbClr val="000000">
                <a:alpha val="30000"/>
              </a:srgbClr>
            </a:outerShdw>
          </a:effectLst>
        </p:spPr>
        <p:txBody>
          <a:bodyPr/>
          <a:lstStyle/>
          <a:p>
            <a:endParaRPr lang="hu-HU"/>
          </a:p>
        </p:txBody>
      </p:sp>
      <p:sp>
        <p:nvSpPr>
          <p:cNvPr id="16" name="Shape 14"/>
          <p:cNvSpPr/>
          <p:nvPr/>
        </p:nvSpPr>
        <p:spPr>
          <a:xfrm>
            <a:off x="603504" y="2651760"/>
            <a:ext cx="676656" cy="676656"/>
          </a:xfrm>
          <a:prstGeom prst="ellipse">
            <a:avLst/>
          </a:prstGeom>
          <a:solidFill>
            <a:srgbClr val="E9A227"/>
          </a:solidFill>
          <a:ln w="12700">
            <a:solidFill>
              <a:srgbClr val="E9A227"/>
            </a:solidFill>
            <a:prstDash val="solid"/>
          </a:ln>
        </p:spPr>
        <p:txBody>
          <a:bodyPr/>
          <a:lstStyle/>
          <a:p>
            <a:endParaRPr lang="hu-HU"/>
          </a:p>
        </p:txBody>
      </p:sp>
      <p:sp>
        <p:nvSpPr>
          <p:cNvPr id="17" name="Text 15"/>
          <p:cNvSpPr/>
          <p:nvPr/>
        </p:nvSpPr>
        <p:spPr>
          <a:xfrm>
            <a:off x="603504" y="2651760"/>
            <a:ext cx="676656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200" b="1" dirty="0">
                <a:solidFill>
                  <a:srgbClr val="0B1628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3</a:t>
            </a:r>
            <a:endParaRPr lang="en-US" sz="2200" dirty="0"/>
          </a:p>
        </p:txBody>
      </p:sp>
      <p:sp>
        <p:nvSpPr>
          <p:cNvPr id="18" name="Text 16"/>
          <p:cNvSpPr/>
          <p:nvPr/>
        </p:nvSpPr>
        <p:spPr>
          <a:xfrm>
            <a:off x="1426464" y="2587752"/>
            <a:ext cx="2944368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50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Bejelentkezés</a:t>
            </a:r>
            <a:endParaRPr lang="en-US" sz="1350" dirty="0"/>
          </a:p>
        </p:txBody>
      </p:sp>
      <p:sp>
        <p:nvSpPr>
          <p:cNvPr id="19" name="Shape 17"/>
          <p:cNvSpPr/>
          <p:nvPr/>
        </p:nvSpPr>
        <p:spPr>
          <a:xfrm>
            <a:off x="4754880" y="2496312"/>
            <a:ext cx="4069080" cy="1005840"/>
          </a:xfrm>
          <a:prstGeom prst="rect">
            <a:avLst/>
          </a:prstGeom>
          <a:solidFill>
            <a:srgbClr val="1A2B42"/>
          </a:solidFill>
          <a:ln w="9525">
            <a:solidFill>
              <a:srgbClr val="1F3050"/>
            </a:solidFill>
            <a:prstDash val="solid"/>
          </a:ln>
          <a:effectLst>
            <a:outerShdw blurRad="101600" dist="25400" dir="8100000" algn="bl" rotWithShape="0">
              <a:srgbClr val="000000">
                <a:alpha val="30000"/>
              </a:srgbClr>
            </a:outerShdw>
          </a:effectLst>
        </p:spPr>
        <p:txBody>
          <a:bodyPr/>
          <a:lstStyle/>
          <a:p>
            <a:endParaRPr lang="hu-HU"/>
          </a:p>
        </p:txBody>
      </p:sp>
      <p:sp>
        <p:nvSpPr>
          <p:cNvPr id="20" name="Shape 18"/>
          <p:cNvSpPr/>
          <p:nvPr/>
        </p:nvSpPr>
        <p:spPr>
          <a:xfrm>
            <a:off x="4901184" y="2651760"/>
            <a:ext cx="676656" cy="676656"/>
          </a:xfrm>
          <a:prstGeom prst="ellipse">
            <a:avLst/>
          </a:prstGeom>
          <a:solidFill>
            <a:srgbClr val="E9A227"/>
          </a:solidFill>
          <a:ln w="12700">
            <a:solidFill>
              <a:srgbClr val="E9A227"/>
            </a:solidFill>
            <a:prstDash val="solid"/>
          </a:ln>
        </p:spPr>
        <p:txBody>
          <a:bodyPr/>
          <a:lstStyle/>
          <a:p>
            <a:endParaRPr lang="hu-HU"/>
          </a:p>
        </p:txBody>
      </p:sp>
      <p:sp>
        <p:nvSpPr>
          <p:cNvPr id="21" name="Text 19"/>
          <p:cNvSpPr/>
          <p:nvPr/>
        </p:nvSpPr>
        <p:spPr>
          <a:xfrm>
            <a:off x="4901184" y="2651760"/>
            <a:ext cx="676656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200" b="1" dirty="0">
                <a:solidFill>
                  <a:srgbClr val="0B1628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4</a:t>
            </a:r>
            <a:endParaRPr lang="en-US" sz="2200" dirty="0"/>
          </a:p>
        </p:txBody>
      </p:sp>
      <p:sp>
        <p:nvSpPr>
          <p:cNvPr id="22" name="Text 20"/>
          <p:cNvSpPr/>
          <p:nvPr/>
        </p:nvSpPr>
        <p:spPr>
          <a:xfrm>
            <a:off x="5724144" y="2587752"/>
            <a:ext cx="2944368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50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Kosárban termékek megtekintése</a:t>
            </a:r>
            <a:endParaRPr lang="en-US" sz="1350" dirty="0"/>
          </a:p>
        </p:txBody>
      </p:sp>
      <p:sp>
        <p:nvSpPr>
          <p:cNvPr id="23" name="Shape 21"/>
          <p:cNvSpPr/>
          <p:nvPr/>
        </p:nvSpPr>
        <p:spPr>
          <a:xfrm>
            <a:off x="457200" y="3730752"/>
            <a:ext cx="4069080" cy="1005840"/>
          </a:xfrm>
          <a:prstGeom prst="rect">
            <a:avLst/>
          </a:prstGeom>
          <a:solidFill>
            <a:srgbClr val="1A2B42"/>
          </a:solidFill>
          <a:ln w="9525">
            <a:solidFill>
              <a:srgbClr val="1F3050"/>
            </a:solidFill>
            <a:prstDash val="solid"/>
          </a:ln>
          <a:effectLst>
            <a:outerShdw blurRad="101600" dist="25400" dir="8100000" algn="bl" rotWithShape="0">
              <a:srgbClr val="000000">
                <a:alpha val="30000"/>
              </a:srgbClr>
            </a:outerShdw>
          </a:effectLst>
        </p:spPr>
        <p:txBody>
          <a:bodyPr/>
          <a:lstStyle/>
          <a:p>
            <a:endParaRPr lang="hu-HU"/>
          </a:p>
        </p:txBody>
      </p:sp>
      <p:sp>
        <p:nvSpPr>
          <p:cNvPr id="24" name="Shape 22"/>
          <p:cNvSpPr/>
          <p:nvPr/>
        </p:nvSpPr>
        <p:spPr>
          <a:xfrm>
            <a:off x="603504" y="3886200"/>
            <a:ext cx="676656" cy="676656"/>
          </a:xfrm>
          <a:prstGeom prst="ellipse">
            <a:avLst/>
          </a:prstGeom>
          <a:solidFill>
            <a:srgbClr val="E9A227"/>
          </a:solidFill>
          <a:ln w="12700">
            <a:solidFill>
              <a:srgbClr val="E9A227"/>
            </a:solidFill>
            <a:prstDash val="solid"/>
          </a:ln>
        </p:spPr>
        <p:txBody>
          <a:bodyPr/>
          <a:lstStyle/>
          <a:p>
            <a:endParaRPr lang="hu-HU"/>
          </a:p>
        </p:txBody>
      </p:sp>
      <p:sp>
        <p:nvSpPr>
          <p:cNvPr id="25" name="Text 23"/>
          <p:cNvSpPr/>
          <p:nvPr/>
        </p:nvSpPr>
        <p:spPr>
          <a:xfrm>
            <a:off x="603504" y="3886200"/>
            <a:ext cx="676656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200" b="1" dirty="0">
                <a:solidFill>
                  <a:srgbClr val="0B1628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5</a:t>
            </a:r>
            <a:endParaRPr lang="en-US" sz="2200" dirty="0"/>
          </a:p>
        </p:txBody>
      </p:sp>
      <p:sp>
        <p:nvSpPr>
          <p:cNvPr id="26" name="Text 24"/>
          <p:cNvSpPr/>
          <p:nvPr/>
        </p:nvSpPr>
        <p:spPr>
          <a:xfrm>
            <a:off x="1426464" y="3822192"/>
            <a:ext cx="2944368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50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Megrendelési adatok megadása</a:t>
            </a:r>
            <a:endParaRPr lang="en-US" sz="1350" dirty="0"/>
          </a:p>
        </p:txBody>
      </p:sp>
      <p:sp>
        <p:nvSpPr>
          <p:cNvPr id="27" name="Shape 25"/>
          <p:cNvSpPr/>
          <p:nvPr/>
        </p:nvSpPr>
        <p:spPr>
          <a:xfrm>
            <a:off x="4754880" y="3730752"/>
            <a:ext cx="4069080" cy="1005840"/>
          </a:xfrm>
          <a:prstGeom prst="rect">
            <a:avLst/>
          </a:prstGeom>
          <a:solidFill>
            <a:srgbClr val="1A2B42"/>
          </a:solidFill>
          <a:ln w="9525">
            <a:solidFill>
              <a:srgbClr val="1F3050"/>
            </a:solidFill>
            <a:prstDash val="solid"/>
          </a:ln>
          <a:effectLst>
            <a:outerShdw blurRad="101600" dist="25400" dir="8100000" algn="bl" rotWithShape="0">
              <a:srgbClr val="000000">
                <a:alpha val="30000"/>
              </a:srgbClr>
            </a:outerShdw>
          </a:effectLst>
        </p:spPr>
        <p:txBody>
          <a:bodyPr/>
          <a:lstStyle/>
          <a:p>
            <a:endParaRPr lang="hu-HU"/>
          </a:p>
        </p:txBody>
      </p:sp>
      <p:sp>
        <p:nvSpPr>
          <p:cNvPr id="28" name="Shape 26"/>
          <p:cNvSpPr/>
          <p:nvPr/>
        </p:nvSpPr>
        <p:spPr>
          <a:xfrm>
            <a:off x="4901184" y="3886200"/>
            <a:ext cx="676656" cy="676656"/>
          </a:xfrm>
          <a:prstGeom prst="ellipse">
            <a:avLst/>
          </a:prstGeom>
          <a:solidFill>
            <a:srgbClr val="E9A227"/>
          </a:solidFill>
          <a:ln w="12700">
            <a:solidFill>
              <a:srgbClr val="E9A227"/>
            </a:solidFill>
            <a:prstDash val="solid"/>
          </a:ln>
        </p:spPr>
        <p:txBody>
          <a:bodyPr/>
          <a:lstStyle/>
          <a:p>
            <a:endParaRPr lang="hu-HU"/>
          </a:p>
        </p:txBody>
      </p:sp>
      <p:sp>
        <p:nvSpPr>
          <p:cNvPr id="29" name="Text 27"/>
          <p:cNvSpPr/>
          <p:nvPr/>
        </p:nvSpPr>
        <p:spPr>
          <a:xfrm>
            <a:off x="4901184" y="3886200"/>
            <a:ext cx="676656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200" b="1" dirty="0">
                <a:solidFill>
                  <a:srgbClr val="0B1628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6</a:t>
            </a:r>
            <a:endParaRPr lang="en-US" sz="2200" dirty="0"/>
          </a:p>
        </p:txBody>
      </p:sp>
      <p:sp>
        <p:nvSpPr>
          <p:cNvPr id="30" name="Text 28"/>
          <p:cNvSpPr/>
          <p:nvPr/>
        </p:nvSpPr>
        <p:spPr>
          <a:xfrm>
            <a:off x="5724144" y="3822192"/>
            <a:ext cx="2944368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50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Rendelés véglegesítése</a:t>
            </a:r>
            <a:endParaRPr lang="en-US" sz="13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B162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56032"/>
            <a:ext cx="54864" cy="713232"/>
          </a:xfrm>
          <a:prstGeom prst="rect">
            <a:avLst/>
          </a:prstGeom>
          <a:solidFill>
            <a:srgbClr val="E9A227"/>
          </a:solidFill>
          <a:ln w="12700">
            <a:solidFill>
              <a:srgbClr val="E9A227"/>
            </a:solidFill>
            <a:prstDash val="solid"/>
          </a:ln>
        </p:spPr>
        <p:txBody>
          <a:bodyPr/>
          <a:lstStyle/>
          <a:p>
            <a:endParaRPr lang="hu-HU"/>
          </a:p>
        </p:txBody>
      </p:sp>
      <p:sp>
        <p:nvSpPr>
          <p:cNvPr id="3" name="Text 1"/>
          <p:cNvSpPr/>
          <p:nvPr/>
        </p:nvSpPr>
        <p:spPr>
          <a:xfrm>
            <a:off x="658368" y="201168"/>
            <a:ext cx="80467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rgbClr val="FFFFFF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Autentikáció — JWT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0" y="1097280"/>
            <a:ext cx="9144000" cy="16459"/>
          </a:xfrm>
          <a:prstGeom prst="rect">
            <a:avLst/>
          </a:prstGeom>
          <a:solidFill>
            <a:srgbClr val="1F3050"/>
          </a:solidFill>
          <a:ln w="12700">
            <a:solidFill>
              <a:srgbClr val="1F3050"/>
            </a:solidFill>
            <a:prstDash val="solid"/>
          </a:ln>
        </p:spPr>
        <p:txBody>
          <a:bodyPr/>
          <a:lstStyle/>
          <a:p>
            <a:endParaRPr lang="hu-HU"/>
          </a:p>
        </p:txBody>
      </p:sp>
      <p:sp>
        <p:nvSpPr>
          <p:cNvPr id="5" name="Shape 3"/>
          <p:cNvSpPr/>
          <p:nvPr/>
        </p:nvSpPr>
        <p:spPr>
          <a:xfrm>
            <a:off x="0" y="5102352"/>
            <a:ext cx="9144000" cy="41148"/>
          </a:xfrm>
          <a:prstGeom prst="rect">
            <a:avLst/>
          </a:prstGeom>
          <a:solidFill>
            <a:srgbClr val="1F3050"/>
          </a:solidFill>
          <a:ln w="12700">
            <a:solidFill>
              <a:srgbClr val="1F3050"/>
            </a:solidFill>
            <a:prstDash val="solid"/>
          </a:ln>
        </p:spPr>
        <p:txBody>
          <a:bodyPr/>
          <a:lstStyle/>
          <a:p>
            <a:endParaRPr lang="hu-HU"/>
          </a:p>
        </p:txBody>
      </p:sp>
      <p:pic>
        <p:nvPicPr>
          <p:cNvPr id="7" name="Image 0" descr="/home/claude/unpacked_clean/ppt/media/image2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200" y="1234440"/>
            <a:ext cx="4434840" cy="2980944"/>
          </a:xfrm>
          <a:prstGeom prst="rect">
            <a:avLst/>
          </a:prstGeom>
          <a:effectLst>
            <a:outerShdw blurRad="228600" dist="50800" dir="8100000" algn="bl" rotWithShape="0">
              <a:srgbClr val="000000">
                <a:alpha val="55000"/>
              </a:srgbClr>
            </a:outerShdw>
          </a:effectLst>
        </p:spPr>
      </p:pic>
      <p:sp>
        <p:nvSpPr>
          <p:cNvPr id="8" name="Shape 5"/>
          <p:cNvSpPr/>
          <p:nvPr/>
        </p:nvSpPr>
        <p:spPr>
          <a:xfrm>
            <a:off x="457200" y="1234440"/>
            <a:ext cx="4434840" cy="2980944"/>
          </a:xfrm>
          <a:prstGeom prst="rect">
            <a:avLst/>
          </a:prstGeom>
          <a:solidFill>
            <a:srgbClr val="000000">
              <a:alpha val="0"/>
            </a:srgbClr>
          </a:solidFill>
          <a:ln w="12700">
            <a:solidFill>
              <a:srgbClr val="E9A227"/>
            </a:solidFill>
            <a:prstDash val="solid"/>
          </a:ln>
        </p:spPr>
        <p:txBody>
          <a:bodyPr/>
          <a:lstStyle/>
          <a:p>
            <a:endParaRPr lang="hu-HU"/>
          </a:p>
        </p:txBody>
      </p:sp>
      <p:sp>
        <p:nvSpPr>
          <p:cNvPr id="9" name="Text 6"/>
          <p:cNvSpPr/>
          <p:nvPr/>
        </p:nvSpPr>
        <p:spPr>
          <a:xfrm>
            <a:off x="457200" y="4251960"/>
            <a:ext cx="44348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i="1" dirty="0">
                <a:solidFill>
                  <a:srgbClr val="5C7A9B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Token kezelése a frontend oldalon</a:t>
            </a:r>
            <a:endParaRPr lang="en-US" sz="1400" dirty="0"/>
          </a:p>
        </p:txBody>
      </p:sp>
      <p:sp>
        <p:nvSpPr>
          <p:cNvPr id="10" name="Shape 7"/>
          <p:cNvSpPr/>
          <p:nvPr/>
        </p:nvSpPr>
        <p:spPr>
          <a:xfrm>
            <a:off x="5074920" y="1234440"/>
            <a:ext cx="3657600" cy="658368"/>
          </a:xfrm>
          <a:prstGeom prst="rect">
            <a:avLst/>
          </a:prstGeom>
          <a:solidFill>
            <a:srgbClr val="1A2B42"/>
          </a:solidFill>
          <a:ln w="9525">
            <a:solidFill>
              <a:srgbClr val="1F3050"/>
            </a:solidFill>
            <a:prstDash val="solid"/>
          </a:ln>
          <a:effectLst>
            <a:outerShdw blurRad="101600" dist="25400" dir="8100000" algn="bl" rotWithShape="0">
              <a:srgbClr val="000000">
                <a:alpha val="30000"/>
              </a:srgbClr>
            </a:outerShdw>
          </a:effectLst>
        </p:spPr>
        <p:txBody>
          <a:bodyPr/>
          <a:lstStyle/>
          <a:p>
            <a:endParaRPr lang="hu-HU"/>
          </a:p>
        </p:txBody>
      </p:sp>
      <p:sp>
        <p:nvSpPr>
          <p:cNvPr id="11" name="Shape 8"/>
          <p:cNvSpPr/>
          <p:nvPr/>
        </p:nvSpPr>
        <p:spPr>
          <a:xfrm>
            <a:off x="5074920" y="1234440"/>
            <a:ext cx="45720" cy="658368"/>
          </a:xfrm>
          <a:prstGeom prst="rect">
            <a:avLst/>
          </a:prstGeom>
          <a:solidFill>
            <a:srgbClr val="E9A227"/>
          </a:solidFill>
          <a:ln w="12700">
            <a:solidFill>
              <a:srgbClr val="E9A227"/>
            </a:solidFill>
            <a:prstDash val="solid"/>
          </a:ln>
        </p:spPr>
        <p:txBody>
          <a:bodyPr/>
          <a:lstStyle/>
          <a:p>
            <a:endParaRPr lang="hu-HU"/>
          </a:p>
        </p:txBody>
      </p:sp>
      <p:sp>
        <p:nvSpPr>
          <p:cNvPr id="12" name="Text 9"/>
          <p:cNvSpPr/>
          <p:nvPr/>
        </p:nvSpPr>
        <p:spPr>
          <a:xfrm>
            <a:off x="5248656" y="1307592"/>
            <a:ext cx="3383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Bejelentkezés</a:t>
            </a:r>
            <a:endParaRPr lang="en-US" sz="1300" dirty="0"/>
          </a:p>
        </p:txBody>
      </p:sp>
      <p:sp>
        <p:nvSpPr>
          <p:cNvPr id="13" name="Text 10"/>
          <p:cNvSpPr/>
          <p:nvPr/>
        </p:nvSpPr>
        <p:spPr>
          <a:xfrm>
            <a:off x="5248656" y="1618488"/>
            <a:ext cx="33832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C5D5E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(POST) /api/login  ·  username, password</a:t>
            </a:r>
            <a:endParaRPr lang="en-US" sz="1050" dirty="0"/>
          </a:p>
        </p:txBody>
      </p:sp>
      <p:sp>
        <p:nvSpPr>
          <p:cNvPr id="14" name="Shape 11"/>
          <p:cNvSpPr/>
          <p:nvPr/>
        </p:nvSpPr>
        <p:spPr>
          <a:xfrm>
            <a:off x="5074920" y="2002536"/>
            <a:ext cx="3657600" cy="658368"/>
          </a:xfrm>
          <a:prstGeom prst="rect">
            <a:avLst/>
          </a:prstGeom>
          <a:solidFill>
            <a:srgbClr val="1A2B42"/>
          </a:solidFill>
          <a:ln w="9525">
            <a:solidFill>
              <a:srgbClr val="1F3050"/>
            </a:solidFill>
            <a:prstDash val="solid"/>
          </a:ln>
          <a:effectLst>
            <a:outerShdw blurRad="101600" dist="25400" dir="8100000" algn="bl" rotWithShape="0">
              <a:srgbClr val="000000">
                <a:alpha val="30000"/>
              </a:srgbClr>
            </a:outerShdw>
          </a:effectLst>
        </p:spPr>
        <p:txBody>
          <a:bodyPr/>
          <a:lstStyle/>
          <a:p>
            <a:endParaRPr lang="hu-HU"/>
          </a:p>
        </p:txBody>
      </p:sp>
      <p:sp>
        <p:nvSpPr>
          <p:cNvPr id="15" name="Shape 12"/>
          <p:cNvSpPr/>
          <p:nvPr/>
        </p:nvSpPr>
        <p:spPr>
          <a:xfrm>
            <a:off x="5074920" y="2002536"/>
            <a:ext cx="45720" cy="658368"/>
          </a:xfrm>
          <a:prstGeom prst="rect">
            <a:avLst/>
          </a:prstGeom>
          <a:solidFill>
            <a:srgbClr val="E9A227"/>
          </a:solidFill>
          <a:ln w="12700">
            <a:solidFill>
              <a:srgbClr val="E9A227"/>
            </a:solidFill>
            <a:prstDash val="solid"/>
          </a:ln>
        </p:spPr>
        <p:txBody>
          <a:bodyPr/>
          <a:lstStyle/>
          <a:p>
            <a:endParaRPr lang="hu-HU"/>
          </a:p>
        </p:txBody>
      </p:sp>
      <p:sp>
        <p:nvSpPr>
          <p:cNvPr id="16" name="Text 13"/>
          <p:cNvSpPr/>
          <p:nvPr/>
        </p:nvSpPr>
        <p:spPr>
          <a:xfrm>
            <a:off x="5248656" y="2075688"/>
            <a:ext cx="3383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Token tárolás</a:t>
            </a:r>
            <a:endParaRPr lang="en-US" sz="1300" dirty="0"/>
          </a:p>
        </p:txBody>
      </p:sp>
      <p:sp>
        <p:nvSpPr>
          <p:cNvPr id="17" name="Text 14"/>
          <p:cNvSpPr/>
          <p:nvPr/>
        </p:nvSpPr>
        <p:spPr>
          <a:xfrm>
            <a:off x="5248656" y="2386584"/>
            <a:ext cx="33832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C5D5E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Kliens oldalon localStorage + header</a:t>
            </a:r>
            <a:endParaRPr lang="en-US" sz="1050" dirty="0"/>
          </a:p>
        </p:txBody>
      </p:sp>
      <p:sp>
        <p:nvSpPr>
          <p:cNvPr id="18" name="Shape 15"/>
          <p:cNvSpPr/>
          <p:nvPr/>
        </p:nvSpPr>
        <p:spPr>
          <a:xfrm>
            <a:off x="5074920" y="2770632"/>
            <a:ext cx="3657600" cy="658368"/>
          </a:xfrm>
          <a:prstGeom prst="rect">
            <a:avLst/>
          </a:prstGeom>
          <a:solidFill>
            <a:srgbClr val="1A2B42"/>
          </a:solidFill>
          <a:ln w="9525">
            <a:solidFill>
              <a:srgbClr val="1F3050"/>
            </a:solidFill>
            <a:prstDash val="solid"/>
          </a:ln>
          <a:effectLst>
            <a:outerShdw blurRad="101600" dist="25400" dir="8100000" algn="bl" rotWithShape="0">
              <a:srgbClr val="000000">
                <a:alpha val="30000"/>
              </a:srgbClr>
            </a:outerShdw>
          </a:effectLst>
        </p:spPr>
        <p:txBody>
          <a:bodyPr/>
          <a:lstStyle/>
          <a:p>
            <a:endParaRPr lang="hu-HU"/>
          </a:p>
        </p:txBody>
      </p:sp>
      <p:sp>
        <p:nvSpPr>
          <p:cNvPr id="19" name="Shape 16"/>
          <p:cNvSpPr/>
          <p:nvPr/>
        </p:nvSpPr>
        <p:spPr>
          <a:xfrm>
            <a:off x="5074920" y="2770632"/>
            <a:ext cx="45720" cy="658368"/>
          </a:xfrm>
          <a:prstGeom prst="rect">
            <a:avLst/>
          </a:prstGeom>
          <a:solidFill>
            <a:srgbClr val="E9A227"/>
          </a:solidFill>
          <a:ln w="12700">
            <a:solidFill>
              <a:srgbClr val="E9A227"/>
            </a:solidFill>
            <a:prstDash val="solid"/>
          </a:ln>
        </p:spPr>
        <p:txBody>
          <a:bodyPr/>
          <a:lstStyle/>
          <a:p>
            <a:endParaRPr lang="hu-HU"/>
          </a:p>
        </p:txBody>
      </p:sp>
      <p:sp>
        <p:nvSpPr>
          <p:cNvPr id="20" name="Text 17"/>
          <p:cNvSpPr/>
          <p:nvPr/>
        </p:nvSpPr>
        <p:spPr>
          <a:xfrm>
            <a:off x="5248656" y="2843784"/>
            <a:ext cx="3383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Token generálás</a:t>
            </a:r>
            <a:endParaRPr lang="en-US" sz="1300" dirty="0"/>
          </a:p>
        </p:txBody>
      </p:sp>
      <p:sp>
        <p:nvSpPr>
          <p:cNvPr id="21" name="Text 18"/>
          <p:cNvSpPr/>
          <p:nvPr/>
        </p:nvSpPr>
        <p:spPr>
          <a:xfrm>
            <a:off x="5248656" y="3154680"/>
            <a:ext cx="33832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C5D5E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jwt.sign( ) függvény — backenden</a:t>
            </a:r>
            <a:endParaRPr lang="en-US" sz="1050" dirty="0"/>
          </a:p>
        </p:txBody>
      </p:sp>
      <p:sp>
        <p:nvSpPr>
          <p:cNvPr id="22" name="Shape 19"/>
          <p:cNvSpPr/>
          <p:nvPr/>
        </p:nvSpPr>
        <p:spPr>
          <a:xfrm>
            <a:off x="5074920" y="3538728"/>
            <a:ext cx="3657600" cy="658368"/>
          </a:xfrm>
          <a:prstGeom prst="rect">
            <a:avLst/>
          </a:prstGeom>
          <a:solidFill>
            <a:srgbClr val="1A2B42"/>
          </a:solidFill>
          <a:ln w="9525">
            <a:solidFill>
              <a:srgbClr val="1F3050"/>
            </a:solidFill>
            <a:prstDash val="solid"/>
          </a:ln>
          <a:effectLst>
            <a:outerShdw blurRad="101600" dist="25400" dir="8100000" algn="bl" rotWithShape="0">
              <a:srgbClr val="000000">
                <a:alpha val="30000"/>
              </a:srgbClr>
            </a:outerShdw>
          </a:effectLst>
        </p:spPr>
        <p:txBody>
          <a:bodyPr/>
          <a:lstStyle/>
          <a:p>
            <a:endParaRPr lang="hu-HU"/>
          </a:p>
        </p:txBody>
      </p:sp>
      <p:sp>
        <p:nvSpPr>
          <p:cNvPr id="23" name="Shape 20"/>
          <p:cNvSpPr/>
          <p:nvPr/>
        </p:nvSpPr>
        <p:spPr>
          <a:xfrm>
            <a:off x="5074920" y="3538728"/>
            <a:ext cx="45720" cy="658368"/>
          </a:xfrm>
          <a:prstGeom prst="rect">
            <a:avLst/>
          </a:prstGeom>
          <a:solidFill>
            <a:srgbClr val="E9A227"/>
          </a:solidFill>
          <a:ln w="12700">
            <a:solidFill>
              <a:srgbClr val="E9A227"/>
            </a:solidFill>
            <a:prstDash val="solid"/>
          </a:ln>
        </p:spPr>
        <p:txBody>
          <a:bodyPr/>
          <a:lstStyle/>
          <a:p>
            <a:endParaRPr lang="hu-HU"/>
          </a:p>
        </p:txBody>
      </p:sp>
      <p:sp>
        <p:nvSpPr>
          <p:cNvPr id="24" name="Text 21"/>
          <p:cNvSpPr/>
          <p:nvPr/>
        </p:nvSpPr>
        <p:spPr>
          <a:xfrm>
            <a:off x="5248656" y="3611880"/>
            <a:ext cx="3383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Védett végpont</a:t>
            </a:r>
            <a:endParaRPr lang="en-US" sz="1300" dirty="0"/>
          </a:p>
        </p:txBody>
      </p:sp>
      <p:sp>
        <p:nvSpPr>
          <p:cNvPr id="25" name="Text 22"/>
          <p:cNvSpPr/>
          <p:nvPr/>
        </p:nvSpPr>
        <p:spPr>
          <a:xfrm>
            <a:off x="5248656" y="3922776"/>
            <a:ext cx="33832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C5D5E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Authorization: Bearer &lt;token&gt;</a:t>
            </a:r>
            <a:endParaRPr lang="en-US" sz="10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B162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56032"/>
            <a:ext cx="54864" cy="713232"/>
          </a:xfrm>
          <a:prstGeom prst="rect">
            <a:avLst/>
          </a:prstGeom>
          <a:solidFill>
            <a:srgbClr val="E9A227"/>
          </a:solidFill>
          <a:ln w="12700">
            <a:solidFill>
              <a:srgbClr val="E9A227"/>
            </a:solidFill>
            <a:prstDash val="solid"/>
          </a:ln>
        </p:spPr>
        <p:txBody>
          <a:bodyPr/>
          <a:lstStyle/>
          <a:p>
            <a:endParaRPr lang="hu-HU"/>
          </a:p>
        </p:txBody>
      </p:sp>
      <p:sp>
        <p:nvSpPr>
          <p:cNvPr id="3" name="Text 1"/>
          <p:cNvSpPr/>
          <p:nvPr/>
        </p:nvSpPr>
        <p:spPr>
          <a:xfrm>
            <a:off x="658368" y="201168"/>
            <a:ext cx="418795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FFFFFF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Végponthívás a kliens oldalon</a:t>
            </a:r>
            <a:endParaRPr lang="en-US" sz="2000" dirty="0"/>
          </a:p>
        </p:txBody>
      </p:sp>
      <p:sp>
        <p:nvSpPr>
          <p:cNvPr id="4" name="Shape 2"/>
          <p:cNvSpPr/>
          <p:nvPr/>
        </p:nvSpPr>
        <p:spPr>
          <a:xfrm>
            <a:off x="0" y="1097280"/>
            <a:ext cx="9144000" cy="16459"/>
          </a:xfrm>
          <a:prstGeom prst="rect">
            <a:avLst/>
          </a:prstGeom>
          <a:solidFill>
            <a:srgbClr val="1F3050"/>
          </a:solidFill>
          <a:ln w="12700">
            <a:solidFill>
              <a:srgbClr val="1F3050"/>
            </a:solidFill>
            <a:prstDash val="solid"/>
          </a:ln>
        </p:spPr>
        <p:txBody>
          <a:bodyPr/>
          <a:lstStyle/>
          <a:p>
            <a:endParaRPr lang="hu-HU"/>
          </a:p>
        </p:txBody>
      </p:sp>
      <p:sp>
        <p:nvSpPr>
          <p:cNvPr id="5" name="Shape 3"/>
          <p:cNvSpPr/>
          <p:nvPr/>
        </p:nvSpPr>
        <p:spPr>
          <a:xfrm>
            <a:off x="0" y="5102352"/>
            <a:ext cx="9144000" cy="41148"/>
          </a:xfrm>
          <a:prstGeom prst="rect">
            <a:avLst/>
          </a:prstGeom>
          <a:solidFill>
            <a:srgbClr val="1F3050"/>
          </a:solidFill>
          <a:ln w="12700">
            <a:solidFill>
              <a:srgbClr val="1F3050"/>
            </a:solidFill>
            <a:prstDash val="solid"/>
          </a:ln>
        </p:spPr>
        <p:txBody>
          <a:bodyPr/>
          <a:lstStyle/>
          <a:p>
            <a:endParaRPr lang="hu-HU"/>
          </a:p>
        </p:txBody>
      </p:sp>
      <p:pic>
        <p:nvPicPr>
          <p:cNvPr id="7" name="Image 0" descr="/home/claude/unpacked_clean/ppt/media/image3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189220" y="201168"/>
            <a:ext cx="3657600" cy="4756709"/>
          </a:xfrm>
          <a:prstGeom prst="rect">
            <a:avLst/>
          </a:prstGeom>
          <a:effectLst>
            <a:outerShdw blurRad="228600" dist="50800" dir="8100000" algn="bl" rotWithShape="0">
              <a:srgbClr val="000000">
                <a:alpha val="55000"/>
              </a:srgbClr>
            </a:outerShdw>
          </a:effectLst>
        </p:spPr>
      </p:pic>
      <p:sp>
        <p:nvSpPr>
          <p:cNvPr id="9" name="Shape 6"/>
          <p:cNvSpPr/>
          <p:nvPr/>
        </p:nvSpPr>
        <p:spPr>
          <a:xfrm>
            <a:off x="457200" y="1261872"/>
            <a:ext cx="4389120" cy="658368"/>
          </a:xfrm>
          <a:prstGeom prst="rect">
            <a:avLst/>
          </a:prstGeom>
          <a:solidFill>
            <a:srgbClr val="1A2B42"/>
          </a:solidFill>
          <a:ln w="9525">
            <a:solidFill>
              <a:srgbClr val="1F3050"/>
            </a:solidFill>
            <a:prstDash val="solid"/>
          </a:ln>
          <a:effectLst>
            <a:outerShdw blurRad="101600" dist="25400" dir="8100000" algn="bl" rotWithShape="0">
              <a:srgbClr val="000000">
                <a:alpha val="30000"/>
              </a:srgbClr>
            </a:outerShdw>
          </a:effectLst>
        </p:spPr>
        <p:txBody>
          <a:bodyPr/>
          <a:lstStyle/>
          <a:p>
            <a:endParaRPr lang="hu-HU"/>
          </a:p>
        </p:txBody>
      </p:sp>
      <p:sp>
        <p:nvSpPr>
          <p:cNvPr id="10" name="Shape 7"/>
          <p:cNvSpPr/>
          <p:nvPr/>
        </p:nvSpPr>
        <p:spPr>
          <a:xfrm>
            <a:off x="457200" y="1261872"/>
            <a:ext cx="45720" cy="658368"/>
          </a:xfrm>
          <a:prstGeom prst="rect">
            <a:avLst/>
          </a:prstGeom>
          <a:solidFill>
            <a:srgbClr val="E9A227"/>
          </a:solidFill>
          <a:ln w="12700">
            <a:solidFill>
              <a:srgbClr val="E9A227"/>
            </a:solidFill>
            <a:prstDash val="solid"/>
          </a:ln>
        </p:spPr>
        <p:txBody>
          <a:bodyPr/>
          <a:lstStyle/>
          <a:p>
            <a:endParaRPr lang="hu-HU"/>
          </a:p>
        </p:txBody>
      </p:sp>
      <p:sp>
        <p:nvSpPr>
          <p:cNvPr id="11" name="Text 8"/>
          <p:cNvSpPr/>
          <p:nvPr/>
        </p:nvSpPr>
        <p:spPr>
          <a:xfrm>
            <a:off x="640080" y="1325880"/>
            <a:ext cx="4069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DRY elv</a:t>
            </a:r>
            <a:endParaRPr lang="en-US" sz="1300" dirty="0"/>
          </a:p>
        </p:txBody>
      </p:sp>
      <p:sp>
        <p:nvSpPr>
          <p:cNvPr id="12" name="Text 9"/>
          <p:cNvSpPr/>
          <p:nvPr/>
        </p:nvSpPr>
        <p:spPr>
          <a:xfrm>
            <a:off x="640080" y="1627632"/>
            <a:ext cx="40690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C5D5E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Egy függvény szinte minden műveletre</a:t>
            </a:r>
            <a:endParaRPr lang="en-US" sz="1050" dirty="0"/>
          </a:p>
        </p:txBody>
      </p:sp>
      <p:sp>
        <p:nvSpPr>
          <p:cNvPr id="13" name="Shape 10"/>
          <p:cNvSpPr/>
          <p:nvPr/>
        </p:nvSpPr>
        <p:spPr>
          <a:xfrm>
            <a:off x="457200" y="2029968"/>
            <a:ext cx="4389120" cy="658368"/>
          </a:xfrm>
          <a:prstGeom prst="rect">
            <a:avLst/>
          </a:prstGeom>
          <a:solidFill>
            <a:srgbClr val="1A2B42"/>
          </a:solidFill>
          <a:ln w="9525">
            <a:solidFill>
              <a:srgbClr val="1F3050"/>
            </a:solidFill>
            <a:prstDash val="solid"/>
          </a:ln>
          <a:effectLst>
            <a:outerShdw blurRad="101600" dist="25400" dir="8100000" algn="bl" rotWithShape="0">
              <a:srgbClr val="000000">
                <a:alpha val="30000"/>
              </a:srgbClr>
            </a:outerShdw>
          </a:effectLst>
        </p:spPr>
        <p:txBody>
          <a:bodyPr/>
          <a:lstStyle/>
          <a:p>
            <a:endParaRPr lang="hu-HU"/>
          </a:p>
        </p:txBody>
      </p:sp>
      <p:sp>
        <p:nvSpPr>
          <p:cNvPr id="14" name="Shape 11"/>
          <p:cNvSpPr/>
          <p:nvPr/>
        </p:nvSpPr>
        <p:spPr>
          <a:xfrm>
            <a:off x="457200" y="2029968"/>
            <a:ext cx="45720" cy="658368"/>
          </a:xfrm>
          <a:prstGeom prst="rect">
            <a:avLst/>
          </a:prstGeom>
          <a:solidFill>
            <a:srgbClr val="E9A227"/>
          </a:solidFill>
          <a:ln w="12700">
            <a:solidFill>
              <a:srgbClr val="E9A227"/>
            </a:solidFill>
            <a:prstDash val="solid"/>
          </a:ln>
        </p:spPr>
        <p:txBody>
          <a:bodyPr/>
          <a:lstStyle/>
          <a:p>
            <a:endParaRPr lang="hu-HU"/>
          </a:p>
        </p:txBody>
      </p:sp>
      <p:sp>
        <p:nvSpPr>
          <p:cNvPr id="15" name="Text 12"/>
          <p:cNvSpPr/>
          <p:nvPr/>
        </p:nvSpPr>
        <p:spPr>
          <a:xfrm>
            <a:off x="640080" y="2093976"/>
            <a:ext cx="4069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Auto token kezelés</a:t>
            </a:r>
            <a:endParaRPr lang="en-US" sz="1300" dirty="0"/>
          </a:p>
        </p:txBody>
      </p:sp>
      <p:sp>
        <p:nvSpPr>
          <p:cNvPr id="16" name="Text 13"/>
          <p:cNvSpPr/>
          <p:nvPr/>
        </p:nvSpPr>
        <p:spPr>
          <a:xfrm>
            <a:off x="640080" y="2395728"/>
            <a:ext cx="40690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C5D5E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Token automatikus csatolása minden kéréshez</a:t>
            </a:r>
            <a:endParaRPr lang="en-US" sz="1050" dirty="0"/>
          </a:p>
        </p:txBody>
      </p:sp>
      <p:sp>
        <p:nvSpPr>
          <p:cNvPr id="17" name="Shape 14"/>
          <p:cNvSpPr/>
          <p:nvPr/>
        </p:nvSpPr>
        <p:spPr>
          <a:xfrm>
            <a:off x="457200" y="2798064"/>
            <a:ext cx="4389120" cy="658368"/>
          </a:xfrm>
          <a:prstGeom prst="rect">
            <a:avLst/>
          </a:prstGeom>
          <a:solidFill>
            <a:srgbClr val="1A2B42"/>
          </a:solidFill>
          <a:ln w="9525">
            <a:solidFill>
              <a:srgbClr val="1F3050"/>
            </a:solidFill>
            <a:prstDash val="solid"/>
          </a:ln>
          <a:effectLst>
            <a:outerShdw blurRad="101600" dist="25400" dir="8100000" algn="bl" rotWithShape="0">
              <a:srgbClr val="000000">
                <a:alpha val="30000"/>
              </a:srgbClr>
            </a:outerShdw>
          </a:effectLst>
        </p:spPr>
        <p:txBody>
          <a:bodyPr/>
          <a:lstStyle/>
          <a:p>
            <a:endParaRPr lang="hu-HU"/>
          </a:p>
        </p:txBody>
      </p:sp>
      <p:sp>
        <p:nvSpPr>
          <p:cNvPr id="18" name="Shape 15"/>
          <p:cNvSpPr/>
          <p:nvPr/>
        </p:nvSpPr>
        <p:spPr>
          <a:xfrm>
            <a:off x="457200" y="2798064"/>
            <a:ext cx="45720" cy="658368"/>
          </a:xfrm>
          <a:prstGeom prst="rect">
            <a:avLst/>
          </a:prstGeom>
          <a:solidFill>
            <a:srgbClr val="E9A227"/>
          </a:solidFill>
          <a:ln w="12700">
            <a:solidFill>
              <a:srgbClr val="E9A227"/>
            </a:solidFill>
            <a:prstDash val="solid"/>
          </a:ln>
        </p:spPr>
        <p:txBody>
          <a:bodyPr/>
          <a:lstStyle/>
          <a:p>
            <a:endParaRPr lang="hu-HU"/>
          </a:p>
        </p:txBody>
      </p:sp>
      <p:sp>
        <p:nvSpPr>
          <p:cNvPr id="19" name="Text 16"/>
          <p:cNvSpPr/>
          <p:nvPr/>
        </p:nvSpPr>
        <p:spPr>
          <a:xfrm>
            <a:off x="640080" y="2862072"/>
            <a:ext cx="4069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Content-Type</a:t>
            </a:r>
            <a:endParaRPr lang="en-US" sz="1300" dirty="0"/>
          </a:p>
        </p:txBody>
      </p:sp>
      <p:sp>
        <p:nvSpPr>
          <p:cNvPr id="20" name="Text 17"/>
          <p:cNvSpPr/>
          <p:nvPr/>
        </p:nvSpPr>
        <p:spPr>
          <a:xfrm>
            <a:off x="640080" y="3163824"/>
            <a:ext cx="40690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C5D5E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Intelligens beállítás header szinten</a:t>
            </a:r>
            <a:endParaRPr lang="en-US" sz="1050" dirty="0"/>
          </a:p>
        </p:txBody>
      </p:sp>
      <p:sp>
        <p:nvSpPr>
          <p:cNvPr id="21" name="Shape 18"/>
          <p:cNvSpPr/>
          <p:nvPr/>
        </p:nvSpPr>
        <p:spPr>
          <a:xfrm>
            <a:off x="457200" y="3566160"/>
            <a:ext cx="4389120" cy="658368"/>
          </a:xfrm>
          <a:prstGeom prst="rect">
            <a:avLst/>
          </a:prstGeom>
          <a:solidFill>
            <a:srgbClr val="1A2B42"/>
          </a:solidFill>
          <a:ln w="9525">
            <a:solidFill>
              <a:srgbClr val="1F3050"/>
            </a:solidFill>
            <a:prstDash val="solid"/>
          </a:ln>
          <a:effectLst>
            <a:outerShdw blurRad="101600" dist="25400" dir="8100000" algn="bl" rotWithShape="0">
              <a:srgbClr val="000000">
                <a:alpha val="30000"/>
              </a:srgbClr>
            </a:outerShdw>
          </a:effectLst>
        </p:spPr>
        <p:txBody>
          <a:bodyPr/>
          <a:lstStyle/>
          <a:p>
            <a:endParaRPr lang="hu-HU"/>
          </a:p>
        </p:txBody>
      </p:sp>
      <p:sp>
        <p:nvSpPr>
          <p:cNvPr id="22" name="Shape 19"/>
          <p:cNvSpPr/>
          <p:nvPr/>
        </p:nvSpPr>
        <p:spPr>
          <a:xfrm>
            <a:off x="457200" y="3566160"/>
            <a:ext cx="45720" cy="658368"/>
          </a:xfrm>
          <a:prstGeom prst="rect">
            <a:avLst/>
          </a:prstGeom>
          <a:solidFill>
            <a:srgbClr val="E9A227"/>
          </a:solidFill>
          <a:ln w="12700">
            <a:solidFill>
              <a:srgbClr val="E9A227"/>
            </a:solidFill>
            <a:prstDash val="solid"/>
          </a:ln>
        </p:spPr>
        <p:txBody>
          <a:bodyPr/>
          <a:lstStyle/>
          <a:p>
            <a:endParaRPr lang="hu-HU"/>
          </a:p>
        </p:txBody>
      </p:sp>
      <p:sp>
        <p:nvSpPr>
          <p:cNvPr id="23" name="Text 20"/>
          <p:cNvSpPr/>
          <p:nvPr/>
        </p:nvSpPr>
        <p:spPr>
          <a:xfrm>
            <a:off x="640080" y="3630168"/>
            <a:ext cx="4069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Token lejárat</a:t>
            </a:r>
            <a:endParaRPr lang="en-US" sz="1300" dirty="0"/>
          </a:p>
        </p:txBody>
      </p:sp>
      <p:sp>
        <p:nvSpPr>
          <p:cNvPr id="24" name="Text 21"/>
          <p:cNvSpPr/>
          <p:nvPr/>
        </p:nvSpPr>
        <p:spPr>
          <a:xfrm>
            <a:off x="640080" y="3931920"/>
            <a:ext cx="40690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C5D5E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Automatikus lejárat kezelése</a:t>
            </a:r>
            <a:endParaRPr lang="en-US" sz="105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B162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56032"/>
            <a:ext cx="54864" cy="713232"/>
          </a:xfrm>
          <a:prstGeom prst="rect">
            <a:avLst/>
          </a:prstGeom>
          <a:solidFill>
            <a:srgbClr val="E9A227"/>
          </a:solidFill>
          <a:ln w="12700">
            <a:solidFill>
              <a:srgbClr val="E9A227"/>
            </a:solidFill>
            <a:prstDash val="solid"/>
          </a:ln>
        </p:spPr>
        <p:txBody>
          <a:bodyPr/>
          <a:lstStyle/>
          <a:p>
            <a:endParaRPr lang="hu-HU"/>
          </a:p>
        </p:txBody>
      </p:sp>
      <p:sp>
        <p:nvSpPr>
          <p:cNvPr id="3" name="Text 1"/>
          <p:cNvSpPr/>
          <p:nvPr/>
        </p:nvSpPr>
        <p:spPr>
          <a:xfrm>
            <a:off x="658368" y="201168"/>
            <a:ext cx="80467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rgbClr val="FFFFFF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Admin Felület Megvalósítása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0" y="1097280"/>
            <a:ext cx="9144000" cy="16459"/>
          </a:xfrm>
          <a:prstGeom prst="rect">
            <a:avLst/>
          </a:prstGeom>
          <a:solidFill>
            <a:srgbClr val="1F3050"/>
          </a:solidFill>
          <a:ln w="12700">
            <a:solidFill>
              <a:srgbClr val="1F3050"/>
            </a:solidFill>
            <a:prstDash val="solid"/>
          </a:ln>
        </p:spPr>
        <p:txBody>
          <a:bodyPr/>
          <a:lstStyle/>
          <a:p>
            <a:endParaRPr lang="hu-HU"/>
          </a:p>
        </p:txBody>
      </p:sp>
      <p:sp>
        <p:nvSpPr>
          <p:cNvPr id="5" name="Shape 3"/>
          <p:cNvSpPr/>
          <p:nvPr/>
        </p:nvSpPr>
        <p:spPr>
          <a:xfrm>
            <a:off x="0" y="5102352"/>
            <a:ext cx="9144000" cy="41148"/>
          </a:xfrm>
          <a:prstGeom prst="rect">
            <a:avLst/>
          </a:prstGeom>
          <a:solidFill>
            <a:srgbClr val="1F3050"/>
          </a:solidFill>
          <a:ln w="12700">
            <a:solidFill>
              <a:srgbClr val="1F3050"/>
            </a:solidFill>
            <a:prstDash val="solid"/>
          </a:ln>
        </p:spPr>
        <p:txBody>
          <a:bodyPr/>
          <a:lstStyle/>
          <a:p>
            <a:endParaRPr lang="hu-HU"/>
          </a:p>
        </p:txBody>
      </p:sp>
      <p:sp>
        <p:nvSpPr>
          <p:cNvPr id="7" name="Shape 5"/>
          <p:cNvSpPr/>
          <p:nvPr/>
        </p:nvSpPr>
        <p:spPr>
          <a:xfrm>
            <a:off x="457200" y="1243584"/>
            <a:ext cx="4069080" cy="1051560"/>
          </a:xfrm>
          <a:prstGeom prst="rect">
            <a:avLst/>
          </a:prstGeom>
          <a:solidFill>
            <a:srgbClr val="1A2B42"/>
          </a:solidFill>
          <a:ln w="9525">
            <a:solidFill>
              <a:srgbClr val="1F3050"/>
            </a:solidFill>
            <a:prstDash val="solid"/>
          </a:ln>
          <a:effectLst>
            <a:outerShdw blurRad="101600" dist="25400" dir="8100000" algn="bl" rotWithShape="0">
              <a:srgbClr val="000000">
                <a:alpha val="30000"/>
              </a:srgbClr>
            </a:outerShdw>
          </a:effectLst>
        </p:spPr>
        <p:txBody>
          <a:bodyPr/>
          <a:lstStyle/>
          <a:p>
            <a:endParaRPr lang="hu-HU"/>
          </a:p>
        </p:txBody>
      </p:sp>
      <p:sp>
        <p:nvSpPr>
          <p:cNvPr id="8" name="Shape 6"/>
          <p:cNvSpPr/>
          <p:nvPr/>
        </p:nvSpPr>
        <p:spPr>
          <a:xfrm>
            <a:off x="457200" y="1243584"/>
            <a:ext cx="45720" cy="1051560"/>
          </a:xfrm>
          <a:prstGeom prst="rect">
            <a:avLst/>
          </a:prstGeom>
          <a:solidFill>
            <a:srgbClr val="E9A227"/>
          </a:solidFill>
          <a:ln w="12700">
            <a:solidFill>
              <a:srgbClr val="E9A227"/>
            </a:solidFill>
            <a:prstDash val="solid"/>
          </a:ln>
        </p:spPr>
        <p:txBody>
          <a:bodyPr/>
          <a:lstStyle/>
          <a:p>
            <a:endParaRPr lang="hu-HU"/>
          </a:p>
        </p:txBody>
      </p:sp>
      <p:sp>
        <p:nvSpPr>
          <p:cNvPr id="9" name="Text 7"/>
          <p:cNvSpPr/>
          <p:nvPr/>
        </p:nvSpPr>
        <p:spPr>
          <a:xfrm>
            <a:off x="621792" y="1335024"/>
            <a:ext cx="3749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marL="0" indent="0">
              <a:buNone/>
            </a:pPr>
            <a:r>
              <a:rPr lang="en-US" sz="135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Szerepkör alapú hozzáférés</a:t>
            </a:r>
            <a:endParaRPr lang="en-US" sz="1350" dirty="0"/>
          </a:p>
        </p:txBody>
      </p:sp>
      <p:sp>
        <p:nvSpPr>
          <p:cNvPr id="10" name="Shape 8"/>
          <p:cNvSpPr/>
          <p:nvPr/>
        </p:nvSpPr>
        <p:spPr>
          <a:xfrm>
            <a:off x="621792" y="1792224"/>
            <a:ext cx="3566160" cy="36576"/>
          </a:xfrm>
          <a:prstGeom prst="rect">
            <a:avLst/>
          </a:prstGeom>
          <a:solidFill>
            <a:srgbClr val="E9A227"/>
          </a:solidFill>
          <a:ln w="12700">
            <a:solidFill>
              <a:srgbClr val="E9A227"/>
            </a:solidFill>
            <a:prstDash val="solid"/>
          </a:ln>
        </p:spPr>
        <p:txBody>
          <a:bodyPr/>
          <a:lstStyle/>
          <a:p>
            <a:endParaRPr lang="hu-HU"/>
          </a:p>
        </p:txBody>
      </p:sp>
      <p:sp>
        <p:nvSpPr>
          <p:cNvPr id="11" name="Text 9"/>
          <p:cNvSpPr/>
          <p:nvPr/>
        </p:nvSpPr>
        <p:spPr>
          <a:xfrm>
            <a:off x="621792" y="1883664"/>
            <a:ext cx="3749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C5D5E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role: 'user' / 'admin'  ·  JWT payload-ban</a:t>
            </a:r>
            <a:endParaRPr lang="en-US" sz="1050" dirty="0"/>
          </a:p>
        </p:txBody>
      </p:sp>
      <p:sp>
        <p:nvSpPr>
          <p:cNvPr id="12" name="Shape 10"/>
          <p:cNvSpPr/>
          <p:nvPr/>
        </p:nvSpPr>
        <p:spPr>
          <a:xfrm>
            <a:off x="4754880" y="1243584"/>
            <a:ext cx="4069080" cy="1051560"/>
          </a:xfrm>
          <a:prstGeom prst="rect">
            <a:avLst/>
          </a:prstGeom>
          <a:solidFill>
            <a:srgbClr val="1A2B42"/>
          </a:solidFill>
          <a:ln w="9525">
            <a:solidFill>
              <a:srgbClr val="1F3050"/>
            </a:solidFill>
            <a:prstDash val="solid"/>
          </a:ln>
          <a:effectLst>
            <a:outerShdw blurRad="101600" dist="25400" dir="8100000" algn="bl" rotWithShape="0">
              <a:srgbClr val="000000">
                <a:alpha val="30000"/>
              </a:srgbClr>
            </a:outerShdw>
          </a:effectLst>
        </p:spPr>
        <p:txBody>
          <a:bodyPr/>
          <a:lstStyle/>
          <a:p>
            <a:endParaRPr lang="hu-HU"/>
          </a:p>
        </p:txBody>
      </p:sp>
      <p:sp>
        <p:nvSpPr>
          <p:cNvPr id="13" name="Shape 11"/>
          <p:cNvSpPr/>
          <p:nvPr/>
        </p:nvSpPr>
        <p:spPr>
          <a:xfrm>
            <a:off x="4754880" y="1243584"/>
            <a:ext cx="45720" cy="1051560"/>
          </a:xfrm>
          <a:prstGeom prst="rect">
            <a:avLst/>
          </a:prstGeom>
          <a:solidFill>
            <a:srgbClr val="E9A227"/>
          </a:solidFill>
          <a:ln w="12700">
            <a:solidFill>
              <a:srgbClr val="E9A227"/>
            </a:solidFill>
            <a:prstDash val="solid"/>
          </a:ln>
        </p:spPr>
        <p:txBody>
          <a:bodyPr/>
          <a:lstStyle/>
          <a:p>
            <a:endParaRPr lang="hu-HU"/>
          </a:p>
        </p:txBody>
      </p:sp>
      <p:sp>
        <p:nvSpPr>
          <p:cNvPr id="14" name="Text 12"/>
          <p:cNvSpPr/>
          <p:nvPr/>
        </p:nvSpPr>
        <p:spPr>
          <a:xfrm>
            <a:off x="4919472" y="1335024"/>
            <a:ext cx="3749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marL="0" indent="0">
              <a:buNone/>
            </a:pPr>
            <a:r>
              <a:rPr lang="en-US" sz="135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Termék hozzáadása, szerkesztése, törlése</a:t>
            </a:r>
            <a:endParaRPr lang="en-US" sz="1350" dirty="0"/>
          </a:p>
        </p:txBody>
      </p:sp>
      <p:sp>
        <p:nvSpPr>
          <p:cNvPr id="15" name="Shape 13"/>
          <p:cNvSpPr/>
          <p:nvPr/>
        </p:nvSpPr>
        <p:spPr>
          <a:xfrm>
            <a:off x="4919472" y="1792224"/>
            <a:ext cx="3566160" cy="36576"/>
          </a:xfrm>
          <a:prstGeom prst="rect">
            <a:avLst/>
          </a:prstGeom>
          <a:solidFill>
            <a:srgbClr val="E9A227"/>
          </a:solidFill>
          <a:ln w="12700">
            <a:solidFill>
              <a:srgbClr val="E9A227"/>
            </a:solidFill>
            <a:prstDash val="solid"/>
          </a:ln>
        </p:spPr>
        <p:txBody>
          <a:bodyPr/>
          <a:lstStyle/>
          <a:p>
            <a:endParaRPr lang="hu-HU"/>
          </a:p>
        </p:txBody>
      </p:sp>
      <p:sp>
        <p:nvSpPr>
          <p:cNvPr id="16" name="Text 14"/>
          <p:cNvSpPr/>
          <p:nvPr/>
        </p:nvSpPr>
        <p:spPr>
          <a:xfrm>
            <a:off x="4919472" y="1883664"/>
            <a:ext cx="3749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C5D5E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Teljes CRUD műveletek adminoknak</a:t>
            </a:r>
            <a:endParaRPr lang="en-US" sz="1050" dirty="0"/>
          </a:p>
        </p:txBody>
      </p:sp>
      <p:sp>
        <p:nvSpPr>
          <p:cNvPr id="17" name="Shape 15"/>
          <p:cNvSpPr/>
          <p:nvPr/>
        </p:nvSpPr>
        <p:spPr>
          <a:xfrm>
            <a:off x="457200" y="2505456"/>
            <a:ext cx="4069080" cy="1051560"/>
          </a:xfrm>
          <a:prstGeom prst="rect">
            <a:avLst/>
          </a:prstGeom>
          <a:solidFill>
            <a:srgbClr val="1A2B42"/>
          </a:solidFill>
          <a:ln w="9525">
            <a:solidFill>
              <a:srgbClr val="1F3050"/>
            </a:solidFill>
            <a:prstDash val="solid"/>
          </a:ln>
          <a:effectLst>
            <a:outerShdw blurRad="101600" dist="25400" dir="8100000" algn="bl" rotWithShape="0">
              <a:srgbClr val="000000">
                <a:alpha val="30000"/>
              </a:srgbClr>
            </a:outerShdw>
          </a:effectLst>
        </p:spPr>
        <p:txBody>
          <a:bodyPr/>
          <a:lstStyle/>
          <a:p>
            <a:endParaRPr lang="hu-HU"/>
          </a:p>
        </p:txBody>
      </p:sp>
      <p:sp>
        <p:nvSpPr>
          <p:cNvPr id="18" name="Shape 16"/>
          <p:cNvSpPr/>
          <p:nvPr/>
        </p:nvSpPr>
        <p:spPr>
          <a:xfrm>
            <a:off x="457200" y="2505456"/>
            <a:ext cx="45720" cy="1051560"/>
          </a:xfrm>
          <a:prstGeom prst="rect">
            <a:avLst/>
          </a:prstGeom>
          <a:solidFill>
            <a:srgbClr val="E9A227"/>
          </a:solidFill>
          <a:ln w="12700">
            <a:solidFill>
              <a:srgbClr val="E9A227"/>
            </a:solidFill>
            <a:prstDash val="solid"/>
          </a:ln>
        </p:spPr>
        <p:txBody>
          <a:bodyPr/>
          <a:lstStyle/>
          <a:p>
            <a:endParaRPr lang="hu-HU"/>
          </a:p>
        </p:txBody>
      </p:sp>
      <p:sp>
        <p:nvSpPr>
          <p:cNvPr id="19" name="Text 17"/>
          <p:cNvSpPr/>
          <p:nvPr/>
        </p:nvSpPr>
        <p:spPr>
          <a:xfrm>
            <a:off x="621792" y="2596896"/>
            <a:ext cx="3749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marL="0" indent="0">
              <a:buNone/>
            </a:pPr>
            <a:r>
              <a:rPr lang="en-US" sz="135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Rendelések listázása, törlése, lezárása</a:t>
            </a:r>
            <a:endParaRPr lang="en-US" sz="1350" dirty="0"/>
          </a:p>
        </p:txBody>
      </p:sp>
      <p:sp>
        <p:nvSpPr>
          <p:cNvPr id="20" name="Shape 18"/>
          <p:cNvSpPr/>
          <p:nvPr/>
        </p:nvSpPr>
        <p:spPr>
          <a:xfrm>
            <a:off x="621792" y="3054096"/>
            <a:ext cx="3566160" cy="36576"/>
          </a:xfrm>
          <a:prstGeom prst="rect">
            <a:avLst/>
          </a:prstGeom>
          <a:solidFill>
            <a:srgbClr val="E9A227"/>
          </a:solidFill>
          <a:ln w="12700">
            <a:solidFill>
              <a:srgbClr val="E9A227"/>
            </a:solidFill>
            <a:prstDash val="solid"/>
          </a:ln>
        </p:spPr>
        <p:txBody>
          <a:bodyPr/>
          <a:lstStyle/>
          <a:p>
            <a:endParaRPr lang="hu-HU"/>
          </a:p>
        </p:txBody>
      </p:sp>
      <p:sp>
        <p:nvSpPr>
          <p:cNvPr id="21" name="Text 19"/>
          <p:cNvSpPr/>
          <p:nvPr/>
        </p:nvSpPr>
        <p:spPr>
          <a:xfrm>
            <a:off x="621792" y="3145536"/>
            <a:ext cx="3749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C5D5E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Admin dashboard nézetből</a:t>
            </a:r>
            <a:endParaRPr lang="en-US" sz="1050" dirty="0"/>
          </a:p>
        </p:txBody>
      </p:sp>
      <p:sp>
        <p:nvSpPr>
          <p:cNvPr id="22" name="Shape 20"/>
          <p:cNvSpPr/>
          <p:nvPr/>
        </p:nvSpPr>
        <p:spPr>
          <a:xfrm>
            <a:off x="4754880" y="2505456"/>
            <a:ext cx="4069080" cy="1051560"/>
          </a:xfrm>
          <a:prstGeom prst="rect">
            <a:avLst/>
          </a:prstGeom>
          <a:solidFill>
            <a:srgbClr val="1A2B42"/>
          </a:solidFill>
          <a:ln w="9525">
            <a:solidFill>
              <a:srgbClr val="1F3050"/>
            </a:solidFill>
            <a:prstDash val="solid"/>
          </a:ln>
          <a:effectLst>
            <a:outerShdw blurRad="101600" dist="25400" dir="8100000" algn="bl" rotWithShape="0">
              <a:srgbClr val="000000">
                <a:alpha val="30000"/>
              </a:srgbClr>
            </a:outerShdw>
          </a:effectLst>
        </p:spPr>
        <p:txBody>
          <a:bodyPr/>
          <a:lstStyle/>
          <a:p>
            <a:endParaRPr lang="hu-HU"/>
          </a:p>
        </p:txBody>
      </p:sp>
      <p:sp>
        <p:nvSpPr>
          <p:cNvPr id="23" name="Shape 21"/>
          <p:cNvSpPr/>
          <p:nvPr/>
        </p:nvSpPr>
        <p:spPr>
          <a:xfrm>
            <a:off x="4754880" y="2505456"/>
            <a:ext cx="45720" cy="1051560"/>
          </a:xfrm>
          <a:prstGeom prst="rect">
            <a:avLst/>
          </a:prstGeom>
          <a:solidFill>
            <a:srgbClr val="E9A227"/>
          </a:solidFill>
          <a:ln w="12700">
            <a:solidFill>
              <a:srgbClr val="E9A227"/>
            </a:solidFill>
            <a:prstDash val="solid"/>
          </a:ln>
        </p:spPr>
        <p:txBody>
          <a:bodyPr/>
          <a:lstStyle/>
          <a:p>
            <a:endParaRPr lang="hu-HU"/>
          </a:p>
        </p:txBody>
      </p:sp>
      <p:sp>
        <p:nvSpPr>
          <p:cNvPr id="24" name="Text 22"/>
          <p:cNvSpPr/>
          <p:nvPr/>
        </p:nvSpPr>
        <p:spPr>
          <a:xfrm>
            <a:off x="4919472" y="2596896"/>
            <a:ext cx="3749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marL="0" indent="0">
              <a:buNone/>
            </a:pPr>
            <a:r>
              <a:rPr lang="en-US" sz="135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Felhasználók böngészése</a:t>
            </a:r>
            <a:endParaRPr lang="en-US" sz="1350" dirty="0"/>
          </a:p>
        </p:txBody>
      </p:sp>
      <p:sp>
        <p:nvSpPr>
          <p:cNvPr id="25" name="Shape 23"/>
          <p:cNvSpPr/>
          <p:nvPr/>
        </p:nvSpPr>
        <p:spPr>
          <a:xfrm>
            <a:off x="4919472" y="3054096"/>
            <a:ext cx="3566160" cy="36576"/>
          </a:xfrm>
          <a:prstGeom prst="rect">
            <a:avLst/>
          </a:prstGeom>
          <a:solidFill>
            <a:srgbClr val="E9A227"/>
          </a:solidFill>
          <a:ln w="12700">
            <a:solidFill>
              <a:srgbClr val="E9A227"/>
            </a:solidFill>
            <a:prstDash val="solid"/>
          </a:ln>
        </p:spPr>
        <p:txBody>
          <a:bodyPr/>
          <a:lstStyle/>
          <a:p>
            <a:endParaRPr lang="hu-HU"/>
          </a:p>
        </p:txBody>
      </p:sp>
      <p:sp>
        <p:nvSpPr>
          <p:cNvPr id="26" name="Text 24"/>
          <p:cNvSpPr/>
          <p:nvPr/>
        </p:nvSpPr>
        <p:spPr>
          <a:xfrm>
            <a:off x="4919472" y="3145536"/>
            <a:ext cx="3749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C5D5E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Felhasználó-kezelő modul</a:t>
            </a:r>
            <a:endParaRPr lang="en-US" sz="1050" dirty="0"/>
          </a:p>
        </p:txBody>
      </p:sp>
      <p:sp>
        <p:nvSpPr>
          <p:cNvPr id="27" name="Shape 25"/>
          <p:cNvSpPr/>
          <p:nvPr/>
        </p:nvSpPr>
        <p:spPr>
          <a:xfrm>
            <a:off x="457200" y="3767328"/>
            <a:ext cx="4069080" cy="1051560"/>
          </a:xfrm>
          <a:prstGeom prst="rect">
            <a:avLst/>
          </a:prstGeom>
          <a:solidFill>
            <a:srgbClr val="1A2B42"/>
          </a:solidFill>
          <a:ln w="9525">
            <a:solidFill>
              <a:srgbClr val="1F3050"/>
            </a:solidFill>
            <a:prstDash val="solid"/>
          </a:ln>
          <a:effectLst>
            <a:outerShdw blurRad="101600" dist="25400" dir="8100000" algn="bl" rotWithShape="0">
              <a:srgbClr val="000000">
                <a:alpha val="30000"/>
              </a:srgbClr>
            </a:outerShdw>
          </a:effectLst>
        </p:spPr>
        <p:txBody>
          <a:bodyPr/>
          <a:lstStyle/>
          <a:p>
            <a:endParaRPr lang="hu-HU"/>
          </a:p>
        </p:txBody>
      </p:sp>
      <p:sp>
        <p:nvSpPr>
          <p:cNvPr id="28" name="Shape 26"/>
          <p:cNvSpPr/>
          <p:nvPr/>
        </p:nvSpPr>
        <p:spPr>
          <a:xfrm>
            <a:off x="457200" y="3767328"/>
            <a:ext cx="45720" cy="1051560"/>
          </a:xfrm>
          <a:prstGeom prst="rect">
            <a:avLst/>
          </a:prstGeom>
          <a:solidFill>
            <a:srgbClr val="E9A227"/>
          </a:solidFill>
          <a:ln w="12700">
            <a:solidFill>
              <a:srgbClr val="E9A227"/>
            </a:solidFill>
            <a:prstDash val="solid"/>
          </a:ln>
        </p:spPr>
        <p:txBody>
          <a:bodyPr/>
          <a:lstStyle/>
          <a:p>
            <a:endParaRPr lang="hu-HU"/>
          </a:p>
        </p:txBody>
      </p:sp>
      <p:sp>
        <p:nvSpPr>
          <p:cNvPr id="29" name="Text 27"/>
          <p:cNvSpPr/>
          <p:nvPr/>
        </p:nvSpPr>
        <p:spPr>
          <a:xfrm>
            <a:off x="621792" y="3858768"/>
            <a:ext cx="3749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marL="0" indent="0">
              <a:buNone/>
            </a:pPr>
            <a:r>
              <a:rPr lang="en-US" sz="135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Szervizek listázása és böngészése</a:t>
            </a:r>
            <a:endParaRPr lang="en-US" sz="1350" dirty="0"/>
          </a:p>
        </p:txBody>
      </p:sp>
      <p:sp>
        <p:nvSpPr>
          <p:cNvPr id="30" name="Shape 28"/>
          <p:cNvSpPr/>
          <p:nvPr/>
        </p:nvSpPr>
        <p:spPr>
          <a:xfrm>
            <a:off x="621792" y="4315968"/>
            <a:ext cx="3566160" cy="36576"/>
          </a:xfrm>
          <a:prstGeom prst="rect">
            <a:avLst/>
          </a:prstGeom>
          <a:solidFill>
            <a:srgbClr val="E9A227"/>
          </a:solidFill>
          <a:ln w="12700">
            <a:solidFill>
              <a:srgbClr val="E9A227"/>
            </a:solidFill>
            <a:prstDash val="solid"/>
          </a:ln>
        </p:spPr>
        <p:txBody>
          <a:bodyPr/>
          <a:lstStyle/>
          <a:p>
            <a:endParaRPr lang="hu-HU"/>
          </a:p>
        </p:txBody>
      </p:sp>
      <p:sp>
        <p:nvSpPr>
          <p:cNvPr id="31" name="Text 29"/>
          <p:cNvSpPr/>
          <p:nvPr/>
        </p:nvSpPr>
        <p:spPr>
          <a:xfrm>
            <a:off x="621792" y="4407408"/>
            <a:ext cx="3749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C5D5E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Szerviz adminisztrációs felület</a:t>
            </a:r>
            <a:endParaRPr lang="en-US" sz="1050" dirty="0"/>
          </a:p>
        </p:txBody>
      </p:sp>
      <p:sp>
        <p:nvSpPr>
          <p:cNvPr id="32" name="Shape 30"/>
          <p:cNvSpPr/>
          <p:nvPr/>
        </p:nvSpPr>
        <p:spPr>
          <a:xfrm>
            <a:off x="4754880" y="3767328"/>
            <a:ext cx="4069080" cy="1051560"/>
          </a:xfrm>
          <a:prstGeom prst="rect">
            <a:avLst/>
          </a:prstGeom>
          <a:solidFill>
            <a:srgbClr val="1A2B42"/>
          </a:solidFill>
          <a:ln w="9525">
            <a:solidFill>
              <a:srgbClr val="1F3050"/>
            </a:solidFill>
            <a:prstDash val="solid"/>
          </a:ln>
          <a:effectLst>
            <a:outerShdw blurRad="101600" dist="25400" dir="8100000" algn="bl" rotWithShape="0">
              <a:srgbClr val="000000">
                <a:alpha val="30000"/>
              </a:srgbClr>
            </a:outerShdw>
          </a:effectLst>
        </p:spPr>
        <p:txBody>
          <a:bodyPr/>
          <a:lstStyle/>
          <a:p>
            <a:endParaRPr lang="hu-HU"/>
          </a:p>
        </p:txBody>
      </p:sp>
      <p:sp>
        <p:nvSpPr>
          <p:cNvPr id="33" name="Shape 31"/>
          <p:cNvSpPr/>
          <p:nvPr/>
        </p:nvSpPr>
        <p:spPr>
          <a:xfrm>
            <a:off x="4754880" y="3767328"/>
            <a:ext cx="45720" cy="1051560"/>
          </a:xfrm>
          <a:prstGeom prst="rect">
            <a:avLst/>
          </a:prstGeom>
          <a:solidFill>
            <a:srgbClr val="E9A227"/>
          </a:solidFill>
          <a:ln w="12700">
            <a:solidFill>
              <a:srgbClr val="E9A227"/>
            </a:solidFill>
            <a:prstDash val="solid"/>
          </a:ln>
        </p:spPr>
        <p:txBody>
          <a:bodyPr/>
          <a:lstStyle/>
          <a:p>
            <a:endParaRPr lang="hu-HU"/>
          </a:p>
        </p:txBody>
      </p:sp>
      <p:sp>
        <p:nvSpPr>
          <p:cNvPr id="34" name="Text 32"/>
          <p:cNvSpPr/>
          <p:nvPr/>
        </p:nvSpPr>
        <p:spPr>
          <a:xfrm>
            <a:off x="4919472" y="3858768"/>
            <a:ext cx="3749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marL="0" indent="0">
              <a:buNone/>
            </a:pPr>
            <a:r>
              <a:rPr lang="en-US" sz="135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Rendelési státusz módosítása</a:t>
            </a:r>
            <a:endParaRPr lang="en-US" sz="1350" dirty="0"/>
          </a:p>
        </p:txBody>
      </p:sp>
      <p:sp>
        <p:nvSpPr>
          <p:cNvPr id="35" name="Shape 33"/>
          <p:cNvSpPr/>
          <p:nvPr/>
        </p:nvSpPr>
        <p:spPr>
          <a:xfrm>
            <a:off x="4919472" y="4315968"/>
            <a:ext cx="3566160" cy="36576"/>
          </a:xfrm>
          <a:prstGeom prst="rect">
            <a:avLst/>
          </a:prstGeom>
          <a:solidFill>
            <a:srgbClr val="E9A227"/>
          </a:solidFill>
          <a:ln w="12700">
            <a:solidFill>
              <a:srgbClr val="E9A227"/>
            </a:solidFill>
            <a:prstDash val="solid"/>
          </a:ln>
        </p:spPr>
        <p:txBody>
          <a:bodyPr/>
          <a:lstStyle/>
          <a:p>
            <a:endParaRPr lang="hu-HU"/>
          </a:p>
        </p:txBody>
      </p:sp>
      <p:sp>
        <p:nvSpPr>
          <p:cNvPr id="36" name="Text 34"/>
          <p:cNvSpPr/>
          <p:nvPr/>
        </p:nvSpPr>
        <p:spPr>
          <a:xfrm>
            <a:off x="4919472" y="4407408"/>
            <a:ext cx="3749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C5D5E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Order state machine</a:t>
            </a:r>
            <a:endParaRPr lang="en-US" sz="105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B162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56032"/>
            <a:ext cx="54864" cy="713232"/>
          </a:xfrm>
          <a:prstGeom prst="rect">
            <a:avLst/>
          </a:prstGeom>
          <a:solidFill>
            <a:srgbClr val="E9A227"/>
          </a:solidFill>
          <a:ln w="12700">
            <a:solidFill>
              <a:srgbClr val="E9A227"/>
            </a:solidFill>
            <a:prstDash val="solid"/>
          </a:ln>
        </p:spPr>
        <p:txBody>
          <a:bodyPr/>
          <a:lstStyle/>
          <a:p>
            <a:endParaRPr lang="hu-HU"/>
          </a:p>
        </p:txBody>
      </p:sp>
      <p:sp>
        <p:nvSpPr>
          <p:cNvPr id="3" name="Text 1"/>
          <p:cNvSpPr/>
          <p:nvPr/>
        </p:nvSpPr>
        <p:spPr>
          <a:xfrm>
            <a:off x="658368" y="201168"/>
            <a:ext cx="80467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rgbClr val="FFFFFF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Jövőbeli Továbbfejlesztések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0" y="1097280"/>
            <a:ext cx="9144000" cy="16459"/>
          </a:xfrm>
          <a:prstGeom prst="rect">
            <a:avLst/>
          </a:prstGeom>
          <a:solidFill>
            <a:srgbClr val="1F3050"/>
          </a:solidFill>
          <a:ln w="12700">
            <a:solidFill>
              <a:srgbClr val="1F3050"/>
            </a:solidFill>
            <a:prstDash val="solid"/>
          </a:ln>
        </p:spPr>
        <p:txBody>
          <a:bodyPr/>
          <a:lstStyle/>
          <a:p>
            <a:endParaRPr lang="hu-HU"/>
          </a:p>
        </p:txBody>
      </p:sp>
      <p:sp>
        <p:nvSpPr>
          <p:cNvPr id="5" name="Shape 3"/>
          <p:cNvSpPr/>
          <p:nvPr/>
        </p:nvSpPr>
        <p:spPr>
          <a:xfrm>
            <a:off x="0" y="5102352"/>
            <a:ext cx="9144000" cy="41148"/>
          </a:xfrm>
          <a:prstGeom prst="rect">
            <a:avLst/>
          </a:prstGeom>
          <a:solidFill>
            <a:srgbClr val="1F3050"/>
          </a:solidFill>
          <a:ln w="12700">
            <a:solidFill>
              <a:srgbClr val="1F3050"/>
            </a:solidFill>
            <a:prstDash val="solid"/>
          </a:ln>
        </p:spPr>
        <p:txBody>
          <a:bodyPr/>
          <a:lstStyle/>
          <a:p>
            <a:endParaRPr lang="hu-HU"/>
          </a:p>
        </p:txBody>
      </p:sp>
      <p:sp>
        <p:nvSpPr>
          <p:cNvPr id="7" name="Shape 5"/>
          <p:cNvSpPr/>
          <p:nvPr/>
        </p:nvSpPr>
        <p:spPr>
          <a:xfrm>
            <a:off x="457200" y="1280160"/>
            <a:ext cx="8229600" cy="621792"/>
          </a:xfrm>
          <a:prstGeom prst="rect">
            <a:avLst/>
          </a:prstGeom>
          <a:solidFill>
            <a:srgbClr val="1A2B42"/>
          </a:solidFill>
          <a:ln w="9525">
            <a:solidFill>
              <a:srgbClr val="1F3050"/>
            </a:solidFill>
            <a:prstDash val="solid"/>
          </a:ln>
          <a:effectLst>
            <a:outerShdw blurRad="101600" dist="25400" dir="8100000" algn="bl" rotWithShape="0">
              <a:srgbClr val="000000">
                <a:alpha val="30000"/>
              </a:srgbClr>
            </a:outerShdw>
          </a:effectLst>
        </p:spPr>
        <p:txBody>
          <a:bodyPr/>
          <a:lstStyle/>
          <a:p>
            <a:endParaRPr lang="hu-HU"/>
          </a:p>
        </p:txBody>
      </p:sp>
      <p:sp>
        <p:nvSpPr>
          <p:cNvPr id="8" name="Shape 6"/>
          <p:cNvSpPr/>
          <p:nvPr/>
        </p:nvSpPr>
        <p:spPr>
          <a:xfrm>
            <a:off x="457200" y="1280160"/>
            <a:ext cx="45720" cy="621792"/>
          </a:xfrm>
          <a:prstGeom prst="rect">
            <a:avLst/>
          </a:prstGeom>
          <a:solidFill>
            <a:srgbClr val="E9A227"/>
          </a:solidFill>
          <a:ln w="12700">
            <a:solidFill>
              <a:srgbClr val="E9A227"/>
            </a:solidFill>
            <a:prstDash val="solid"/>
          </a:ln>
        </p:spPr>
        <p:txBody>
          <a:bodyPr/>
          <a:lstStyle/>
          <a:p>
            <a:endParaRPr lang="hu-HU"/>
          </a:p>
        </p:txBody>
      </p:sp>
      <p:sp>
        <p:nvSpPr>
          <p:cNvPr id="9" name="Shape 7"/>
          <p:cNvSpPr/>
          <p:nvPr/>
        </p:nvSpPr>
        <p:spPr>
          <a:xfrm>
            <a:off x="658368" y="1481328"/>
            <a:ext cx="219456" cy="219456"/>
          </a:xfrm>
          <a:prstGeom prst="ellipse">
            <a:avLst/>
          </a:prstGeom>
          <a:solidFill>
            <a:srgbClr val="E9A227"/>
          </a:solidFill>
          <a:ln w="12700">
            <a:solidFill>
              <a:srgbClr val="E9A227"/>
            </a:solidFill>
            <a:prstDash val="solid"/>
          </a:ln>
        </p:spPr>
        <p:txBody>
          <a:bodyPr/>
          <a:lstStyle/>
          <a:p>
            <a:endParaRPr lang="hu-HU"/>
          </a:p>
        </p:txBody>
      </p:sp>
      <p:sp>
        <p:nvSpPr>
          <p:cNvPr id="10" name="Text 8"/>
          <p:cNvSpPr/>
          <p:nvPr/>
        </p:nvSpPr>
        <p:spPr>
          <a:xfrm>
            <a:off x="1024128" y="1353312"/>
            <a:ext cx="745236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50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Online fizetési integráció</a:t>
            </a:r>
            <a:endParaRPr lang="en-US" sz="1450" dirty="0"/>
          </a:p>
        </p:txBody>
      </p:sp>
      <p:sp>
        <p:nvSpPr>
          <p:cNvPr id="11" name="Shape 9"/>
          <p:cNvSpPr/>
          <p:nvPr/>
        </p:nvSpPr>
        <p:spPr>
          <a:xfrm>
            <a:off x="457200" y="2039112"/>
            <a:ext cx="8229600" cy="621792"/>
          </a:xfrm>
          <a:prstGeom prst="rect">
            <a:avLst/>
          </a:prstGeom>
          <a:solidFill>
            <a:srgbClr val="1A2B42"/>
          </a:solidFill>
          <a:ln w="9525">
            <a:solidFill>
              <a:srgbClr val="1F3050"/>
            </a:solidFill>
            <a:prstDash val="solid"/>
          </a:ln>
          <a:effectLst>
            <a:outerShdw blurRad="101600" dist="25400" dir="8100000" algn="bl" rotWithShape="0">
              <a:srgbClr val="000000">
                <a:alpha val="30000"/>
              </a:srgbClr>
            </a:outerShdw>
          </a:effectLst>
        </p:spPr>
        <p:txBody>
          <a:bodyPr/>
          <a:lstStyle/>
          <a:p>
            <a:endParaRPr lang="hu-HU"/>
          </a:p>
        </p:txBody>
      </p:sp>
      <p:sp>
        <p:nvSpPr>
          <p:cNvPr id="12" name="Shape 10"/>
          <p:cNvSpPr/>
          <p:nvPr/>
        </p:nvSpPr>
        <p:spPr>
          <a:xfrm>
            <a:off x="457200" y="2039112"/>
            <a:ext cx="45720" cy="621792"/>
          </a:xfrm>
          <a:prstGeom prst="rect">
            <a:avLst/>
          </a:prstGeom>
          <a:solidFill>
            <a:srgbClr val="E9A227"/>
          </a:solidFill>
          <a:ln w="12700">
            <a:solidFill>
              <a:srgbClr val="E9A227"/>
            </a:solidFill>
            <a:prstDash val="solid"/>
          </a:ln>
        </p:spPr>
        <p:txBody>
          <a:bodyPr/>
          <a:lstStyle/>
          <a:p>
            <a:endParaRPr lang="hu-HU"/>
          </a:p>
        </p:txBody>
      </p:sp>
      <p:sp>
        <p:nvSpPr>
          <p:cNvPr id="13" name="Shape 11"/>
          <p:cNvSpPr/>
          <p:nvPr/>
        </p:nvSpPr>
        <p:spPr>
          <a:xfrm>
            <a:off x="658368" y="2240280"/>
            <a:ext cx="219456" cy="219456"/>
          </a:xfrm>
          <a:prstGeom prst="ellipse">
            <a:avLst/>
          </a:prstGeom>
          <a:solidFill>
            <a:srgbClr val="E9A227"/>
          </a:solidFill>
          <a:ln w="12700">
            <a:solidFill>
              <a:srgbClr val="E9A227"/>
            </a:solidFill>
            <a:prstDash val="solid"/>
          </a:ln>
        </p:spPr>
        <p:txBody>
          <a:bodyPr/>
          <a:lstStyle/>
          <a:p>
            <a:endParaRPr lang="hu-HU"/>
          </a:p>
        </p:txBody>
      </p:sp>
      <p:sp>
        <p:nvSpPr>
          <p:cNvPr id="14" name="Text 12"/>
          <p:cNvSpPr/>
          <p:nvPr/>
        </p:nvSpPr>
        <p:spPr>
          <a:xfrm>
            <a:off x="1024128" y="2112264"/>
            <a:ext cx="745236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50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Valódi email értesítések</a:t>
            </a:r>
            <a:endParaRPr lang="en-US" sz="1450" dirty="0"/>
          </a:p>
        </p:txBody>
      </p:sp>
      <p:sp>
        <p:nvSpPr>
          <p:cNvPr id="15" name="Shape 13"/>
          <p:cNvSpPr/>
          <p:nvPr/>
        </p:nvSpPr>
        <p:spPr>
          <a:xfrm>
            <a:off x="457200" y="2798064"/>
            <a:ext cx="8229600" cy="621792"/>
          </a:xfrm>
          <a:prstGeom prst="rect">
            <a:avLst/>
          </a:prstGeom>
          <a:solidFill>
            <a:srgbClr val="1A2B42"/>
          </a:solidFill>
          <a:ln w="9525">
            <a:solidFill>
              <a:srgbClr val="1F3050"/>
            </a:solidFill>
            <a:prstDash val="solid"/>
          </a:ln>
          <a:effectLst>
            <a:outerShdw blurRad="101600" dist="25400" dir="8100000" algn="bl" rotWithShape="0">
              <a:srgbClr val="000000">
                <a:alpha val="30000"/>
              </a:srgbClr>
            </a:outerShdw>
          </a:effectLst>
        </p:spPr>
        <p:txBody>
          <a:bodyPr/>
          <a:lstStyle/>
          <a:p>
            <a:endParaRPr lang="hu-HU"/>
          </a:p>
        </p:txBody>
      </p:sp>
      <p:sp>
        <p:nvSpPr>
          <p:cNvPr id="16" name="Shape 14"/>
          <p:cNvSpPr/>
          <p:nvPr/>
        </p:nvSpPr>
        <p:spPr>
          <a:xfrm>
            <a:off x="457200" y="2798064"/>
            <a:ext cx="45720" cy="621792"/>
          </a:xfrm>
          <a:prstGeom prst="rect">
            <a:avLst/>
          </a:prstGeom>
          <a:solidFill>
            <a:srgbClr val="E9A227"/>
          </a:solidFill>
          <a:ln w="12700">
            <a:solidFill>
              <a:srgbClr val="E9A227"/>
            </a:solidFill>
            <a:prstDash val="solid"/>
          </a:ln>
        </p:spPr>
        <p:txBody>
          <a:bodyPr/>
          <a:lstStyle/>
          <a:p>
            <a:endParaRPr lang="hu-HU"/>
          </a:p>
        </p:txBody>
      </p:sp>
      <p:sp>
        <p:nvSpPr>
          <p:cNvPr id="17" name="Shape 15"/>
          <p:cNvSpPr/>
          <p:nvPr/>
        </p:nvSpPr>
        <p:spPr>
          <a:xfrm>
            <a:off x="658368" y="2999232"/>
            <a:ext cx="219456" cy="219456"/>
          </a:xfrm>
          <a:prstGeom prst="ellipse">
            <a:avLst/>
          </a:prstGeom>
          <a:solidFill>
            <a:srgbClr val="E9A227"/>
          </a:solidFill>
          <a:ln w="12700">
            <a:solidFill>
              <a:srgbClr val="E9A227"/>
            </a:solidFill>
            <a:prstDash val="solid"/>
          </a:ln>
        </p:spPr>
        <p:txBody>
          <a:bodyPr/>
          <a:lstStyle/>
          <a:p>
            <a:endParaRPr lang="hu-HU"/>
          </a:p>
        </p:txBody>
      </p:sp>
      <p:sp>
        <p:nvSpPr>
          <p:cNvPr id="18" name="Text 16"/>
          <p:cNvSpPr/>
          <p:nvPr/>
        </p:nvSpPr>
        <p:spPr>
          <a:xfrm>
            <a:off x="1024128" y="2871216"/>
            <a:ext cx="745236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50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Megfelelő megrendeléskezelés</a:t>
            </a:r>
            <a:endParaRPr lang="en-US" sz="1450" dirty="0"/>
          </a:p>
        </p:txBody>
      </p:sp>
      <p:sp>
        <p:nvSpPr>
          <p:cNvPr id="19" name="Shape 17"/>
          <p:cNvSpPr/>
          <p:nvPr/>
        </p:nvSpPr>
        <p:spPr>
          <a:xfrm>
            <a:off x="457200" y="3557016"/>
            <a:ext cx="8229600" cy="621792"/>
          </a:xfrm>
          <a:prstGeom prst="rect">
            <a:avLst/>
          </a:prstGeom>
          <a:solidFill>
            <a:srgbClr val="1A2B42"/>
          </a:solidFill>
          <a:ln w="9525">
            <a:solidFill>
              <a:srgbClr val="1F3050"/>
            </a:solidFill>
            <a:prstDash val="solid"/>
          </a:ln>
          <a:effectLst>
            <a:outerShdw blurRad="101600" dist="25400" dir="8100000" algn="bl" rotWithShape="0">
              <a:srgbClr val="000000">
                <a:alpha val="30000"/>
              </a:srgbClr>
            </a:outerShdw>
          </a:effectLst>
        </p:spPr>
        <p:txBody>
          <a:bodyPr/>
          <a:lstStyle/>
          <a:p>
            <a:endParaRPr lang="hu-HU"/>
          </a:p>
        </p:txBody>
      </p:sp>
      <p:sp>
        <p:nvSpPr>
          <p:cNvPr id="20" name="Shape 18"/>
          <p:cNvSpPr/>
          <p:nvPr/>
        </p:nvSpPr>
        <p:spPr>
          <a:xfrm>
            <a:off x="457200" y="3557016"/>
            <a:ext cx="45720" cy="621792"/>
          </a:xfrm>
          <a:prstGeom prst="rect">
            <a:avLst/>
          </a:prstGeom>
          <a:solidFill>
            <a:srgbClr val="E9A227"/>
          </a:solidFill>
          <a:ln w="12700">
            <a:solidFill>
              <a:srgbClr val="E9A227"/>
            </a:solidFill>
            <a:prstDash val="solid"/>
          </a:ln>
        </p:spPr>
        <p:txBody>
          <a:bodyPr/>
          <a:lstStyle/>
          <a:p>
            <a:endParaRPr lang="hu-HU"/>
          </a:p>
        </p:txBody>
      </p:sp>
      <p:sp>
        <p:nvSpPr>
          <p:cNvPr id="21" name="Shape 19"/>
          <p:cNvSpPr/>
          <p:nvPr/>
        </p:nvSpPr>
        <p:spPr>
          <a:xfrm>
            <a:off x="658368" y="3758184"/>
            <a:ext cx="219456" cy="219456"/>
          </a:xfrm>
          <a:prstGeom prst="ellipse">
            <a:avLst/>
          </a:prstGeom>
          <a:solidFill>
            <a:srgbClr val="E9A227"/>
          </a:solidFill>
          <a:ln w="12700">
            <a:solidFill>
              <a:srgbClr val="E9A227"/>
            </a:solidFill>
            <a:prstDash val="solid"/>
          </a:ln>
        </p:spPr>
        <p:txBody>
          <a:bodyPr/>
          <a:lstStyle/>
          <a:p>
            <a:endParaRPr lang="hu-HU"/>
          </a:p>
        </p:txBody>
      </p:sp>
      <p:sp>
        <p:nvSpPr>
          <p:cNvPr id="22" name="Text 20"/>
          <p:cNvSpPr/>
          <p:nvPr/>
        </p:nvSpPr>
        <p:spPr>
          <a:xfrm>
            <a:off x="1024128" y="3630168"/>
            <a:ext cx="745236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50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Adminisztrátori felület funkcióinak továbbfejlesztése</a:t>
            </a:r>
            <a:endParaRPr lang="en-US" sz="1450" dirty="0"/>
          </a:p>
        </p:txBody>
      </p:sp>
      <p:sp>
        <p:nvSpPr>
          <p:cNvPr id="23" name="Shape 21"/>
          <p:cNvSpPr/>
          <p:nvPr/>
        </p:nvSpPr>
        <p:spPr>
          <a:xfrm>
            <a:off x="457200" y="4315968"/>
            <a:ext cx="8229600" cy="621792"/>
          </a:xfrm>
          <a:prstGeom prst="rect">
            <a:avLst/>
          </a:prstGeom>
          <a:solidFill>
            <a:srgbClr val="1A2B42"/>
          </a:solidFill>
          <a:ln w="9525">
            <a:solidFill>
              <a:srgbClr val="1F3050"/>
            </a:solidFill>
            <a:prstDash val="solid"/>
          </a:ln>
          <a:effectLst>
            <a:outerShdw blurRad="101600" dist="25400" dir="8100000" algn="bl" rotWithShape="0">
              <a:srgbClr val="000000">
                <a:alpha val="30000"/>
              </a:srgbClr>
            </a:outerShdw>
          </a:effectLst>
        </p:spPr>
        <p:txBody>
          <a:bodyPr/>
          <a:lstStyle/>
          <a:p>
            <a:endParaRPr lang="hu-HU"/>
          </a:p>
        </p:txBody>
      </p:sp>
      <p:sp>
        <p:nvSpPr>
          <p:cNvPr id="24" name="Shape 22"/>
          <p:cNvSpPr/>
          <p:nvPr/>
        </p:nvSpPr>
        <p:spPr>
          <a:xfrm>
            <a:off x="457200" y="4315968"/>
            <a:ext cx="45720" cy="621792"/>
          </a:xfrm>
          <a:prstGeom prst="rect">
            <a:avLst/>
          </a:prstGeom>
          <a:solidFill>
            <a:srgbClr val="E9A227"/>
          </a:solidFill>
          <a:ln w="12700">
            <a:solidFill>
              <a:srgbClr val="E9A227"/>
            </a:solidFill>
            <a:prstDash val="solid"/>
          </a:ln>
        </p:spPr>
        <p:txBody>
          <a:bodyPr/>
          <a:lstStyle/>
          <a:p>
            <a:endParaRPr lang="hu-HU"/>
          </a:p>
        </p:txBody>
      </p:sp>
      <p:sp>
        <p:nvSpPr>
          <p:cNvPr id="25" name="Shape 23"/>
          <p:cNvSpPr/>
          <p:nvPr/>
        </p:nvSpPr>
        <p:spPr>
          <a:xfrm>
            <a:off x="658368" y="4517136"/>
            <a:ext cx="219456" cy="219456"/>
          </a:xfrm>
          <a:prstGeom prst="ellipse">
            <a:avLst/>
          </a:prstGeom>
          <a:solidFill>
            <a:srgbClr val="E9A227"/>
          </a:solidFill>
          <a:ln w="12700">
            <a:solidFill>
              <a:srgbClr val="E9A227"/>
            </a:solidFill>
            <a:prstDash val="solid"/>
          </a:ln>
        </p:spPr>
        <p:txBody>
          <a:bodyPr/>
          <a:lstStyle/>
          <a:p>
            <a:endParaRPr lang="hu-HU"/>
          </a:p>
        </p:txBody>
      </p:sp>
      <p:sp>
        <p:nvSpPr>
          <p:cNvPr id="26" name="Text 24"/>
          <p:cNvSpPr/>
          <p:nvPr/>
        </p:nvSpPr>
        <p:spPr>
          <a:xfrm>
            <a:off x="1024128" y="4389120"/>
            <a:ext cx="745236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50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Szerviz felület továbbfejlesztése</a:t>
            </a:r>
            <a:endParaRPr lang="en-US" sz="145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B162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56032"/>
            <a:ext cx="54864" cy="713232"/>
          </a:xfrm>
          <a:prstGeom prst="rect">
            <a:avLst/>
          </a:prstGeom>
          <a:solidFill>
            <a:srgbClr val="E9A227"/>
          </a:solidFill>
          <a:ln w="12700">
            <a:solidFill>
              <a:srgbClr val="E9A227"/>
            </a:solidFill>
            <a:prstDash val="solid"/>
          </a:ln>
        </p:spPr>
        <p:txBody>
          <a:bodyPr/>
          <a:lstStyle/>
          <a:p>
            <a:endParaRPr lang="hu-HU"/>
          </a:p>
        </p:txBody>
      </p:sp>
      <p:sp>
        <p:nvSpPr>
          <p:cNvPr id="3" name="Text 1"/>
          <p:cNvSpPr/>
          <p:nvPr/>
        </p:nvSpPr>
        <p:spPr>
          <a:xfrm>
            <a:off x="658368" y="201168"/>
            <a:ext cx="80467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rgbClr val="FFFFFF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Munkamegosztás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0" y="1097280"/>
            <a:ext cx="9144000" cy="16459"/>
          </a:xfrm>
          <a:prstGeom prst="rect">
            <a:avLst/>
          </a:prstGeom>
          <a:solidFill>
            <a:srgbClr val="1F3050"/>
          </a:solidFill>
          <a:ln w="12700">
            <a:solidFill>
              <a:srgbClr val="1F3050"/>
            </a:solidFill>
            <a:prstDash val="solid"/>
          </a:ln>
        </p:spPr>
        <p:txBody>
          <a:bodyPr/>
          <a:lstStyle/>
          <a:p>
            <a:endParaRPr lang="hu-HU"/>
          </a:p>
        </p:txBody>
      </p:sp>
      <p:sp>
        <p:nvSpPr>
          <p:cNvPr id="5" name="Shape 3"/>
          <p:cNvSpPr/>
          <p:nvPr/>
        </p:nvSpPr>
        <p:spPr>
          <a:xfrm>
            <a:off x="0" y="5102352"/>
            <a:ext cx="9144000" cy="41148"/>
          </a:xfrm>
          <a:prstGeom prst="rect">
            <a:avLst/>
          </a:prstGeom>
          <a:solidFill>
            <a:srgbClr val="1F3050"/>
          </a:solidFill>
          <a:ln w="12700">
            <a:solidFill>
              <a:srgbClr val="1F3050"/>
            </a:solidFill>
            <a:prstDash val="solid"/>
          </a:ln>
        </p:spPr>
        <p:txBody>
          <a:bodyPr/>
          <a:lstStyle/>
          <a:p>
            <a:endParaRPr lang="hu-HU"/>
          </a:p>
        </p:txBody>
      </p:sp>
      <p:sp>
        <p:nvSpPr>
          <p:cNvPr id="7" name="Shape 5"/>
          <p:cNvSpPr/>
          <p:nvPr/>
        </p:nvSpPr>
        <p:spPr>
          <a:xfrm>
            <a:off x="384048" y="1234440"/>
            <a:ext cx="2697480" cy="3611880"/>
          </a:xfrm>
          <a:prstGeom prst="rect">
            <a:avLst/>
          </a:prstGeom>
          <a:solidFill>
            <a:srgbClr val="1A2B42"/>
          </a:solidFill>
          <a:ln w="9525">
            <a:solidFill>
              <a:srgbClr val="1F3050"/>
            </a:solidFill>
            <a:prstDash val="solid"/>
          </a:ln>
          <a:effectLst>
            <a:outerShdw blurRad="101600" dist="25400" dir="8100000" algn="bl" rotWithShape="0">
              <a:srgbClr val="000000">
                <a:alpha val="30000"/>
              </a:srgbClr>
            </a:outerShdw>
          </a:effectLst>
        </p:spPr>
        <p:txBody>
          <a:bodyPr/>
          <a:lstStyle/>
          <a:p>
            <a:endParaRPr lang="hu-HU"/>
          </a:p>
        </p:txBody>
      </p:sp>
      <p:sp>
        <p:nvSpPr>
          <p:cNvPr id="8" name="Shape 6"/>
          <p:cNvSpPr/>
          <p:nvPr/>
        </p:nvSpPr>
        <p:spPr>
          <a:xfrm>
            <a:off x="384048" y="1234440"/>
            <a:ext cx="2697480" cy="566928"/>
          </a:xfrm>
          <a:prstGeom prst="rect">
            <a:avLst/>
          </a:prstGeom>
          <a:solidFill>
            <a:srgbClr val="E9A227"/>
          </a:solidFill>
          <a:ln w="12700">
            <a:solidFill>
              <a:srgbClr val="E9A227"/>
            </a:solidFill>
            <a:prstDash val="solid"/>
          </a:ln>
        </p:spPr>
        <p:txBody>
          <a:bodyPr/>
          <a:lstStyle/>
          <a:p>
            <a:endParaRPr lang="hu-HU"/>
          </a:p>
        </p:txBody>
      </p:sp>
      <p:sp>
        <p:nvSpPr>
          <p:cNvPr id="9" name="Text 7"/>
          <p:cNvSpPr/>
          <p:nvPr/>
        </p:nvSpPr>
        <p:spPr>
          <a:xfrm>
            <a:off x="512064" y="1252728"/>
            <a:ext cx="244144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0B1628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Ádám</a:t>
            </a:r>
            <a:endParaRPr lang="en-US" sz="1500" dirty="0"/>
          </a:p>
        </p:txBody>
      </p:sp>
      <p:sp>
        <p:nvSpPr>
          <p:cNvPr id="10" name="Text 8"/>
          <p:cNvSpPr/>
          <p:nvPr/>
        </p:nvSpPr>
        <p:spPr>
          <a:xfrm>
            <a:off x="512064" y="1581912"/>
            <a:ext cx="244144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0B162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Frontend Developer</a:t>
            </a:r>
            <a:endParaRPr lang="en-US" sz="900" dirty="0"/>
          </a:p>
        </p:txBody>
      </p:sp>
      <p:sp>
        <p:nvSpPr>
          <p:cNvPr id="11" name="Shape 9"/>
          <p:cNvSpPr/>
          <p:nvPr/>
        </p:nvSpPr>
        <p:spPr>
          <a:xfrm>
            <a:off x="530352" y="2084832"/>
            <a:ext cx="82296" cy="82296"/>
          </a:xfrm>
          <a:prstGeom prst="rect">
            <a:avLst/>
          </a:prstGeom>
          <a:solidFill>
            <a:srgbClr val="E9A227"/>
          </a:solidFill>
          <a:ln w="12700">
            <a:solidFill>
              <a:srgbClr val="E9A227"/>
            </a:solidFill>
            <a:prstDash val="solid"/>
          </a:ln>
        </p:spPr>
        <p:txBody>
          <a:bodyPr/>
          <a:lstStyle/>
          <a:p>
            <a:endParaRPr lang="hu-HU"/>
          </a:p>
        </p:txBody>
      </p:sp>
      <p:sp>
        <p:nvSpPr>
          <p:cNvPr id="12" name="Text 10"/>
          <p:cNvSpPr/>
          <p:nvPr/>
        </p:nvSpPr>
        <p:spPr>
          <a:xfrm>
            <a:off x="694944" y="1947672"/>
            <a:ext cx="2231136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C5D5E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Frontend fejlesztés (React)</a:t>
            </a:r>
            <a:endParaRPr lang="en-US" sz="1150" dirty="0"/>
          </a:p>
        </p:txBody>
      </p:sp>
      <p:sp>
        <p:nvSpPr>
          <p:cNvPr id="13" name="Shape 11"/>
          <p:cNvSpPr/>
          <p:nvPr/>
        </p:nvSpPr>
        <p:spPr>
          <a:xfrm>
            <a:off x="530352" y="2560320"/>
            <a:ext cx="82296" cy="82296"/>
          </a:xfrm>
          <a:prstGeom prst="rect">
            <a:avLst/>
          </a:prstGeom>
          <a:solidFill>
            <a:srgbClr val="E9A227"/>
          </a:solidFill>
          <a:ln w="12700">
            <a:solidFill>
              <a:srgbClr val="E9A227"/>
            </a:solidFill>
            <a:prstDash val="solid"/>
          </a:ln>
        </p:spPr>
        <p:txBody>
          <a:bodyPr/>
          <a:lstStyle/>
          <a:p>
            <a:endParaRPr lang="hu-HU"/>
          </a:p>
        </p:txBody>
      </p:sp>
      <p:sp>
        <p:nvSpPr>
          <p:cNvPr id="14" name="Text 12"/>
          <p:cNvSpPr/>
          <p:nvPr/>
        </p:nvSpPr>
        <p:spPr>
          <a:xfrm>
            <a:off x="694944" y="2423160"/>
            <a:ext cx="2231136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C5D5E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API integráció</a:t>
            </a:r>
            <a:endParaRPr lang="en-US" sz="1150" dirty="0"/>
          </a:p>
        </p:txBody>
      </p:sp>
      <p:sp>
        <p:nvSpPr>
          <p:cNvPr id="15" name="Shape 13"/>
          <p:cNvSpPr/>
          <p:nvPr/>
        </p:nvSpPr>
        <p:spPr>
          <a:xfrm>
            <a:off x="530352" y="3035808"/>
            <a:ext cx="82296" cy="82296"/>
          </a:xfrm>
          <a:prstGeom prst="rect">
            <a:avLst/>
          </a:prstGeom>
          <a:solidFill>
            <a:srgbClr val="E9A227"/>
          </a:solidFill>
          <a:ln w="12700">
            <a:solidFill>
              <a:srgbClr val="E9A227"/>
            </a:solidFill>
            <a:prstDash val="solid"/>
          </a:ln>
        </p:spPr>
        <p:txBody>
          <a:bodyPr/>
          <a:lstStyle/>
          <a:p>
            <a:endParaRPr lang="hu-HU"/>
          </a:p>
        </p:txBody>
      </p:sp>
      <p:sp>
        <p:nvSpPr>
          <p:cNvPr id="16" name="Text 14"/>
          <p:cNvSpPr/>
          <p:nvPr/>
        </p:nvSpPr>
        <p:spPr>
          <a:xfrm>
            <a:off x="694944" y="2898648"/>
            <a:ext cx="2231136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C5D5E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Reszponzív (mobile-ready) design</a:t>
            </a:r>
            <a:endParaRPr lang="en-US" sz="1150" dirty="0"/>
          </a:p>
        </p:txBody>
      </p:sp>
      <p:sp>
        <p:nvSpPr>
          <p:cNvPr id="17" name="Shape 15"/>
          <p:cNvSpPr/>
          <p:nvPr/>
        </p:nvSpPr>
        <p:spPr>
          <a:xfrm>
            <a:off x="530352" y="3511296"/>
            <a:ext cx="82296" cy="82296"/>
          </a:xfrm>
          <a:prstGeom prst="rect">
            <a:avLst/>
          </a:prstGeom>
          <a:solidFill>
            <a:srgbClr val="E9A227"/>
          </a:solidFill>
          <a:ln w="12700">
            <a:solidFill>
              <a:srgbClr val="E9A227"/>
            </a:solidFill>
            <a:prstDash val="solid"/>
          </a:ln>
        </p:spPr>
        <p:txBody>
          <a:bodyPr/>
          <a:lstStyle/>
          <a:p>
            <a:endParaRPr lang="hu-HU"/>
          </a:p>
        </p:txBody>
      </p:sp>
      <p:sp>
        <p:nvSpPr>
          <p:cNvPr id="18" name="Text 16"/>
          <p:cNvSpPr/>
          <p:nvPr/>
        </p:nvSpPr>
        <p:spPr>
          <a:xfrm>
            <a:off x="694944" y="3374136"/>
            <a:ext cx="2231136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C5D5E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UI / UX</a:t>
            </a:r>
            <a:endParaRPr lang="en-US" sz="1150" dirty="0"/>
          </a:p>
        </p:txBody>
      </p:sp>
      <p:sp>
        <p:nvSpPr>
          <p:cNvPr id="19" name="Shape 17"/>
          <p:cNvSpPr/>
          <p:nvPr/>
        </p:nvSpPr>
        <p:spPr>
          <a:xfrm>
            <a:off x="530352" y="3986784"/>
            <a:ext cx="82296" cy="82296"/>
          </a:xfrm>
          <a:prstGeom prst="rect">
            <a:avLst/>
          </a:prstGeom>
          <a:solidFill>
            <a:srgbClr val="E9A227"/>
          </a:solidFill>
          <a:ln w="12700">
            <a:solidFill>
              <a:srgbClr val="E9A227"/>
            </a:solidFill>
            <a:prstDash val="solid"/>
          </a:ln>
        </p:spPr>
        <p:txBody>
          <a:bodyPr/>
          <a:lstStyle/>
          <a:p>
            <a:endParaRPr lang="hu-HU"/>
          </a:p>
        </p:txBody>
      </p:sp>
      <p:sp>
        <p:nvSpPr>
          <p:cNvPr id="20" name="Text 18"/>
          <p:cNvSpPr/>
          <p:nvPr/>
        </p:nvSpPr>
        <p:spPr>
          <a:xfrm>
            <a:off x="694944" y="3849624"/>
            <a:ext cx="2231136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C5D5E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Token és role kezelés a kliens oldalon</a:t>
            </a:r>
            <a:endParaRPr lang="en-US" sz="1150" dirty="0"/>
          </a:p>
        </p:txBody>
      </p:sp>
      <p:sp>
        <p:nvSpPr>
          <p:cNvPr id="21" name="Shape 19"/>
          <p:cNvSpPr/>
          <p:nvPr/>
        </p:nvSpPr>
        <p:spPr>
          <a:xfrm>
            <a:off x="3236976" y="1234440"/>
            <a:ext cx="2697480" cy="3611880"/>
          </a:xfrm>
          <a:prstGeom prst="rect">
            <a:avLst/>
          </a:prstGeom>
          <a:solidFill>
            <a:srgbClr val="1A2B42"/>
          </a:solidFill>
          <a:ln w="9525">
            <a:solidFill>
              <a:srgbClr val="1F3050"/>
            </a:solidFill>
            <a:prstDash val="solid"/>
          </a:ln>
          <a:effectLst>
            <a:outerShdw blurRad="101600" dist="25400" dir="8100000" algn="bl" rotWithShape="0">
              <a:srgbClr val="000000">
                <a:alpha val="30000"/>
              </a:srgbClr>
            </a:outerShdw>
          </a:effectLst>
        </p:spPr>
        <p:txBody>
          <a:bodyPr/>
          <a:lstStyle/>
          <a:p>
            <a:endParaRPr lang="hu-HU"/>
          </a:p>
        </p:txBody>
      </p:sp>
      <p:sp>
        <p:nvSpPr>
          <p:cNvPr id="22" name="Shape 20"/>
          <p:cNvSpPr/>
          <p:nvPr/>
        </p:nvSpPr>
        <p:spPr>
          <a:xfrm>
            <a:off x="3236976" y="1234440"/>
            <a:ext cx="2697480" cy="566928"/>
          </a:xfrm>
          <a:prstGeom prst="rect">
            <a:avLst/>
          </a:prstGeom>
          <a:solidFill>
            <a:srgbClr val="E9A227"/>
          </a:solidFill>
          <a:ln w="12700">
            <a:solidFill>
              <a:srgbClr val="E9A227"/>
            </a:solidFill>
            <a:prstDash val="solid"/>
          </a:ln>
        </p:spPr>
        <p:txBody>
          <a:bodyPr/>
          <a:lstStyle/>
          <a:p>
            <a:endParaRPr lang="hu-HU"/>
          </a:p>
        </p:txBody>
      </p:sp>
      <p:sp>
        <p:nvSpPr>
          <p:cNvPr id="23" name="Text 21"/>
          <p:cNvSpPr/>
          <p:nvPr/>
        </p:nvSpPr>
        <p:spPr>
          <a:xfrm>
            <a:off x="3364992" y="1252728"/>
            <a:ext cx="244144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0B1628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Github &amp; Discord</a:t>
            </a:r>
            <a:endParaRPr lang="en-US" sz="1500" dirty="0"/>
          </a:p>
        </p:txBody>
      </p:sp>
      <p:sp>
        <p:nvSpPr>
          <p:cNvPr id="24" name="Text 22"/>
          <p:cNvSpPr/>
          <p:nvPr/>
        </p:nvSpPr>
        <p:spPr>
          <a:xfrm>
            <a:off x="3364992" y="1581912"/>
            <a:ext cx="244144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0B162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Verziókezelés &amp; Kommunikáció</a:t>
            </a:r>
            <a:endParaRPr lang="en-US" sz="900" dirty="0"/>
          </a:p>
        </p:txBody>
      </p:sp>
      <p:sp>
        <p:nvSpPr>
          <p:cNvPr id="25" name="Shape 23"/>
          <p:cNvSpPr/>
          <p:nvPr/>
        </p:nvSpPr>
        <p:spPr>
          <a:xfrm>
            <a:off x="3383280" y="2084832"/>
            <a:ext cx="82296" cy="82296"/>
          </a:xfrm>
          <a:prstGeom prst="rect">
            <a:avLst/>
          </a:prstGeom>
          <a:solidFill>
            <a:srgbClr val="E9A227"/>
          </a:solidFill>
          <a:ln w="12700">
            <a:solidFill>
              <a:srgbClr val="E9A227"/>
            </a:solidFill>
            <a:prstDash val="solid"/>
          </a:ln>
        </p:spPr>
        <p:txBody>
          <a:bodyPr/>
          <a:lstStyle/>
          <a:p>
            <a:endParaRPr lang="hu-HU"/>
          </a:p>
        </p:txBody>
      </p:sp>
      <p:sp>
        <p:nvSpPr>
          <p:cNvPr id="26" name="Text 24"/>
          <p:cNvSpPr/>
          <p:nvPr/>
        </p:nvSpPr>
        <p:spPr>
          <a:xfrm>
            <a:off x="3547872" y="1947672"/>
            <a:ext cx="2231136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C5D5E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Feladatok megbeszélése</a:t>
            </a:r>
            <a:endParaRPr lang="en-US" sz="1150" dirty="0"/>
          </a:p>
        </p:txBody>
      </p:sp>
      <p:sp>
        <p:nvSpPr>
          <p:cNvPr id="27" name="Shape 25"/>
          <p:cNvSpPr/>
          <p:nvPr/>
        </p:nvSpPr>
        <p:spPr>
          <a:xfrm>
            <a:off x="3383280" y="2560320"/>
            <a:ext cx="82296" cy="82296"/>
          </a:xfrm>
          <a:prstGeom prst="rect">
            <a:avLst/>
          </a:prstGeom>
          <a:solidFill>
            <a:srgbClr val="E9A227"/>
          </a:solidFill>
          <a:ln w="12700">
            <a:solidFill>
              <a:srgbClr val="E9A227"/>
            </a:solidFill>
            <a:prstDash val="solid"/>
          </a:ln>
        </p:spPr>
        <p:txBody>
          <a:bodyPr/>
          <a:lstStyle/>
          <a:p>
            <a:endParaRPr lang="hu-HU"/>
          </a:p>
        </p:txBody>
      </p:sp>
      <p:sp>
        <p:nvSpPr>
          <p:cNvPr id="28" name="Text 26"/>
          <p:cNvSpPr/>
          <p:nvPr/>
        </p:nvSpPr>
        <p:spPr>
          <a:xfrm>
            <a:off x="3547872" y="2423160"/>
            <a:ext cx="2231136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C5D5E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Verziókezelés</a:t>
            </a:r>
            <a:endParaRPr lang="en-US" sz="1150" dirty="0"/>
          </a:p>
        </p:txBody>
      </p:sp>
      <p:sp>
        <p:nvSpPr>
          <p:cNvPr id="29" name="Shape 27"/>
          <p:cNvSpPr/>
          <p:nvPr/>
        </p:nvSpPr>
        <p:spPr>
          <a:xfrm>
            <a:off x="6089904" y="1234440"/>
            <a:ext cx="2697480" cy="3611880"/>
          </a:xfrm>
          <a:prstGeom prst="rect">
            <a:avLst/>
          </a:prstGeom>
          <a:solidFill>
            <a:srgbClr val="1A2B42"/>
          </a:solidFill>
          <a:ln w="9525">
            <a:solidFill>
              <a:srgbClr val="1F3050"/>
            </a:solidFill>
            <a:prstDash val="solid"/>
          </a:ln>
          <a:effectLst>
            <a:outerShdw blurRad="101600" dist="25400" dir="8100000" algn="bl" rotWithShape="0">
              <a:srgbClr val="000000">
                <a:alpha val="30000"/>
              </a:srgbClr>
            </a:outerShdw>
          </a:effectLst>
        </p:spPr>
        <p:txBody>
          <a:bodyPr/>
          <a:lstStyle/>
          <a:p>
            <a:endParaRPr lang="hu-HU"/>
          </a:p>
        </p:txBody>
      </p:sp>
      <p:sp>
        <p:nvSpPr>
          <p:cNvPr id="30" name="Shape 28"/>
          <p:cNvSpPr/>
          <p:nvPr/>
        </p:nvSpPr>
        <p:spPr>
          <a:xfrm>
            <a:off x="6089904" y="1234440"/>
            <a:ext cx="2697480" cy="566928"/>
          </a:xfrm>
          <a:prstGeom prst="rect">
            <a:avLst/>
          </a:prstGeom>
          <a:solidFill>
            <a:srgbClr val="E9A227"/>
          </a:solidFill>
          <a:ln w="12700">
            <a:solidFill>
              <a:srgbClr val="E9A227"/>
            </a:solidFill>
            <a:prstDash val="solid"/>
          </a:ln>
        </p:spPr>
        <p:txBody>
          <a:bodyPr/>
          <a:lstStyle/>
          <a:p>
            <a:endParaRPr lang="hu-HU"/>
          </a:p>
        </p:txBody>
      </p:sp>
      <p:sp>
        <p:nvSpPr>
          <p:cNvPr id="31" name="Text 29"/>
          <p:cNvSpPr/>
          <p:nvPr/>
        </p:nvSpPr>
        <p:spPr>
          <a:xfrm>
            <a:off x="6217920" y="1252728"/>
            <a:ext cx="244144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0B1628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Matyi</a:t>
            </a:r>
            <a:endParaRPr lang="en-US" sz="1500" dirty="0"/>
          </a:p>
        </p:txBody>
      </p:sp>
      <p:sp>
        <p:nvSpPr>
          <p:cNvPr id="32" name="Text 30"/>
          <p:cNvSpPr/>
          <p:nvPr/>
        </p:nvSpPr>
        <p:spPr>
          <a:xfrm>
            <a:off x="6217920" y="1581912"/>
            <a:ext cx="244144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0B162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Backend Developer</a:t>
            </a:r>
            <a:endParaRPr lang="en-US" sz="900" dirty="0"/>
          </a:p>
        </p:txBody>
      </p:sp>
      <p:sp>
        <p:nvSpPr>
          <p:cNvPr id="33" name="Shape 31"/>
          <p:cNvSpPr/>
          <p:nvPr/>
        </p:nvSpPr>
        <p:spPr>
          <a:xfrm>
            <a:off x="6236208" y="2084832"/>
            <a:ext cx="82296" cy="82296"/>
          </a:xfrm>
          <a:prstGeom prst="rect">
            <a:avLst/>
          </a:prstGeom>
          <a:solidFill>
            <a:srgbClr val="E9A227"/>
          </a:solidFill>
          <a:ln w="12700">
            <a:solidFill>
              <a:srgbClr val="E9A227"/>
            </a:solidFill>
            <a:prstDash val="solid"/>
          </a:ln>
        </p:spPr>
        <p:txBody>
          <a:bodyPr/>
          <a:lstStyle/>
          <a:p>
            <a:endParaRPr lang="hu-HU"/>
          </a:p>
        </p:txBody>
      </p:sp>
      <p:sp>
        <p:nvSpPr>
          <p:cNvPr id="34" name="Text 32"/>
          <p:cNvSpPr/>
          <p:nvPr/>
        </p:nvSpPr>
        <p:spPr>
          <a:xfrm>
            <a:off x="6400800" y="1947672"/>
            <a:ext cx="2231136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C5D5E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Backend fejlesztés (Odin)</a:t>
            </a:r>
            <a:endParaRPr lang="en-US" sz="1150" dirty="0"/>
          </a:p>
        </p:txBody>
      </p:sp>
      <p:sp>
        <p:nvSpPr>
          <p:cNvPr id="35" name="Shape 33"/>
          <p:cNvSpPr/>
          <p:nvPr/>
        </p:nvSpPr>
        <p:spPr>
          <a:xfrm>
            <a:off x="6236208" y="2560320"/>
            <a:ext cx="82296" cy="82296"/>
          </a:xfrm>
          <a:prstGeom prst="rect">
            <a:avLst/>
          </a:prstGeom>
          <a:solidFill>
            <a:srgbClr val="E9A227"/>
          </a:solidFill>
          <a:ln w="12700">
            <a:solidFill>
              <a:srgbClr val="E9A227"/>
            </a:solidFill>
            <a:prstDash val="solid"/>
          </a:ln>
        </p:spPr>
        <p:txBody>
          <a:bodyPr/>
          <a:lstStyle/>
          <a:p>
            <a:endParaRPr lang="hu-HU"/>
          </a:p>
        </p:txBody>
      </p:sp>
      <p:sp>
        <p:nvSpPr>
          <p:cNvPr id="36" name="Text 34"/>
          <p:cNvSpPr/>
          <p:nvPr/>
        </p:nvSpPr>
        <p:spPr>
          <a:xfrm>
            <a:off x="6400800" y="2423160"/>
            <a:ext cx="2231136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C5D5E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Adatbázis megtervezése</a:t>
            </a:r>
            <a:endParaRPr lang="en-US" sz="1150" dirty="0"/>
          </a:p>
        </p:txBody>
      </p:sp>
      <p:sp>
        <p:nvSpPr>
          <p:cNvPr id="37" name="Shape 35"/>
          <p:cNvSpPr/>
          <p:nvPr/>
        </p:nvSpPr>
        <p:spPr>
          <a:xfrm>
            <a:off x="6236208" y="3035808"/>
            <a:ext cx="82296" cy="82296"/>
          </a:xfrm>
          <a:prstGeom prst="rect">
            <a:avLst/>
          </a:prstGeom>
          <a:solidFill>
            <a:srgbClr val="E9A227"/>
          </a:solidFill>
          <a:ln w="12700">
            <a:solidFill>
              <a:srgbClr val="E9A227"/>
            </a:solidFill>
            <a:prstDash val="solid"/>
          </a:ln>
        </p:spPr>
        <p:txBody>
          <a:bodyPr/>
          <a:lstStyle/>
          <a:p>
            <a:endParaRPr lang="hu-HU"/>
          </a:p>
        </p:txBody>
      </p:sp>
      <p:sp>
        <p:nvSpPr>
          <p:cNvPr id="38" name="Text 36"/>
          <p:cNvSpPr/>
          <p:nvPr/>
        </p:nvSpPr>
        <p:spPr>
          <a:xfrm>
            <a:off x="6400800" y="2898648"/>
            <a:ext cx="2231136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C5D5E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Admin middleware és végpontok</a:t>
            </a:r>
            <a:endParaRPr lang="en-US" sz="1150" dirty="0"/>
          </a:p>
        </p:txBody>
      </p:sp>
      <p:sp>
        <p:nvSpPr>
          <p:cNvPr id="39" name="Shape 37"/>
          <p:cNvSpPr/>
          <p:nvPr/>
        </p:nvSpPr>
        <p:spPr>
          <a:xfrm>
            <a:off x="6236208" y="3511296"/>
            <a:ext cx="82296" cy="82296"/>
          </a:xfrm>
          <a:prstGeom prst="rect">
            <a:avLst/>
          </a:prstGeom>
          <a:solidFill>
            <a:srgbClr val="E9A227"/>
          </a:solidFill>
          <a:ln w="12700">
            <a:solidFill>
              <a:srgbClr val="E9A227"/>
            </a:solidFill>
            <a:prstDash val="solid"/>
          </a:ln>
        </p:spPr>
        <p:txBody>
          <a:bodyPr/>
          <a:lstStyle/>
          <a:p>
            <a:endParaRPr lang="hu-HU"/>
          </a:p>
        </p:txBody>
      </p:sp>
      <p:sp>
        <p:nvSpPr>
          <p:cNvPr id="40" name="Text 38"/>
          <p:cNvSpPr/>
          <p:nvPr/>
        </p:nvSpPr>
        <p:spPr>
          <a:xfrm>
            <a:off x="6400800" y="3374136"/>
            <a:ext cx="2231136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C5D5E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Autentikáció</a:t>
            </a:r>
            <a:endParaRPr lang="en-US" sz="115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0B162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41148"/>
          </a:xfrm>
          <a:prstGeom prst="rect">
            <a:avLst/>
          </a:prstGeom>
          <a:solidFill>
            <a:srgbClr val="E9A227"/>
          </a:solidFill>
          <a:ln w="12700">
            <a:solidFill>
              <a:srgbClr val="E9A227"/>
            </a:solidFill>
            <a:prstDash val="solid"/>
          </a:ln>
        </p:spPr>
        <p:txBody>
          <a:bodyPr/>
          <a:lstStyle/>
          <a:p>
            <a:endParaRPr lang="hu-HU"/>
          </a:p>
        </p:txBody>
      </p:sp>
      <p:sp>
        <p:nvSpPr>
          <p:cNvPr id="3" name="Shape 1"/>
          <p:cNvSpPr/>
          <p:nvPr/>
        </p:nvSpPr>
        <p:spPr>
          <a:xfrm>
            <a:off x="3931920" y="548640"/>
            <a:ext cx="4937760" cy="4937760"/>
          </a:xfrm>
          <a:prstGeom prst="ellipse">
            <a:avLst/>
          </a:prstGeom>
          <a:solidFill>
            <a:srgbClr val="132035"/>
          </a:solidFill>
          <a:ln w="12700">
            <a:solidFill>
              <a:srgbClr val="1F3050"/>
            </a:solidFill>
            <a:prstDash val="solid"/>
          </a:ln>
        </p:spPr>
        <p:txBody>
          <a:bodyPr/>
          <a:lstStyle/>
          <a:p>
            <a:endParaRPr lang="hu-HU"/>
          </a:p>
        </p:txBody>
      </p:sp>
      <p:sp>
        <p:nvSpPr>
          <p:cNvPr id="4" name="Shape 2"/>
          <p:cNvSpPr/>
          <p:nvPr/>
        </p:nvSpPr>
        <p:spPr>
          <a:xfrm>
            <a:off x="4663440" y="1234440"/>
            <a:ext cx="3474720" cy="3474720"/>
          </a:xfrm>
          <a:prstGeom prst="ellipse">
            <a:avLst/>
          </a:prstGeom>
          <a:solidFill>
            <a:srgbClr val="1A2B42"/>
          </a:solidFill>
          <a:ln w="19050">
            <a:solidFill>
              <a:srgbClr val="E9A227"/>
            </a:solidFill>
            <a:prstDash val="solid"/>
          </a:ln>
        </p:spPr>
        <p:txBody>
          <a:bodyPr/>
          <a:lstStyle/>
          <a:p>
            <a:endParaRPr lang="hu-HU"/>
          </a:p>
        </p:txBody>
      </p:sp>
      <p:sp>
        <p:nvSpPr>
          <p:cNvPr id="6" name="Text 3"/>
          <p:cNvSpPr/>
          <p:nvPr/>
        </p:nvSpPr>
        <p:spPr>
          <a:xfrm>
            <a:off x="475488" y="960120"/>
            <a:ext cx="3931920" cy="2514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05000"/>
              </a:lnSpc>
              <a:buNone/>
            </a:pPr>
            <a:r>
              <a:rPr lang="en-US" sz="4400" b="1" dirty="0" err="1">
                <a:solidFill>
                  <a:srgbClr val="FFFFFF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Próbáljuk</a:t>
            </a:r>
            <a:r>
              <a:rPr lang="en-US" sz="4400" b="1" dirty="0">
                <a:solidFill>
                  <a:srgbClr val="FFFFFF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 </a:t>
            </a:r>
            <a:r>
              <a:rPr lang="hu-HU" sz="4400" b="1" dirty="0">
                <a:solidFill>
                  <a:srgbClr val="FFFFFF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k</a:t>
            </a:r>
            <a:r>
              <a:rPr lang="en-US" sz="4400" b="1" dirty="0" err="1">
                <a:solidFill>
                  <a:srgbClr val="FFFFFF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i</a:t>
            </a:r>
            <a:endParaRPr lang="en-US" sz="4400" dirty="0"/>
          </a:p>
          <a:p>
            <a:pPr marL="0" indent="0">
              <a:lnSpc>
                <a:spcPct val="105000"/>
              </a:lnSpc>
              <a:buNone/>
            </a:pPr>
            <a:r>
              <a:rPr lang="en-US" sz="4400" b="1" dirty="0" err="1">
                <a:solidFill>
                  <a:srgbClr val="FFFFFF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az</a:t>
            </a:r>
            <a:r>
              <a:rPr lang="en-US" sz="4400" b="1" dirty="0">
                <a:solidFill>
                  <a:srgbClr val="FFFFFF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 </a:t>
            </a:r>
            <a:r>
              <a:rPr lang="hu-HU" sz="4400" b="1" dirty="0">
                <a:solidFill>
                  <a:srgbClr val="FFFFFF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a</a:t>
            </a:r>
            <a:r>
              <a:rPr lang="en-US" sz="4400" b="1" dirty="0" err="1">
                <a:solidFill>
                  <a:srgbClr val="FFFFFF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lkalmazást</a:t>
            </a:r>
            <a:r>
              <a:rPr lang="en-US" sz="4400" b="1" dirty="0">
                <a:solidFill>
                  <a:srgbClr val="FFFFFF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!</a:t>
            </a:r>
            <a:endParaRPr lang="en-US" sz="4400" dirty="0"/>
          </a:p>
        </p:txBody>
      </p:sp>
      <p:sp>
        <p:nvSpPr>
          <p:cNvPr id="7" name="Shape 4"/>
          <p:cNvSpPr/>
          <p:nvPr/>
        </p:nvSpPr>
        <p:spPr>
          <a:xfrm>
            <a:off x="475488" y="3401568"/>
            <a:ext cx="2560320" cy="36576"/>
          </a:xfrm>
          <a:prstGeom prst="rect">
            <a:avLst/>
          </a:prstGeom>
          <a:solidFill>
            <a:srgbClr val="E9A227"/>
          </a:solidFill>
          <a:ln w="12700">
            <a:solidFill>
              <a:srgbClr val="E9A227"/>
            </a:solidFill>
            <a:prstDash val="solid"/>
          </a:ln>
        </p:spPr>
        <p:txBody>
          <a:bodyPr/>
          <a:lstStyle/>
          <a:p>
            <a:endParaRPr lang="hu-HU"/>
          </a:p>
        </p:txBody>
      </p:sp>
      <p:sp>
        <p:nvSpPr>
          <p:cNvPr id="8" name="Text 5"/>
          <p:cNvSpPr/>
          <p:nvPr/>
        </p:nvSpPr>
        <p:spPr>
          <a:xfrm>
            <a:off x="502920" y="3566160"/>
            <a:ext cx="3840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i="1" dirty="0">
                <a:solidFill>
                  <a:srgbClr val="E9A227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Live demo következik →</a:t>
            </a:r>
            <a:endParaRPr lang="en-US" sz="1500" dirty="0"/>
          </a:p>
        </p:txBody>
      </p:sp>
      <p:sp>
        <p:nvSpPr>
          <p:cNvPr id="9" name="Shape 6"/>
          <p:cNvSpPr/>
          <p:nvPr/>
        </p:nvSpPr>
        <p:spPr>
          <a:xfrm>
            <a:off x="0" y="5102352"/>
            <a:ext cx="9144000" cy="41148"/>
          </a:xfrm>
          <a:prstGeom prst="rect">
            <a:avLst/>
          </a:prstGeom>
          <a:solidFill>
            <a:srgbClr val="1F3050"/>
          </a:solidFill>
          <a:ln w="12700">
            <a:solidFill>
              <a:srgbClr val="1F3050"/>
            </a:solidFill>
            <a:prstDash val="solid"/>
          </a:ln>
        </p:spPr>
        <p:txBody>
          <a:bodyPr/>
          <a:lstStyle/>
          <a:p>
            <a:endParaRPr lang="hu-HU"/>
          </a:p>
        </p:txBody>
      </p:sp>
      <p:pic>
        <p:nvPicPr>
          <p:cNvPr id="12" name="Kép 11">
            <a:extLst>
              <a:ext uri="{FF2B5EF4-FFF2-40B4-BE49-F238E27FC236}">
                <a16:creationId xmlns:a16="http://schemas.microsoft.com/office/drawing/2014/main" id="{4ABAD5F1-DA36-A3AF-D4F9-8DEADE67DF4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29237" y="1945957"/>
            <a:ext cx="2143125" cy="2143125"/>
          </a:xfrm>
          <a:prstGeom prst="ellipse">
            <a:avLst/>
          </a:prstGeom>
          <a:ln w="190500" cap="rnd">
            <a:solidFill>
              <a:srgbClr val="C8C6BD"/>
            </a:solidFill>
            <a:prstDash val="solid"/>
          </a:ln>
          <a:effectLst>
            <a:outerShdw blurRad="127000" algn="bl" rotWithShape="0">
              <a:srgbClr val="000000"/>
            </a:outerShdw>
          </a:effectLst>
          <a:scene3d>
            <a:camera prst="perspectiveFront" fov="5400000"/>
            <a:lightRig rig="threePt" dir="t">
              <a:rot lat="0" lon="0" rev="19200000"/>
            </a:lightRig>
          </a:scene3d>
          <a:sp3d extrusionH="25400">
            <a:bevelT w="304800" h="152400" prst="hardEdge"/>
            <a:extrusionClr>
              <a:srgbClr val="000000"/>
            </a:extrusionClr>
          </a:sp3d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0B162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claude/unpacked_clean/ppt/media/image1.jpeg"/>
          <p:cNvPicPr>
            <a:picLocks noChangeAspect="1"/>
          </p:cNvPicPr>
          <p:nvPr/>
        </p:nvPicPr>
        <p:blipFill>
          <a:blip r:embed="rId3">
            <a:alphaModFix amt="40000"/>
          </a:blip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0B1628">
              <a:alpha val="75000"/>
            </a:srgbClr>
          </a:solidFill>
          <a:ln w="12700">
            <a:solidFill>
              <a:srgbClr val="0B1628"/>
            </a:solidFill>
            <a:prstDash val="solid"/>
          </a:ln>
        </p:spPr>
        <p:txBody>
          <a:bodyPr/>
          <a:lstStyle/>
          <a:p>
            <a:endParaRPr lang="hu-HU"/>
          </a:p>
        </p:txBody>
      </p:sp>
      <p:sp>
        <p:nvSpPr>
          <p:cNvPr id="4" name="Shape 1"/>
          <p:cNvSpPr/>
          <p:nvPr/>
        </p:nvSpPr>
        <p:spPr>
          <a:xfrm>
            <a:off x="0" y="0"/>
            <a:ext cx="9144000" cy="41148"/>
          </a:xfrm>
          <a:prstGeom prst="rect">
            <a:avLst/>
          </a:prstGeom>
          <a:solidFill>
            <a:srgbClr val="E9A227"/>
          </a:solidFill>
          <a:ln w="12700">
            <a:solidFill>
              <a:srgbClr val="E9A227"/>
            </a:solidFill>
            <a:prstDash val="solid"/>
          </a:ln>
        </p:spPr>
        <p:txBody>
          <a:bodyPr/>
          <a:lstStyle/>
          <a:p>
            <a:endParaRPr lang="hu-HU"/>
          </a:p>
        </p:txBody>
      </p:sp>
      <p:sp>
        <p:nvSpPr>
          <p:cNvPr id="5" name="Text 2"/>
          <p:cNvSpPr/>
          <p:nvPr/>
        </p:nvSpPr>
        <p:spPr>
          <a:xfrm>
            <a:off x="914400" y="822960"/>
            <a:ext cx="7315200" cy="2926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lnSpc>
                <a:spcPct val="100000"/>
              </a:lnSpc>
              <a:buNone/>
            </a:pPr>
            <a:r>
              <a:rPr lang="en-US" sz="6400" b="1" dirty="0">
                <a:solidFill>
                  <a:srgbClr val="FFFFFF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Köszönjük</a:t>
            </a:r>
            <a:endParaRPr lang="en-US" sz="6400" dirty="0"/>
          </a:p>
          <a:p>
            <a:pPr marL="0" indent="0" algn="ctr">
              <a:lnSpc>
                <a:spcPct val="100000"/>
              </a:lnSpc>
              <a:buNone/>
            </a:pPr>
            <a:r>
              <a:rPr lang="en-US" sz="6400" b="1" dirty="0">
                <a:solidFill>
                  <a:srgbClr val="FFFFFF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a Figyelmet!</a:t>
            </a:r>
            <a:endParaRPr lang="en-US" sz="6400" dirty="0"/>
          </a:p>
        </p:txBody>
      </p:sp>
      <p:sp>
        <p:nvSpPr>
          <p:cNvPr id="6" name="Shape 3"/>
          <p:cNvSpPr/>
          <p:nvPr/>
        </p:nvSpPr>
        <p:spPr>
          <a:xfrm>
            <a:off x="3108960" y="3657600"/>
            <a:ext cx="2926080" cy="36576"/>
          </a:xfrm>
          <a:prstGeom prst="rect">
            <a:avLst/>
          </a:prstGeom>
          <a:solidFill>
            <a:srgbClr val="E9A227"/>
          </a:solidFill>
          <a:ln w="12700">
            <a:solidFill>
              <a:srgbClr val="E9A227"/>
            </a:solidFill>
            <a:prstDash val="solid"/>
          </a:ln>
        </p:spPr>
        <p:txBody>
          <a:bodyPr/>
          <a:lstStyle/>
          <a:p>
            <a:endParaRPr lang="hu-HU"/>
          </a:p>
        </p:txBody>
      </p:sp>
      <p:sp>
        <p:nvSpPr>
          <p:cNvPr id="7" name="Text 4"/>
          <p:cNvSpPr/>
          <p:nvPr/>
        </p:nvSpPr>
        <p:spPr>
          <a:xfrm>
            <a:off x="0" y="3858768"/>
            <a:ext cx="91440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50" kern="0" spc="150" dirty="0">
                <a:solidFill>
                  <a:srgbClr val="C5D5E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Cross Country Webshop  ·  Ádám &amp; Matyi  ·  2025</a:t>
            </a:r>
            <a:endParaRPr lang="en-US" sz="1250" dirty="0"/>
          </a:p>
        </p:txBody>
      </p:sp>
      <p:sp>
        <p:nvSpPr>
          <p:cNvPr id="8" name="Shape 5"/>
          <p:cNvSpPr/>
          <p:nvPr/>
        </p:nvSpPr>
        <p:spPr>
          <a:xfrm>
            <a:off x="0" y="5102352"/>
            <a:ext cx="9144000" cy="41148"/>
          </a:xfrm>
          <a:prstGeom prst="rect">
            <a:avLst/>
          </a:prstGeom>
          <a:solidFill>
            <a:srgbClr val="1F3050"/>
          </a:solidFill>
          <a:ln w="12700">
            <a:solidFill>
              <a:srgbClr val="1F3050"/>
            </a:solidFill>
            <a:prstDash val="solid"/>
          </a:ln>
        </p:spPr>
        <p:txBody>
          <a:bodyPr/>
          <a:lstStyle/>
          <a:p>
            <a:endParaRPr lang="hu-HU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-téma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customXml/_rels/item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ct:contentTypeSchema xmlns:ct="http://schemas.microsoft.com/office/2006/metadata/contentType" xmlns:ma="http://schemas.microsoft.com/office/2006/metadata/properties/metaAttributes" ct:_="" ma:_="" ma:contentTypeName="Dokumentum" ma:contentTypeID="0x010100CF33BF45BA2D51468C049D7F49465F36" ma:contentTypeVersion="4" ma:contentTypeDescription="Új dokumentum létrehozása." ma:contentTypeScope="" ma:versionID="99230fe3e1de2d885706f7e7f862bcf2">
  <xsd:schema xmlns:xsd="http://www.w3.org/2001/XMLSchema" xmlns:xs="http://www.w3.org/2001/XMLSchema" xmlns:p="http://schemas.microsoft.com/office/2006/metadata/properties" xmlns:ns2="87aa24f1-5ba0-4b45-9ca0-cb710780616f" targetNamespace="http://schemas.microsoft.com/office/2006/metadata/properties" ma:root="true" ma:fieldsID="4c780e0772cac3b1fb0a258a91ebf9e8" ns2:_="">
    <xsd:import namespace="87aa24f1-5ba0-4b45-9ca0-cb710780616f"/>
    <xsd:element name="properties">
      <xsd:complexType>
        <xsd:sequence>
          <xsd:element name="documentManagement">
            <xsd:complexType>
              <xsd:all>
                <xsd:element ref="ns2:ReferenceId" minOccurs="0"/>
                <xsd:element ref="ns2:MediaServiceMetadata" minOccurs="0"/>
                <xsd:element ref="ns2:MediaServiceFastMetadata" minOccurs="0"/>
                <xsd:element ref="ns2:MediaServiceSearchProperties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87aa24f1-5ba0-4b45-9ca0-cb710780616f" elementFormDefault="qualified">
    <xsd:import namespace="http://schemas.microsoft.com/office/2006/documentManagement/types"/>
    <xsd:import namespace="http://schemas.microsoft.com/office/infopath/2007/PartnerControls"/>
    <xsd:element name="ReferenceId" ma:index="8" nillable="true" ma:displayName="ReferenceId" ma:indexed="true" ma:internalName="ReferenceId">
      <xsd:simpleType>
        <xsd:restriction base="dms:Text"/>
      </xsd:simpleType>
    </xsd:element>
    <xsd:element name="MediaServiceMetadata" ma:index="9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10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SearchProperties" ma:index="11" nillable="true" ma:displayName="MediaServiceSearchProperties" ma:hidden="true" ma:internalName="MediaServiceSearchProperties" ma:readOnly="true">
      <xsd:simpleType>
        <xsd:restriction base="dms:Note"/>
      </xsd:simple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Tartalomtípus"/>
        <xsd:element ref="dc:title" minOccurs="0" maxOccurs="1" ma:index="4" ma:displayName="Cím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2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3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ReferenceId xmlns="87aa24f1-5ba0-4b45-9ca0-cb710780616f" xsi:nil="true"/>
  </documentManagement>
</p:properties>
</file>

<file path=customXml/itemProps1.xml><?xml version="1.0" encoding="utf-8"?>
<ds:datastoreItem xmlns:ds="http://schemas.openxmlformats.org/officeDocument/2006/customXml" ds:itemID="{26430B49-CDF2-4854-9EF5-30E772CBB287}"/>
</file>

<file path=customXml/itemProps2.xml><?xml version="1.0" encoding="utf-8"?>
<ds:datastoreItem xmlns:ds="http://schemas.openxmlformats.org/officeDocument/2006/customXml" ds:itemID="{6200B2EB-C840-4BCD-BAB1-BC8073AF05E6}"/>
</file>

<file path=customXml/itemProps3.xml><?xml version="1.0" encoding="utf-8"?>
<ds:datastoreItem xmlns:ds="http://schemas.openxmlformats.org/officeDocument/2006/customXml" ds:itemID="{EAC5D19B-4118-451B-867A-9FDFB4FA3F3D}"/>
</file>

<file path=docProps/app.xml><?xml version="1.0" encoding="utf-8"?>
<Properties xmlns="http://schemas.openxmlformats.org/officeDocument/2006/extended-properties" xmlns:vt="http://schemas.openxmlformats.org/officeDocument/2006/docPropsVTypes">
  <TotalTime>19</TotalTime>
  <Words>397</Words>
  <Application>Microsoft Office PowerPoint</Application>
  <PresentationFormat>Diavetítés a képernyőre (16:9 oldalarány)</PresentationFormat>
  <Paragraphs>122</Paragraphs>
  <Slides>12</Slides>
  <Notes>12</Notes>
  <HiddenSlides>0</HiddenSlides>
  <MMClips>0</MMClips>
  <ScaleCrop>false</ScaleCrop>
  <HeadingPairs>
    <vt:vector size="6" baseType="variant">
      <vt:variant>
        <vt:lpstr>Használt betűtípusok</vt:lpstr>
      </vt:variant>
      <vt:variant>
        <vt:i4>3</vt:i4>
      </vt:variant>
      <vt:variant>
        <vt:lpstr>Téma</vt:lpstr>
      </vt:variant>
      <vt:variant>
        <vt:i4>1</vt:i4>
      </vt:variant>
      <vt:variant>
        <vt:lpstr>Diacímek</vt:lpstr>
      </vt:variant>
      <vt:variant>
        <vt:i4>12</vt:i4>
      </vt:variant>
    </vt:vector>
  </HeadingPairs>
  <TitlesOfParts>
    <vt:vector size="16" baseType="lpstr">
      <vt:lpstr>Arial</vt:lpstr>
      <vt:lpstr>Palatino Linotype</vt:lpstr>
      <vt:lpstr>Trebuchet MS</vt:lpstr>
      <vt:lpstr>Office Theme</vt:lpstr>
      <vt:lpstr>PowerPoint-bemutató</vt:lpstr>
      <vt:lpstr>PowerPoint-bemutató</vt:lpstr>
      <vt:lpstr>PowerPoint-bemutató</vt:lpstr>
      <vt:lpstr>PowerPoint-bemutató</vt:lpstr>
      <vt:lpstr>PowerPoint-bemutató</vt:lpstr>
      <vt:lpstr>PowerPoint-bemutató</vt:lpstr>
      <vt:lpstr>PowerPoint-bemutató</vt:lpstr>
      <vt:lpstr>PowerPoint-bemutató</vt:lpstr>
      <vt:lpstr>PowerPoint-bemutató</vt:lpstr>
      <vt:lpstr>PowerPoint-bemutató</vt:lpstr>
      <vt:lpstr>PowerPoint-bemutató</vt:lpstr>
      <vt:lpstr>PowerPoint-bemutató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Cross Country Webshop</dc:title>
  <dc:subject>PptxGenJS Presentation</dc:subject>
  <dc:creator>Ádám &amp; Matyi</dc:creator>
  <cp:lastModifiedBy>Ádám Czirják</cp:lastModifiedBy>
  <cp:revision>5</cp:revision>
  <dcterms:created xsi:type="dcterms:W3CDTF">2026-03-23T20:12:40Z</dcterms:created>
  <dcterms:modified xsi:type="dcterms:W3CDTF">2026-03-23T21:48:16Z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0x010100CF33BF45BA2D51468C049D7F49465F36</vt:lpwstr>
  </property>
</Properties>
</file>