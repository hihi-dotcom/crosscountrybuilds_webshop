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5" r:id="rId7"/>
    <p:sldId id="258" r:id="rId8"/>
    <p:sldId id="271" r:id="rId9"/>
    <p:sldId id="261" r:id="rId10"/>
    <p:sldId id="270" r:id="rId11"/>
    <p:sldId id="269" r:id="rId12"/>
    <p:sldId id="262" r:id="rId13"/>
    <p:sldId id="260" r:id="rId14"/>
    <p:sldId id="266" r:id="rId15"/>
    <p:sldId id="264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409" autoAdjust="0"/>
  </p:normalViewPr>
  <p:slideViewPr>
    <p:cSldViewPr snapToGrid="0" snapToObjects="1">
      <p:cViewPr varScale="1">
        <p:scale>
          <a:sx n="97" d="100"/>
          <a:sy n="97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dám Czirják" userId="688945b6dea242df" providerId="LiveId" clId="{D8E19705-0FAD-428B-87E6-52AA5BE1479A}"/>
    <pc:docChg chg="undo custSel modSld">
      <pc:chgData name="Ádám Czirják" userId="688945b6dea242df" providerId="LiveId" clId="{D8E19705-0FAD-428B-87E6-52AA5BE1479A}" dt="2026-04-15T17:19:57.485" v="33" actId="20577"/>
      <pc:docMkLst>
        <pc:docMk/>
      </pc:docMkLst>
      <pc:sldChg chg="modSp mod">
        <pc:chgData name="Ádám Czirják" userId="688945b6dea242df" providerId="LiveId" clId="{D8E19705-0FAD-428B-87E6-52AA5BE1479A}" dt="2026-04-15T17:19:57.485" v="33" actId="20577"/>
        <pc:sldMkLst>
          <pc:docMk/>
          <pc:sldMk cId="0" sldId="258"/>
        </pc:sldMkLst>
        <pc:spChg chg="mod">
          <ac:chgData name="Ádám Czirják" userId="688945b6dea242df" providerId="LiveId" clId="{D8E19705-0FAD-428B-87E6-52AA5BE1479A}" dt="2026-04-15T17:19:57.485" v="33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Ádám Czirják" userId="688945b6dea242df" providerId="LiveId" clId="{D8E19705-0FAD-428B-87E6-52AA5BE1479A}" dt="2026-04-15T17:14:18.138" v="14" actId="20577"/>
          <ac:spMkLst>
            <pc:docMk/>
            <pc:sldMk cId="0" sldId="258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00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8E05D-5432-132E-82C1-D34C1D8C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EE657-A21D-1CC2-6579-3421E62DF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E149F-4714-2090-09DA-263D66765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1C17D-C7A7-9ECE-CF3C-927D85A4C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54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AF8D-4DA9-29B0-22C9-570F8F0E1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DABF-2000-7789-B709-F96636621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7279D-F6C9-E760-C4C5-9339FE767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5215F-D5F8-54D0-2D9F-C4AEBE4D6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68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1E3C-68C9-869A-278F-C898DB60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E04D9-05C4-3EE3-800C-9A25CE2B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674A7-DD43-E43E-0016-5C7E1648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2BDE4-F08A-5DAB-CF7D-C9C8E253F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71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14">
            <a:extLst>
              <a:ext uri="{FF2B5EF4-FFF2-40B4-BE49-F238E27FC236}">
                <a16:creationId xmlns:a16="http://schemas.microsoft.com/office/drawing/2014/main" id="{87BB9D71-BF6E-613D-69E6-EFC477C69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1148"/>
            <a:ext cx="5143500" cy="50429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551" y="-18288"/>
            <a:ext cx="5669280" cy="516178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1371600" cy="5143500"/>
          </a:xfrm>
          <a:prstGeom prst="rect">
            <a:avLst/>
          </a:prstGeom>
          <a:solidFill>
            <a:srgbClr val="0B1628">
              <a:alpha val="45000"/>
            </a:srgbClr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5029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 BEMUTATÓ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566928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 Country</a:t>
            </a:r>
            <a:endParaRPr lang="en-US" sz="5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Webshop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475488" y="2999232"/>
            <a:ext cx="237744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457200" y="3211904"/>
            <a:ext cx="5451231" cy="6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Architektúra  ·  </a:t>
            </a:r>
            <a:r>
              <a:rPr lang="en-US" sz="1200" i="1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Funkciók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Adatbázis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Frontend  Továbbfejlesztések 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Munkamegosztás</a:t>
            </a:r>
            <a:endParaRPr lang="en-US" sz="1200" i="1" dirty="0"/>
          </a:p>
        </p:txBody>
      </p:sp>
      <p:sp>
        <p:nvSpPr>
          <p:cNvPr id="10" name="Shape 7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6A0E304-1E45-1930-1B2C-D7C36430C15B}"/>
              </a:ext>
            </a:extLst>
          </p:cNvPr>
          <p:cNvSpPr txBox="1"/>
          <p:nvPr/>
        </p:nvSpPr>
        <p:spPr>
          <a:xfrm>
            <a:off x="457200" y="4309349"/>
            <a:ext cx="45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bg1"/>
                </a:solidFill>
              </a:rPr>
              <a:t>Czirják Ádám és Kovács-Haász Mátyás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Projekt Bemutatása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547D1E52-A55B-DA4B-3523-6D7F257F4DCE}"/>
              </a:ext>
            </a:extLst>
          </p:cNvPr>
          <p:cNvSpPr/>
          <p:nvPr/>
        </p:nvSpPr>
        <p:spPr>
          <a:xfrm>
            <a:off x="1963466" y="1510110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223007A-E269-CDDC-30B3-E15924F0B708}"/>
              </a:ext>
            </a:extLst>
          </p:cNvPr>
          <p:cNvSpPr/>
          <p:nvPr/>
        </p:nvSpPr>
        <p:spPr>
          <a:xfrm>
            <a:off x="1963466" y="151011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4104CD0-BDAC-566B-7087-ECB64B857C37}"/>
              </a:ext>
            </a:extLst>
          </p:cNvPr>
          <p:cNvSpPr/>
          <p:nvPr/>
        </p:nvSpPr>
        <p:spPr>
          <a:xfrm>
            <a:off x="2137202" y="158326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5CE47C65-9730-CF39-E10B-DF59AB7D1608}"/>
              </a:ext>
            </a:extLst>
          </p:cNvPr>
          <p:cNvSpPr txBox="1"/>
          <p:nvPr/>
        </p:nvSpPr>
        <p:spPr>
          <a:xfrm>
            <a:off x="2005613" y="1639239"/>
            <a:ext cx="3557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Szoftver </a:t>
            </a:r>
            <a:r>
              <a:rPr lang="hu-HU" sz="2000" b="1" dirty="0">
                <a:solidFill>
                  <a:schemeClr val="bg1"/>
                </a:solidFill>
                <a:latin typeface="Trebuchet MS" panose="020B0603020202020204" pitchFamily="34" charset="0"/>
              </a:rPr>
              <a:t>célja</a:t>
            </a:r>
            <a:endParaRPr lang="hu-HU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3A06BFA-BF9A-4284-C4E8-7ED927F1120E}"/>
              </a:ext>
            </a:extLst>
          </p:cNvPr>
          <p:cNvSpPr/>
          <p:nvPr/>
        </p:nvSpPr>
        <p:spPr>
          <a:xfrm>
            <a:off x="2548127" y="2643953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E04EB9C-0DB0-284C-AB83-F0DE6025E07D}"/>
              </a:ext>
            </a:extLst>
          </p:cNvPr>
          <p:cNvSpPr/>
          <p:nvPr/>
        </p:nvSpPr>
        <p:spPr>
          <a:xfrm>
            <a:off x="2548127" y="2643953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1E06CB7E-09B6-5C65-F4C0-CA763DE8C223}"/>
              </a:ext>
            </a:extLst>
          </p:cNvPr>
          <p:cNvSpPr/>
          <p:nvPr/>
        </p:nvSpPr>
        <p:spPr>
          <a:xfrm>
            <a:off x="2721863" y="271710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D46B2BEF-3486-F2EA-D94E-21C5C12A6E6E}"/>
              </a:ext>
            </a:extLst>
          </p:cNvPr>
          <p:cNvSpPr txBox="1"/>
          <p:nvPr/>
        </p:nvSpPr>
        <p:spPr>
          <a:xfrm>
            <a:off x="2590274" y="2773082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Kinek szól ?</a:t>
            </a: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2CDBBD7-BCFC-5EAA-22C2-C7140C9BE535}"/>
              </a:ext>
            </a:extLst>
          </p:cNvPr>
          <p:cNvSpPr/>
          <p:nvPr/>
        </p:nvSpPr>
        <p:spPr>
          <a:xfrm>
            <a:off x="2005613" y="3847469"/>
            <a:ext cx="3615453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54DE0831-78BF-31C0-D5F5-E7B9F524DFA5}"/>
              </a:ext>
            </a:extLst>
          </p:cNvPr>
          <p:cNvSpPr/>
          <p:nvPr/>
        </p:nvSpPr>
        <p:spPr>
          <a:xfrm>
            <a:off x="2005613" y="3847469"/>
            <a:ext cx="45719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0F291BB-6268-A3CA-295D-CA87997C13AC}"/>
              </a:ext>
            </a:extLst>
          </p:cNvPr>
          <p:cNvSpPr/>
          <p:nvPr/>
        </p:nvSpPr>
        <p:spPr>
          <a:xfrm>
            <a:off x="2179349" y="3920621"/>
            <a:ext cx="3344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E70D1300-C813-2692-8223-B0797076754F}"/>
              </a:ext>
            </a:extLst>
          </p:cNvPr>
          <p:cNvSpPr txBox="1"/>
          <p:nvPr/>
        </p:nvSpPr>
        <p:spPr>
          <a:xfrm>
            <a:off x="2047760" y="3976598"/>
            <a:ext cx="351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Miért 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Munkamegosztás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84048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12064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Ádám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" y="158191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Developer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174" y="1896325"/>
            <a:ext cx="25124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fejlesztés (React)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174" y="3684728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dirty="0">
                <a:solidFill>
                  <a:srgbClr val="C5D5E8"/>
                </a:solidFill>
                <a:latin typeface="Trebuchet MS" pitchFamily="34" charset="0"/>
              </a:rPr>
              <a:t>Dokumentáció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1" y="2507184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Reszponzív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" y="3118104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/ UX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174" y="3713072"/>
            <a:ext cx="25124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>
              <a:solidFill>
                <a:srgbClr val="C5D5E8"/>
              </a:solidFill>
              <a:latin typeface="Trebuchet MS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6976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3236976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364992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Github &amp; Discord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64991" y="1581912"/>
            <a:ext cx="25199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Verziókezelés</a:t>
            </a: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</a:t>
            </a: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Kommunikáció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64992" y="1896325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Feladatok megbeszélése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64992" y="2417705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Verziókezelés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9904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6089904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6217920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Matyi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158191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Developer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19110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fejlesztés (Odin)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2444879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Adatbázis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létrehozása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45353" y="3040380"/>
            <a:ext cx="2697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Docker-alapú </a:t>
            </a:r>
          </a:p>
          <a:p>
            <a:pPr marL="0" indent="0">
              <a:buNone/>
            </a:pPr>
            <a:r>
              <a:rPr lang="hu-HU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konténerizáció</a:t>
            </a:r>
            <a:endParaRPr lang="hu-HU" sz="16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Rendszer Architektúra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960120" y="2304288"/>
            <a:ext cx="7178040" cy="20117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102412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3949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49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53949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Flowbite React komponens könyvtár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251460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264261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4261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264261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Odin 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hu-HU" sz="1400" dirty="0" err="1">
                <a:solidFill>
                  <a:srgbClr val="C5D5E8"/>
                </a:solidFill>
                <a:latin typeface="Trebuchet MS" pitchFamily="34" charset="0"/>
              </a:rPr>
              <a:t>Caddy</a:t>
            </a:r>
            <a:r>
              <a:rPr lang="hu-HU" sz="1400" dirty="0">
                <a:solidFill>
                  <a:srgbClr val="C5D5E8"/>
                </a:solidFill>
                <a:latin typeface="Trebuchet MS" pitchFamily="34" charset="0"/>
              </a:rPr>
              <a:t> szerver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hu-HU" sz="1400" dirty="0" err="1">
                <a:solidFill>
                  <a:srgbClr val="C5D5E8"/>
                </a:solidFill>
                <a:latin typeface="Trebuchet MS" pitchFamily="34" charset="0"/>
              </a:rPr>
              <a:t>libpq</a:t>
            </a:r>
            <a:r>
              <a:rPr lang="hu-HU" sz="1400" dirty="0">
                <a:solidFill>
                  <a:srgbClr val="C5D5E8"/>
                </a:solidFill>
                <a:latin typeface="Trebuchet MS" pitchFamily="34" charset="0"/>
              </a:rPr>
              <a:t> könyvtár</a:t>
            </a:r>
          </a:p>
          <a:p>
            <a:pPr marL="0" indent="0" algn="ctr">
              <a:lnSpc>
                <a:spcPct val="140000"/>
              </a:lnSpc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0468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61772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474573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ADATBÁZIS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4573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74573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3348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0780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Shape 30"/>
          <p:cNvSpPr/>
          <p:nvPr/>
        </p:nvSpPr>
        <p:spPr>
          <a:xfrm>
            <a:off x="672084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684885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TESZTELÉS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4885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684885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hu-HU" sz="1400" dirty="0" err="1">
                <a:solidFill>
                  <a:srgbClr val="C5D5E8"/>
                </a:solidFill>
                <a:latin typeface="Trebuchet MS" pitchFamily="34" charset="0"/>
              </a:rPr>
              <a:t>Jest</a:t>
            </a:r>
            <a:endParaRPr lang="en-US" sz="1400" dirty="0"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67D48EFC-9131-6EC6-BD60-CDEA9BAB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" y="1325039"/>
            <a:ext cx="821129" cy="7579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0" name="Kép 39">
            <a:extLst>
              <a:ext uri="{FF2B5EF4-FFF2-40B4-BE49-F238E27FC236}">
                <a16:creationId xmlns:a16="http://schemas.microsoft.com/office/drawing/2014/main" id="{DB1931A8-C045-DA4A-A937-E8FE2922E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461" y="1283415"/>
            <a:ext cx="821128" cy="8471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Kép 41">
            <a:extLst>
              <a:ext uri="{FF2B5EF4-FFF2-40B4-BE49-F238E27FC236}">
                <a16:creationId xmlns:a16="http://schemas.microsoft.com/office/drawing/2014/main" id="{2CE54654-A298-69AB-1534-6580DE950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70395" y="1280874"/>
            <a:ext cx="821129" cy="8496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583B7B1-8186-CB38-721F-F8C2C0002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778" y="1337010"/>
            <a:ext cx="1420535" cy="738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A8994-B959-4644-1FFF-22735CD4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756D1E-7B9A-CE71-38F6-49FCE5419382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CD458F-8DEB-6571-FC7A-74D3934DFFA2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Funkciók</a:t>
            </a:r>
            <a:endParaRPr lang="en-US" sz="32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18A1EC-689E-B7AE-5AFF-CA7FD0F85433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25D363-3A84-DE97-4291-B6249BFA9CBE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D0A176-F94A-0ED8-C588-CB64A1C0DAF3}"/>
              </a:ext>
            </a:extLst>
          </p:cNvPr>
          <p:cNvSpPr/>
          <p:nvPr/>
        </p:nvSpPr>
        <p:spPr>
          <a:xfrm>
            <a:off x="691173" y="1217584"/>
            <a:ext cx="3606638" cy="3674456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471D23-C572-1B35-8E17-C6C7249C8028}"/>
              </a:ext>
            </a:extLst>
          </p:cNvPr>
          <p:cNvSpPr/>
          <p:nvPr/>
        </p:nvSpPr>
        <p:spPr>
          <a:xfrm>
            <a:off x="691173" y="1217584"/>
            <a:ext cx="3606638" cy="5986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AF4B85-9C09-6F47-C54E-240842E39EDE}"/>
              </a:ext>
            </a:extLst>
          </p:cNvPr>
          <p:cNvSpPr/>
          <p:nvPr/>
        </p:nvSpPr>
        <p:spPr>
          <a:xfrm>
            <a:off x="804950" y="1249629"/>
            <a:ext cx="3264313" cy="55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2000" b="1" dirty="0">
                <a:solidFill>
                  <a:srgbClr val="0B1628"/>
                </a:solidFill>
                <a:latin typeface="Palatino Linotype" pitchFamily="34" charset="0"/>
              </a:rPr>
              <a:t>Felhasználói funkciók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D2029A-F78D-E796-46C8-2BD58CDFA3BF}"/>
              </a:ext>
            </a:extLst>
          </p:cNvPr>
          <p:cNvSpPr/>
          <p:nvPr/>
        </p:nvSpPr>
        <p:spPr>
          <a:xfrm>
            <a:off x="851737" y="1943196"/>
            <a:ext cx="3359299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Termékek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böngészése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szűrése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3CE5CD5-75E1-60E2-84DA-E909EBC01554}"/>
              </a:ext>
            </a:extLst>
          </p:cNvPr>
          <p:cNvSpPr/>
          <p:nvPr/>
        </p:nvSpPr>
        <p:spPr>
          <a:xfrm>
            <a:off x="851736" y="2532976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Regisztráció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Bejelentkezés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93E3901-C787-6F80-1ED1-7193A3DD02C5}"/>
              </a:ext>
            </a:extLst>
          </p:cNvPr>
          <p:cNvSpPr/>
          <p:nvPr/>
        </p:nvSpPr>
        <p:spPr>
          <a:xfrm>
            <a:off x="879715" y="3136955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Kerékpárs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zerviz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foglalás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D1B529B-B88F-CD82-A4C0-2C91FFF90815}"/>
              </a:ext>
            </a:extLst>
          </p:cNvPr>
          <p:cNvSpPr/>
          <p:nvPr/>
        </p:nvSpPr>
        <p:spPr>
          <a:xfrm>
            <a:off x="879714" y="3702658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Megrendelés rögzítése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AAB152-DD4E-9246-39D7-953944CFCA4E}"/>
              </a:ext>
            </a:extLst>
          </p:cNvPr>
          <p:cNvSpPr/>
          <p:nvPr/>
        </p:nvSpPr>
        <p:spPr>
          <a:xfrm>
            <a:off x="851737" y="3696216"/>
            <a:ext cx="3359299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>
              <a:solidFill>
                <a:srgbClr val="C5D5E8"/>
              </a:solidFill>
              <a:latin typeface="Trebuchet MS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A148C2-FC5E-AB7C-8A44-6DCCC2B2E764}"/>
              </a:ext>
            </a:extLst>
          </p:cNvPr>
          <p:cNvSpPr/>
          <p:nvPr/>
        </p:nvSpPr>
        <p:spPr>
          <a:xfrm>
            <a:off x="4878145" y="1241755"/>
            <a:ext cx="3492132" cy="3650285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hu-HU" b="1">
                <a:solidFill>
                  <a:srgbClr val="FFFFFF"/>
                </a:solidFill>
                <a:latin typeface="Trebuchet MS" pitchFamily="34" charset="0"/>
              </a:rPr>
              <a:t>Automatikus e-mail értesítések</a:t>
            </a:r>
            <a:endParaRPr lang="en-US" b="1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0D8DF9-A8A6-493D-1DE1-42410B1D4826}"/>
              </a:ext>
            </a:extLst>
          </p:cNvPr>
          <p:cNvSpPr/>
          <p:nvPr/>
        </p:nvSpPr>
        <p:spPr>
          <a:xfrm>
            <a:off x="4878145" y="1217583"/>
            <a:ext cx="3492132" cy="598669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 b="1" dirty="0">
              <a:latin typeface="Palatino Linotype" panose="02040502050505030304" pitchFamily="18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A0799F-1099-32C5-5E3D-05694ADD64AB}"/>
              </a:ext>
            </a:extLst>
          </p:cNvPr>
          <p:cNvSpPr/>
          <p:nvPr/>
        </p:nvSpPr>
        <p:spPr>
          <a:xfrm>
            <a:off x="5032345" y="1217584"/>
            <a:ext cx="3160675" cy="558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32DC99-EB96-09F8-6B8C-B99B3254CE5A}"/>
              </a:ext>
            </a:extLst>
          </p:cNvPr>
          <p:cNvSpPr/>
          <p:nvPr/>
        </p:nvSpPr>
        <p:spPr>
          <a:xfrm>
            <a:off x="5024313" y="1575136"/>
            <a:ext cx="3262358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6E93ED2-BBCF-6FDE-9FE2-D07AB20FAB17}"/>
              </a:ext>
            </a:extLst>
          </p:cNvPr>
          <p:cNvSpPr/>
          <p:nvPr/>
        </p:nvSpPr>
        <p:spPr>
          <a:xfrm>
            <a:off x="5053852" y="1867262"/>
            <a:ext cx="2888408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Rendelések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listázása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lezárása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6284030-E9B9-235D-B989-8096372379B0}"/>
              </a:ext>
            </a:extLst>
          </p:cNvPr>
          <p:cNvSpPr/>
          <p:nvPr/>
        </p:nvSpPr>
        <p:spPr>
          <a:xfrm>
            <a:off x="5039082" y="2316905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Szervizek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listázása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és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böngészése</a:t>
            </a:r>
            <a:endParaRPr lang="en-US" sz="16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2179647-FF87-8119-D33E-71B027F6E302}"/>
              </a:ext>
            </a:extLst>
          </p:cNvPr>
          <p:cNvSpPr txBox="1"/>
          <p:nvPr/>
        </p:nvSpPr>
        <p:spPr>
          <a:xfrm>
            <a:off x="5019012" y="1324071"/>
            <a:ext cx="3174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Palatino Linotype" panose="02040502050505030304" pitchFamily="18" charset="0"/>
              </a:rPr>
              <a:t>Adminisztrátori funkciók</a:t>
            </a:r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E2FB6BF0-3F0F-236A-324B-897A23962B4B}"/>
              </a:ext>
            </a:extLst>
          </p:cNvPr>
          <p:cNvSpPr/>
          <p:nvPr/>
        </p:nvSpPr>
        <p:spPr>
          <a:xfrm>
            <a:off x="5043098" y="2814030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Automatikus e-mail értesítések</a:t>
            </a:r>
            <a:endParaRPr lang="en-US" sz="1600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01CA1E7F-A547-B797-39CC-AA3F45E03808}"/>
              </a:ext>
            </a:extLst>
          </p:cNvPr>
          <p:cNvSpPr/>
          <p:nvPr/>
        </p:nvSpPr>
        <p:spPr>
          <a:xfrm>
            <a:off x="5043098" y="3372137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Termékkezelés (CRUD)</a:t>
            </a:r>
            <a:endParaRPr lang="en-US" sz="1600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6B274A3D-8334-82AF-F48F-A200E4CA6B99}"/>
              </a:ext>
            </a:extLst>
          </p:cNvPr>
          <p:cNvSpPr/>
          <p:nvPr/>
        </p:nvSpPr>
        <p:spPr>
          <a:xfrm>
            <a:off x="5039082" y="3925916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Felhasználók</a:t>
            </a:r>
            <a:r>
              <a:rPr lang="hu-HU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közötti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952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</a:rPr>
              <a:t>Backend architektúra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/>
          <p:cNvSpPr/>
          <p:nvPr/>
        </p:nvSpPr>
        <p:spPr>
          <a:xfrm>
            <a:off x="4357979" y="1206369"/>
            <a:ext cx="4434840" cy="3742639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0" name="Shape 7"/>
          <p:cNvSpPr/>
          <p:nvPr/>
        </p:nvSpPr>
        <p:spPr>
          <a:xfrm>
            <a:off x="475488" y="1210744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475488" y="121074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649224" y="1283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5488" y="2168478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/>
          <p:cNvSpPr/>
          <p:nvPr/>
        </p:nvSpPr>
        <p:spPr>
          <a:xfrm>
            <a:off x="475488" y="216847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/>
          <p:nvPr/>
        </p:nvSpPr>
        <p:spPr>
          <a:xfrm>
            <a:off x="649224" y="224163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17635" y="3151812"/>
            <a:ext cx="3615453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/>
          <p:cNvSpPr/>
          <p:nvPr/>
        </p:nvSpPr>
        <p:spPr>
          <a:xfrm>
            <a:off x="476487" y="3151812"/>
            <a:ext cx="45719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/>
          <p:cNvSpPr/>
          <p:nvPr/>
        </p:nvSpPr>
        <p:spPr>
          <a:xfrm>
            <a:off x="712471" y="3362124"/>
            <a:ext cx="3365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Üzleti logika / validáció</a:t>
            </a:r>
            <a:endParaRPr lang="en-US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865A44B1-0E0C-C8F4-6AF3-8B65071E45BB}"/>
              </a:ext>
            </a:extLst>
          </p:cNvPr>
          <p:cNvSpPr txBox="1"/>
          <p:nvPr/>
        </p:nvSpPr>
        <p:spPr>
          <a:xfrm>
            <a:off x="4982232" y="1325799"/>
            <a:ext cx="3097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HTTP réteg</a:t>
            </a:r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EABE338B-0837-4C00-1299-906511864357}"/>
              </a:ext>
            </a:extLst>
          </p:cNvPr>
          <p:cNvCxnSpPr>
            <a:cxnSpLocks/>
          </p:cNvCxnSpPr>
          <p:nvPr/>
        </p:nvCxnSpPr>
        <p:spPr>
          <a:xfrm>
            <a:off x="6544394" y="1730805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61EE9E8C-701F-E1DB-3732-0DDE0D136D3A}"/>
              </a:ext>
            </a:extLst>
          </p:cNvPr>
          <p:cNvSpPr txBox="1"/>
          <p:nvPr/>
        </p:nvSpPr>
        <p:spPr>
          <a:xfrm>
            <a:off x="4959723" y="3215984"/>
            <a:ext cx="3097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Logic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 réteg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C0D0A382-F704-F034-559F-DEF4DA5E5AAE}"/>
              </a:ext>
            </a:extLst>
          </p:cNvPr>
          <p:cNvSpPr txBox="1"/>
          <p:nvPr/>
        </p:nvSpPr>
        <p:spPr>
          <a:xfrm>
            <a:off x="4742027" y="2221146"/>
            <a:ext cx="3616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Auth (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token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, 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password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)  réteg</a:t>
            </a:r>
          </a:p>
        </p:txBody>
      </p: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C360D6D5-590F-8ACA-1FDA-7D7825BE79D8}"/>
              </a:ext>
            </a:extLst>
          </p:cNvPr>
          <p:cNvCxnSpPr>
            <a:cxnSpLocks/>
          </p:cNvCxnSpPr>
          <p:nvPr/>
        </p:nvCxnSpPr>
        <p:spPr>
          <a:xfrm>
            <a:off x="6531085" y="2747207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5545E209-3B60-F33F-9458-8EAC2BAEA58B}"/>
              </a:ext>
            </a:extLst>
          </p:cNvPr>
          <p:cNvCxnSpPr>
            <a:cxnSpLocks/>
          </p:cNvCxnSpPr>
          <p:nvPr/>
        </p:nvCxnSpPr>
        <p:spPr>
          <a:xfrm>
            <a:off x="6531085" y="3754988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E3FBD997-BEF7-0B80-34C9-003163F4A864}"/>
              </a:ext>
            </a:extLst>
          </p:cNvPr>
          <p:cNvSpPr txBox="1"/>
          <p:nvPr/>
        </p:nvSpPr>
        <p:spPr>
          <a:xfrm>
            <a:off x="4285652" y="4304095"/>
            <a:ext cx="4579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DB / 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Pool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 réteg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27F70F5A-1FC7-D2A2-2E55-995380CC2950}"/>
              </a:ext>
            </a:extLst>
          </p:cNvPr>
          <p:cNvSpPr txBox="1"/>
          <p:nvPr/>
        </p:nvSpPr>
        <p:spPr>
          <a:xfrm>
            <a:off x="537736" y="1384607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Routing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kérés / válasz kezelés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41664BBE-5605-57BA-D3B1-ACC1C87A389F}"/>
              </a:ext>
            </a:extLst>
          </p:cNvPr>
          <p:cNvSpPr txBox="1"/>
          <p:nvPr/>
        </p:nvSpPr>
        <p:spPr>
          <a:xfrm>
            <a:off x="517635" y="2202629"/>
            <a:ext cx="3557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Saját implementáció, biztonsági megoldások</a:t>
            </a: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92470E23-6573-3929-1DF0-393FDE912DD7}"/>
              </a:ext>
            </a:extLst>
          </p:cNvPr>
          <p:cNvSpPr/>
          <p:nvPr/>
        </p:nvSpPr>
        <p:spPr>
          <a:xfrm>
            <a:off x="475488" y="4173941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8E03687-989B-91A0-45D5-01C8E9FE9924}"/>
              </a:ext>
            </a:extLst>
          </p:cNvPr>
          <p:cNvSpPr/>
          <p:nvPr/>
        </p:nvSpPr>
        <p:spPr>
          <a:xfrm>
            <a:off x="475488" y="4173941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2FA9B8C6-D104-7BBF-2DCF-3FABB0EF9EED}"/>
              </a:ext>
            </a:extLst>
          </p:cNvPr>
          <p:cNvSpPr/>
          <p:nvPr/>
        </p:nvSpPr>
        <p:spPr>
          <a:xfrm>
            <a:off x="618274" y="43641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Lekérdezések /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connection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pooling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,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prepared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statements</a:t>
            </a:r>
            <a:endParaRPr lang="en-US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27" grpId="0"/>
      <p:bldP spid="29" grpId="0"/>
      <p:bldP spid="30" grpId="0"/>
      <p:bldP spid="33" grpId="0"/>
      <p:bldP spid="34" grpId="0"/>
      <p:bldP spid="35" grpId="0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57634-6BCD-BB12-2C1C-249E59E8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82E95F48-4292-5205-BE78-1CA14A98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3" y="2403053"/>
            <a:ext cx="4203073" cy="77163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7ED4DA6-2097-0C78-BEF0-365F426EFAD0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80FB2-33D1-F975-87F0-6F634A9EDF22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Token</a:t>
            </a:r>
            <a:r>
              <a:rPr lang="hu-HU" sz="32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rendszer  </a:t>
            </a:r>
            <a:endParaRPr lang="en-US" sz="3200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A8DF1B-F490-CACF-FF96-BA9997268873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56F164-1E7E-1815-3DC7-EBC971E2196E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A4DB985-336E-01E5-6943-03148E0F7943}"/>
              </a:ext>
            </a:extLst>
          </p:cNvPr>
          <p:cNvSpPr/>
          <p:nvPr/>
        </p:nvSpPr>
        <p:spPr>
          <a:xfrm>
            <a:off x="270453" y="2395738"/>
            <a:ext cx="4203073" cy="778948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B547E6-A8D4-A687-D749-E6A6530661BE}"/>
              </a:ext>
            </a:extLst>
          </p:cNvPr>
          <p:cNvSpPr/>
          <p:nvPr/>
        </p:nvSpPr>
        <p:spPr>
          <a:xfrm>
            <a:off x="4919472" y="1221297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6C86907-9491-43AE-852B-2D0A6936F927}"/>
              </a:ext>
            </a:extLst>
          </p:cNvPr>
          <p:cNvSpPr/>
          <p:nvPr/>
        </p:nvSpPr>
        <p:spPr>
          <a:xfrm>
            <a:off x="4919472" y="1221297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C35662A-BD30-C080-7A5D-969210BFA06A}"/>
              </a:ext>
            </a:extLst>
          </p:cNvPr>
          <p:cNvSpPr/>
          <p:nvPr/>
        </p:nvSpPr>
        <p:spPr>
          <a:xfrm>
            <a:off x="5093208" y="129444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CC186EC-C9C1-7B15-765D-423AEEEBE522}"/>
              </a:ext>
            </a:extLst>
          </p:cNvPr>
          <p:cNvSpPr/>
          <p:nvPr/>
        </p:nvSpPr>
        <p:spPr>
          <a:xfrm>
            <a:off x="4919472" y="2155364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0D6744D-7651-2FF8-F733-DEA007ECD5F2}"/>
              </a:ext>
            </a:extLst>
          </p:cNvPr>
          <p:cNvSpPr/>
          <p:nvPr/>
        </p:nvSpPr>
        <p:spPr>
          <a:xfrm>
            <a:off x="4919472" y="215536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3C8D4A7-7EA7-571A-731F-4EB5409C6405}"/>
              </a:ext>
            </a:extLst>
          </p:cNvPr>
          <p:cNvSpPr/>
          <p:nvPr/>
        </p:nvSpPr>
        <p:spPr>
          <a:xfrm>
            <a:off x="5093208" y="22285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49AFAED-9872-E15A-E0B8-E3E7393E71CA}"/>
              </a:ext>
            </a:extLst>
          </p:cNvPr>
          <p:cNvSpPr/>
          <p:nvPr/>
        </p:nvSpPr>
        <p:spPr>
          <a:xfrm>
            <a:off x="4901184" y="3089431"/>
            <a:ext cx="3675888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71418B9-0A6F-E2B7-79E6-AA80C0D8C43B}"/>
              </a:ext>
            </a:extLst>
          </p:cNvPr>
          <p:cNvSpPr/>
          <p:nvPr/>
        </p:nvSpPr>
        <p:spPr>
          <a:xfrm>
            <a:off x="4901184" y="3089431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3AB9260-CA50-A5E7-3169-34DB607AAC27}"/>
              </a:ext>
            </a:extLst>
          </p:cNvPr>
          <p:cNvSpPr/>
          <p:nvPr/>
        </p:nvSpPr>
        <p:spPr>
          <a:xfrm>
            <a:off x="5144202" y="329974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JWT-vel való kapcsolat</a:t>
            </a:r>
            <a:endParaRPr lang="en-US" dirty="0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567B6373-EA48-9AE5-3FC8-4ECCA3644EF6}"/>
              </a:ext>
            </a:extLst>
          </p:cNvPr>
          <p:cNvSpPr txBox="1"/>
          <p:nvPr/>
        </p:nvSpPr>
        <p:spPr>
          <a:xfrm>
            <a:off x="4981720" y="1395160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HMAC – SHA256 aláírás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4F66EF25-4262-A012-9F67-B54E6DBB7C7C}"/>
              </a:ext>
            </a:extLst>
          </p:cNvPr>
          <p:cNvSpPr txBox="1"/>
          <p:nvPr/>
        </p:nvSpPr>
        <p:spPr>
          <a:xfrm>
            <a:off x="5006340" y="2292288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Lejárat a tokenbe égetett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59DCFC-AC88-042E-D6DD-78AD4AB4F6DB}"/>
              </a:ext>
            </a:extLst>
          </p:cNvPr>
          <p:cNvSpPr/>
          <p:nvPr/>
        </p:nvSpPr>
        <p:spPr>
          <a:xfrm>
            <a:off x="154569" y="3234217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600" i="1" dirty="0">
                <a:solidFill>
                  <a:srgbClr val="5C7A9B"/>
                </a:solidFill>
                <a:latin typeface="Trebuchet MS" pitchFamily="34" charset="0"/>
              </a:rPr>
              <a:t>sign ( ), verify ( ), create_secret( )  </a:t>
            </a:r>
            <a:endParaRPr lang="en-US" sz="1600" dirty="0"/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8EC856B9-DA5E-946C-6592-4A8C59456C6E}"/>
              </a:ext>
            </a:extLst>
          </p:cNvPr>
          <p:cNvSpPr/>
          <p:nvPr/>
        </p:nvSpPr>
        <p:spPr>
          <a:xfrm>
            <a:off x="4901184" y="4023498"/>
            <a:ext cx="3675888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14C6D3C8-173A-52FC-605A-9443859D8C95}"/>
              </a:ext>
            </a:extLst>
          </p:cNvPr>
          <p:cNvSpPr/>
          <p:nvPr/>
        </p:nvSpPr>
        <p:spPr>
          <a:xfrm>
            <a:off x="4901184" y="402349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0D03A8D4-3165-E8EE-6965-0DA6D44BB8C0}"/>
              </a:ext>
            </a:extLst>
          </p:cNvPr>
          <p:cNvSpPr/>
          <p:nvPr/>
        </p:nvSpPr>
        <p:spPr>
          <a:xfrm>
            <a:off x="5144202" y="423381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Timing-</a:t>
            </a:r>
            <a:r>
              <a:rPr lang="hu-HU" b="1" dirty="0" err="1">
                <a:solidFill>
                  <a:srgbClr val="FFFFFF"/>
                </a:solidFill>
                <a:latin typeface="Trebuchet MS" pitchFamily="34" charset="0"/>
              </a:rPr>
              <a:t>safe</a:t>
            </a: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 összehasonlítás</a:t>
            </a:r>
          </a:p>
        </p:txBody>
      </p:sp>
    </p:spTree>
    <p:extLst>
      <p:ext uri="{BB962C8B-B14F-4D97-AF65-F5344CB8AC3E}">
        <p14:creationId xmlns:p14="http://schemas.microsoft.com/office/powerpoint/2010/main" val="20257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34" grpId="0"/>
      <p:bldP spid="35" grpId="0"/>
      <p:bldP spid="9" grpId="0" animBg="1"/>
      <p:bldP spid="13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26F5A-DF5C-F96E-2389-4867EBA0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EA42D5-5C49-AA82-9BBE-5074B6AB5D0A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ED81A2-F45F-E8A2-78F9-C40F3B18AF75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Autentikáció</a:t>
            </a: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(frontend)</a:t>
            </a: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— JWT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50FCA0-9D43-396B-AFEA-8791783F86DA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834C16-8F2F-9808-2955-6D996CFCCF82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/home/claude/unpacked_clean/ppt/media/image2.png">
            <a:extLst>
              <a:ext uri="{FF2B5EF4-FFF2-40B4-BE49-F238E27FC236}">
                <a16:creationId xmlns:a16="http://schemas.microsoft.com/office/drawing/2014/main" id="{2072294C-82E6-650F-E32A-09C3F3EA7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434840" cy="2980944"/>
          </a:xfrm>
          <a:prstGeom prst="rect">
            <a:avLst/>
          </a:prstGeom>
          <a:effectLst>
            <a:outerShdw blurRad="228600" dist="50800" dir="81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94CB2B60-2F6E-36D9-6305-26D69D2F95BD}"/>
              </a:ext>
            </a:extLst>
          </p:cNvPr>
          <p:cNvSpPr/>
          <p:nvPr/>
        </p:nvSpPr>
        <p:spPr>
          <a:xfrm>
            <a:off x="457200" y="1234440"/>
            <a:ext cx="4434840" cy="298094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8A5093-66DB-FFF2-FB92-A01B6D24DF2A}"/>
              </a:ext>
            </a:extLst>
          </p:cNvPr>
          <p:cNvSpPr/>
          <p:nvPr/>
        </p:nvSpPr>
        <p:spPr>
          <a:xfrm>
            <a:off x="396240" y="4323283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C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kezelése a frontend oldalon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35607D1-C6D1-705C-D04C-935165D9FB47}"/>
              </a:ext>
            </a:extLst>
          </p:cNvPr>
          <p:cNvSpPr/>
          <p:nvPr/>
        </p:nvSpPr>
        <p:spPr>
          <a:xfrm>
            <a:off x="5074920" y="1234440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816CF74-ED3B-A21F-53A2-50D7ACB0A951}"/>
              </a:ext>
            </a:extLst>
          </p:cNvPr>
          <p:cNvSpPr/>
          <p:nvPr/>
        </p:nvSpPr>
        <p:spPr>
          <a:xfrm>
            <a:off x="5074920" y="123444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A3E8E8-706C-552A-0E15-638157653A39}"/>
              </a:ext>
            </a:extLst>
          </p:cNvPr>
          <p:cNvSpPr/>
          <p:nvPr/>
        </p:nvSpPr>
        <p:spPr>
          <a:xfrm>
            <a:off x="5248656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Bejelentkezés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9370C10-E0C8-5F1D-2F91-19C76E8FCA44}"/>
              </a:ext>
            </a:extLst>
          </p:cNvPr>
          <p:cNvSpPr/>
          <p:nvPr/>
        </p:nvSpPr>
        <p:spPr>
          <a:xfrm>
            <a:off x="5248656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1714F27-D6D6-4505-EA20-F08371FA8FAA}"/>
              </a:ext>
            </a:extLst>
          </p:cNvPr>
          <p:cNvSpPr/>
          <p:nvPr/>
        </p:nvSpPr>
        <p:spPr>
          <a:xfrm>
            <a:off x="5074920" y="2002536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CB0AEE1-461C-5581-70EC-2E2042C7A273}"/>
              </a:ext>
            </a:extLst>
          </p:cNvPr>
          <p:cNvSpPr/>
          <p:nvPr/>
        </p:nvSpPr>
        <p:spPr>
          <a:xfrm>
            <a:off x="5074920" y="2002536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55BE660-A614-2D41-3685-FBC688F54C2B}"/>
              </a:ext>
            </a:extLst>
          </p:cNvPr>
          <p:cNvSpPr/>
          <p:nvPr/>
        </p:nvSpPr>
        <p:spPr>
          <a:xfrm>
            <a:off x="5248656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tárolás</a:t>
            </a:r>
            <a:endParaRPr lang="en-US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6F35D0C-3654-C65B-1C84-BBEC2772B8BC}"/>
              </a:ext>
            </a:extLst>
          </p:cNvPr>
          <p:cNvSpPr/>
          <p:nvPr/>
        </p:nvSpPr>
        <p:spPr>
          <a:xfrm>
            <a:off x="5248656" y="23865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E7BDDB8-D94B-BCC2-29D7-F0DA1EAC1C6C}"/>
              </a:ext>
            </a:extLst>
          </p:cNvPr>
          <p:cNvSpPr/>
          <p:nvPr/>
        </p:nvSpPr>
        <p:spPr>
          <a:xfrm>
            <a:off x="5074920" y="2836469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4EA7728-3AC8-EFA6-8113-BFDE3C94BBF3}"/>
              </a:ext>
            </a:extLst>
          </p:cNvPr>
          <p:cNvSpPr/>
          <p:nvPr/>
        </p:nvSpPr>
        <p:spPr>
          <a:xfrm>
            <a:off x="5074920" y="2836469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6495FF7-B3FC-4780-1FE2-BECAEB5CF881}"/>
              </a:ext>
            </a:extLst>
          </p:cNvPr>
          <p:cNvSpPr/>
          <p:nvPr/>
        </p:nvSpPr>
        <p:spPr>
          <a:xfrm>
            <a:off x="5248656" y="290962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Védett végpont</a:t>
            </a: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68CEE88-3EFD-A182-7E18-E6C2E596126C}"/>
              </a:ext>
            </a:extLst>
          </p:cNvPr>
          <p:cNvSpPr/>
          <p:nvPr/>
        </p:nvSpPr>
        <p:spPr>
          <a:xfrm>
            <a:off x="5248656" y="3220517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760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4187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Végponthívás a kliens oldalon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/home/claude/unpacked_clean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201168"/>
            <a:ext cx="3657600" cy="4756709"/>
          </a:xfrm>
          <a:prstGeom prst="rect">
            <a:avLst/>
          </a:prstGeom>
          <a:effectLst>
            <a:outerShdw blurRad="228600" dist="50800" dir="81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457200" y="1261872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57200" y="1261872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64008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DRY elv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080" y="1627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457200" y="202996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640080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r>
              <a:rPr lang="hu-HU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matikus</a:t>
            </a: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token kezelés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0080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5"/>
          <p:cNvSpPr/>
          <p:nvPr/>
        </p:nvSpPr>
        <p:spPr>
          <a:xfrm>
            <a:off x="457200" y="279806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/>
          <p:nvPr/>
        </p:nvSpPr>
        <p:spPr>
          <a:xfrm>
            <a:off x="640080" y="28620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Content-Type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0080" y="31638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0"/>
          <p:cNvSpPr/>
          <p:nvPr/>
        </p:nvSpPr>
        <p:spPr>
          <a:xfrm>
            <a:off x="640080" y="3630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lejárat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0080" y="39319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</a:rPr>
              <a:t>Adatbázistáblák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CD02984A-589D-2537-3AC9-D01E456C0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53813"/>
            <a:ext cx="8888172" cy="4467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3931920" y="548640"/>
            <a:ext cx="4937760" cy="493776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663440" y="1234440"/>
            <a:ext cx="3474720" cy="3474720"/>
          </a:xfrm>
          <a:prstGeom prst="ellipse">
            <a:avLst/>
          </a:prstGeom>
          <a:solidFill>
            <a:srgbClr val="1A2B42"/>
          </a:solidFill>
          <a:ln w="1905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475488" y="96012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Próbáljuk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r>
              <a:rPr lang="hu-HU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r>
              <a:rPr lang="hu-HU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lkalmazást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!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75488" y="3401568"/>
            <a:ext cx="256032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50292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500" i="1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Élő </a:t>
            </a:r>
            <a:r>
              <a:rPr lang="hu-HU" sz="1500" i="1" dirty="0" err="1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r>
              <a:rPr lang="en-US" sz="1500" i="1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következik 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4ABAD5F1-DA36-A3AF-D4F9-8DEADE67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37" y="1945957"/>
            <a:ext cx="2143125" cy="21431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Jövőbeli Továbbfejlesztések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58368" y="1481328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1024128" y="1353312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fizetési integráció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58368" y="2240280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024128" y="2112264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dirty="0">
                <a:solidFill>
                  <a:srgbClr val="FFFFFF"/>
                </a:solidFill>
                <a:latin typeface="Trebuchet MS" pitchFamily="34" charset="0"/>
              </a:rPr>
              <a:t>SMTP integráció valós környezetben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1024128" y="2871216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dirty="0">
                <a:solidFill>
                  <a:srgbClr val="FFFFFF"/>
                </a:solidFill>
                <a:latin typeface="Trebuchet MS" pitchFamily="34" charset="0"/>
              </a:rPr>
              <a:t>Az alkalmazás funkcióinak finomhangolása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557016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658368" y="3758184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1024128" y="3630168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dirty="0">
                <a:solidFill>
                  <a:srgbClr val="FFFFFF"/>
                </a:solidFill>
                <a:latin typeface="Trebuchet MS" pitchFamily="34" charset="0"/>
              </a:rPr>
              <a:t>További kliens oldali funkciók beépítése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_clean/ppt/media/image1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8">
              <a:alpha val="75000"/>
            </a:srgbClr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2"/>
          <p:cNvSpPr/>
          <p:nvPr/>
        </p:nvSpPr>
        <p:spPr>
          <a:xfrm>
            <a:off x="914400" y="8229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Köszönjük</a:t>
            </a:r>
            <a:endParaRPr lang="en-US" sz="6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Figyelmet!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108960" y="3657600"/>
            <a:ext cx="292608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0" y="3858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5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Ádám &amp; Matyi  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F33BF45BA2D51468C049D7F49465F36" ma:contentTypeVersion="4" ma:contentTypeDescription="Új dokumentum létrehozása." ma:contentTypeScope="" ma:versionID="99230fe3e1de2d885706f7e7f862bcf2">
  <xsd:schema xmlns:xsd="http://www.w3.org/2001/XMLSchema" xmlns:xs="http://www.w3.org/2001/XMLSchema" xmlns:p="http://schemas.microsoft.com/office/2006/metadata/properties" xmlns:ns2="87aa24f1-5ba0-4b45-9ca0-cb710780616f" targetNamespace="http://schemas.microsoft.com/office/2006/metadata/properties" ma:root="true" ma:fieldsID="4c780e0772cac3b1fb0a258a91ebf9e8" ns2:_="">
    <xsd:import namespace="87aa24f1-5ba0-4b45-9ca0-cb710780616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aa24f1-5ba0-4b45-9ca0-cb710780616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7aa24f1-5ba0-4b45-9ca0-cb710780616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30B49-CDF2-4854-9EF5-30E772CBB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aa24f1-5ba0-4b45-9ca0-cb71078061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C5D19B-4118-451B-867A-9FDFB4FA3F3D}">
  <ds:schemaRefs>
    <ds:schemaRef ds:uri="http://schemas.microsoft.com/office/2006/metadata/properties"/>
    <ds:schemaRef ds:uri="http://schemas.microsoft.com/office/infopath/2007/PartnerControls"/>
    <ds:schemaRef ds:uri="87aa24f1-5ba0-4b45-9ca0-cb710780616f"/>
  </ds:schemaRefs>
</ds:datastoreItem>
</file>

<file path=customXml/itemProps3.xml><?xml version="1.0" encoding="utf-8"?>
<ds:datastoreItem xmlns:ds="http://schemas.openxmlformats.org/officeDocument/2006/customXml" ds:itemID="{6200B2EB-C840-4BCD-BAB1-BC8073AF05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275</Words>
  <Application>Microsoft Office PowerPoint</Application>
  <PresentationFormat>Diavetítés a képernyőre (16:9 oldalarány)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Palatino Linotype</vt:lpstr>
      <vt:lpstr>Trebuchet MS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Country Webshop</dc:title>
  <dc:subject>PptxGenJS Presentation</dc:subject>
  <dc:creator>Ádám &amp; Matyi</dc:creator>
  <cp:lastModifiedBy>Ádám Czirják</cp:lastModifiedBy>
  <cp:revision>24</cp:revision>
  <dcterms:created xsi:type="dcterms:W3CDTF">2026-03-23T20:12:40Z</dcterms:created>
  <dcterms:modified xsi:type="dcterms:W3CDTF">2026-04-16T17:50:27Z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0x010100CF33BF45BA2D51468C049D7F49465F36</vt:lpwstr>
  </property>
</Properties>
</file>