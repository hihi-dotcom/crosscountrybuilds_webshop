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007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Kép 14">
            <a:extLst>
              <a:ext uri="{FF2B5EF4-FFF2-40B4-BE49-F238E27FC236}">
                <a16:creationId xmlns:a16="http://schemas.microsoft.com/office/drawing/2014/main" id="{87BB9D71-BF6E-613D-69E6-EFC477C69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0" y="41148"/>
            <a:ext cx="5143500" cy="50429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10551" y="-59436"/>
            <a:ext cx="5669280" cy="5143500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5120640" y="0"/>
            <a:ext cx="1371600" cy="5143500"/>
          </a:xfrm>
          <a:prstGeom prst="rect">
            <a:avLst/>
          </a:prstGeom>
          <a:solidFill>
            <a:srgbClr val="0B1628">
              <a:alpha val="4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502920" y="182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PROJEKT BEMUTATÓ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566928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 Country</a:t>
            </a:r>
            <a:endParaRPr lang="en-US" sz="58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Webshop</a:t>
            </a:r>
            <a:endParaRPr lang="en-US" sz="5800" dirty="0"/>
          </a:p>
        </p:txBody>
      </p:sp>
      <p:sp>
        <p:nvSpPr>
          <p:cNvPr id="8" name="Shape 5"/>
          <p:cNvSpPr/>
          <p:nvPr/>
        </p:nvSpPr>
        <p:spPr>
          <a:xfrm>
            <a:off x="475488" y="2999232"/>
            <a:ext cx="237744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/>
          <p:cNvSpPr/>
          <p:nvPr/>
        </p:nvSpPr>
        <p:spPr>
          <a:xfrm>
            <a:off x="98473" y="3145536"/>
            <a:ext cx="5451231" cy="629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5000"/>
              </a:lnSpc>
            </a:pP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Architektúra  ·  Funkciók  ·  </a:t>
            </a:r>
            <a:r>
              <a:rPr lang="en-US" sz="1200" i="1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Tokenizáci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ó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·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API </a:t>
            </a:r>
            <a:r>
              <a:rPr lang="hu-HU" sz="1200" i="1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endpointok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 Munkamegosztás</a:t>
            </a:r>
            <a:endParaRPr lang="en-US" sz="1200" i="1" dirty="0"/>
          </a:p>
        </p:txBody>
      </p:sp>
      <p:sp>
        <p:nvSpPr>
          <p:cNvPr id="10" name="Shape 7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Projekt Bemutatása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2633472" cy="349300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11480" y="1261872"/>
            <a:ext cx="45720" cy="349300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66928" y="1353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SZOFTVER CÉLJA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66928" y="1645920"/>
            <a:ext cx="22860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566928" y="1755648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Egy teljes értékű webshop, ahol fiatalok böngészhetnek, kerékpár szervizt foglalhatnak, és termékeket rendelhetnek.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50692" y="1241755"/>
            <a:ext cx="2633472" cy="349300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3227832" y="1261872"/>
            <a:ext cx="45720" cy="349300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3383280" y="1353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KINEK SZÓL?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383280" y="1645920"/>
            <a:ext cx="22860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3383280" y="1755648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Olyan </a:t>
            </a: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fiatal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ok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nak, akiket érdekel a kerékpározás világa, a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jövendőbeli szakembereknek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 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044184" y="1261872"/>
            <a:ext cx="2633472" cy="349300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6044184" y="1261872"/>
            <a:ext cx="45720" cy="349300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6199632" y="1353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MIÉRT?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199632" y="1645920"/>
            <a:ext cx="22860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6199632" y="1755648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Személy szerint nagyon érdekel a kerékpározás világa, illetve maga a </a:t>
            </a:r>
            <a:endParaRPr lang="hu-HU" sz="16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sportág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is.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Rendszer Architektúra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960120" y="2304288"/>
            <a:ext cx="7178040" cy="20117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102412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29844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41148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53949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3949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53949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Tailwind CSS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Flowbite React komponens könyvtár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2724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0156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251460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264261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4261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264261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 / Node.js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Odin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Caddy</a:t>
            </a: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 szerver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036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50468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461772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474573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74573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474573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MySQL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PostgreSQL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3348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0780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Shape 30"/>
          <p:cNvSpPr/>
          <p:nvPr/>
        </p:nvSpPr>
        <p:spPr>
          <a:xfrm>
            <a:off x="672084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3" name="Text 31"/>
          <p:cNvSpPr/>
          <p:nvPr/>
        </p:nvSpPr>
        <p:spPr>
          <a:xfrm>
            <a:off x="684885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TESZTELÉS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4885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5" name="Text 33"/>
          <p:cNvSpPr/>
          <p:nvPr/>
        </p:nvSpPr>
        <p:spPr>
          <a:xfrm>
            <a:off x="684885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Cypress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Jest</a:t>
            </a:r>
            <a:endParaRPr lang="en-US" sz="1400" dirty="0"/>
          </a:p>
        </p:txBody>
      </p:sp>
      <p:pic>
        <p:nvPicPr>
          <p:cNvPr id="38" name="Kép 37">
            <a:extLst>
              <a:ext uri="{FF2B5EF4-FFF2-40B4-BE49-F238E27FC236}">
                <a16:creationId xmlns:a16="http://schemas.microsoft.com/office/drawing/2014/main" id="{67D48EFC-9131-6EC6-BD60-CDEA9BABD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02" y="1325039"/>
            <a:ext cx="821129" cy="7579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0" name="Kép 39">
            <a:extLst>
              <a:ext uri="{FF2B5EF4-FFF2-40B4-BE49-F238E27FC236}">
                <a16:creationId xmlns:a16="http://schemas.microsoft.com/office/drawing/2014/main" id="{DB1931A8-C045-DA4A-A937-E8FE2922E6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4461" y="1283415"/>
            <a:ext cx="821128" cy="847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2" name="Kép 41">
            <a:extLst>
              <a:ext uri="{FF2B5EF4-FFF2-40B4-BE49-F238E27FC236}">
                <a16:creationId xmlns:a16="http://schemas.microsoft.com/office/drawing/2014/main" id="{2CE54654-A298-69AB-1534-6580DE950D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70395" y="1280874"/>
            <a:ext cx="821129" cy="8496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583B7B1-8186-CB38-721F-F8C2C0002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8778" y="1337010"/>
            <a:ext cx="1420535" cy="738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Az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lkalmazás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őbb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unkciói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85216" y="1261872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225296" y="1426464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1335024" y="1316736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Termékek böngészése, szűrése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57200" y="2157984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585216" y="2157984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1225296" y="2322576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1335024" y="2212848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Regisztráció / Bejelentkezés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3054096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457200" y="3054096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585216" y="305409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1225296" y="3218688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1335024" y="3108960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Kerékpárs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zerviz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foglalás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57200" y="3950208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457200" y="3950208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585216" y="395020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1225296" y="4114800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1335023" y="4005072"/>
            <a:ext cx="731885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Megrendelési folyamat (kosár       adatok        e-mail visszaigazolás)</a:t>
            </a:r>
            <a:endParaRPr lang="en-US" dirty="0">
              <a:solidFill>
                <a:srgbClr val="FFFFFF"/>
              </a:solidFill>
              <a:latin typeface="Trebuchet MS" pitchFamily="34" charset="0"/>
            </a:endParaRPr>
          </a:p>
        </p:txBody>
      </p:sp>
      <p:cxnSp>
        <p:nvCxnSpPr>
          <p:cNvPr id="27" name="Egyenes összekötő nyíllal 26">
            <a:extLst>
              <a:ext uri="{FF2B5EF4-FFF2-40B4-BE49-F238E27FC236}">
                <a16:creationId xmlns:a16="http://schemas.microsoft.com/office/drawing/2014/main" id="{C7129F49-E6B7-1200-FE7B-5DBF7866F18C}"/>
              </a:ext>
            </a:extLst>
          </p:cNvPr>
          <p:cNvCxnSpPr>
            <a:cxnSpLocks/>
          </p:cNvCxnSpPr>
          <p:nvPr/>
        </p:nvCxnSpPr>
        <p:spPr>
          <a:xfrm>
            <a:off x="4384357" y="4328160"/>
            <a:ext cx="375285" cy="0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gyenes összekötő nyíllal 28">
            <a:extLst>
              <a:ext uri="{FF2B5EF4-FFF2-40B4-BE49-F238E27FC236}">
                <a16:creationId xmlns:a16="http://schemas.microsoft.com/office/drawing/2014/main" id="{A1305938-92D1-5945-23E3-1B88BFAB8B96}"/>
              </a:ext>
            </a:extLst>
          </p:cNvPr>
          <p:cNvCxnSpPr>
            <a:cxnSpLocks/>
          </p:cNvCxnSpPr>
          <p:nvPr/>
        </p:nvCxnSpPr>
        <p:spPr>
          <a:xfrm>
            <a:off x="5634037" y="4328160"/>
            <a:ext cx="375285" cy="0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hape 7">
            <a:extLst>
              <a:ext uri="{FF2B5EF4-FFF2-40B4-BE49-F238E27FC236}">
                <a16:creationId xmlns:a16="http://schemas.microsoft.com/office/drawing/2014/main" id="{280A4678-34B1-3322-CBE2-4DB9477F33BF}"/>
              </a:ext>
            </a:extLst>
          </p:cNvPr>
          <p:cNvSpPr/>
          <p:nvPr/>
        </p:nvSpPr>
        <p:spPr>
          <a:xfrm>
            <a:off x="770910" y="1517904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FF47BFA9-3048-7D92-3C38-EB2053EFDD24}"/>
              </a:ext>
            </a:extLst>
          </p:cNvPr>
          <p:cNvSpPr/>
          <p:nvPr/>
        </p:nvSpPr>
        <p:spPr>
          <a:xfrm>
            <a:off x="770910" y="2395306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E4983FDF-8D4C-E0B1-87FA-AE059E0644ED}"/>
              </a:ext>
            </a:extLst>
          </p:cNvPr>
          <p:cNvSpPr/>
          <p:nvPr/>
        </p:nvSpPr>
        <p:spPr>
          <a:xfrm>
            <a:off x="770910" y="3310128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8DD0E068-3EC7-25AF-E13B-4D0E38734738}"/>
              </a:ext>
            </a:extLst>
          </p:cNvPr>
          <p:cNvSpPr/>
          <p:nvPr/>
        </p:nvSpPr>
        <p:spPr>
          <a:xfrm>
            <a:off x="773020" y="4199206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</a:rPr>
              <a:t>Adatbázistáblák 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31" name="Kép 30">
            <a:extLst>
              <a:ext uri="{FF2B5EF4-FFF2-40B4-BE49-F238E27FC236}">
                <a16:creationId xmlns:a16="http://schemas.microsoft.com/office/drawing/2014/main" id="{CD02984A-589D-2537-3AC9-D01E456C0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1253813"/>
            <a:ext cx="8888172" cy="44675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Autentikáció — JWT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4434840" cy="2980944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457200" y="1234440"/>
            <a:ext cx="4434840" cy="2980944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/>
          <p:cNvSpPr/>
          <p:nvPr/>
        </p:nvSpPr>
        <p:spPr>
          <a:xfrm>
            <a:off x="396240" y="4323283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C7A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kezelése a frontend oldalon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74920" y="1234440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/>
          <p:cNvSpPr/>
          <p:nvPr/>
        </p:nvSpPr>
        <p:spPr>
          <a:xfrm>
            <a:off x="5074920" y="123444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5248656" y="13075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Bejelentkezés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248656" y="16184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(POST) /api/login  ·  username, password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074920" y="2002536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/>
          <p:cNvSpPr/>
          <p:nvPr/>
        </p:nvSpPr>
        <p:spPr>
          <a:xfrm>
            <a:off x="5074920" y="2002536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/>
          <p:cNvSpPr/>
          <p:nvPr/>
        </p:nvSpPr>
        <p:spPr>
          <a:xfrm>
            <a:off x="5248656" y="20756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tárolás</a:t>
            </a: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5248656" y="23865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Kliens oldalon localStorage + header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74920" y="2770632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Shape 16"/>
          <p:cNvSpPr/>
          <p:nvPr/>
        </p:nvSpPr>
        <p:spPr>
          <a:xfrm>
            <a:off x="5074920" y="2770632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7"/>
          <p:cNvSpPr/>
          <p:nvPr/>
        </p:nvSpPr>
        <p:spPr>
          <a:xfrm>
            <a:off x="5248656" y="28437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generálás</a:t>
            </a: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5248656" y="31546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jwt.sign( ) függvény — backenden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074920" y="3538728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/>
          <p:cNvSpPr/>
          <p:nvPr/>
        </p:nvSpPr>
        <p:spPr>
          <a:xfrm>
            <a:off x="5074920" y="353872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/>
          <p:cNvSpPr/>
          <p:nvPr/>
        </p:nvSpPr>
        <p:spPr>
          <a:xfrm>
            <a:off x="5248656" y="3611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Védett végpont</a:t>
            </a: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248656" y="392277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Authorization: Bearer &lt;token&gt;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4187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Végponthívás a kliens oldalon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220" y="201168"/>
            <a:ext cx="3657600" cy="4756709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9" name="Shape 6"/>
          <p:cNvSpPr/>
          <p:nvPr/>
        </p:nvSpPr>
        <p:spPr>
          <a:xfrm>
            <a:off x="457200" y="1261872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0" name="Shape 7"/>
          <p:cNvSpPr/>
          <p:nvPr/>
        </p:nvSpPr>
        <p:spPr>
          <a:xfrm>
            <a:off x="457200" y="1261872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8"/>
          <p:cNvSpPr/>
          <p:nvPr/>
        </p:nvSpPr>
        <p:spPr>
          <a:xfrm>
            <a:off x="64008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DRY elv</a:t>
            </a: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40080" y="16276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Egy függvény szinte minden műveletre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029968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Shape 11"/>
          <p:cNvSpPr/>
          <p:nvPr/>
        </p:nvSpPr>
        <p:spPr>
          <a:xfrm>
            <a:off x="457200" y="202996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2"/>
          <p:cNvSpPr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r>
              <a:rPr lang="hu-HU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matikus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token kezelés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40080" y="239572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automatikus csatolása minden kéréshez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2798064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5"/>
          <p:cNvSpPr/>
          <p:nvPr/>
        </p:nvSpPr>
        <p:spPr>
          <a:xfrm>
            <a:off x="457200" y="279806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6"/>
          <p:cNvSpPr/>
          <p:nvPr/>
        </p:nvSpPr>
        <p:spPr>
          <a:xfrm>
            <a:off x="640080" y="28620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Content-Type</a:t>
            </a: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40080" y="3163824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Intelligens beállítás header szinten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3566160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19"/>
          <p:cNvSpPr/>
          <p:nvPr/>
        </p:nvSpPr>
        <p:spPr>
          <a:xfrm>
            <a:off x="457200" y="356616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0"/>
          <p:cNvSpPr/>
          <p:nvPr/>
        </p:nvSpPr>
        <p:spPr>
          <a:xfrm>
            <a:off x="640080" y="3630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lejárat</a:t>
            </a: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0080" y="393192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Automatikus lejárat kezelése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Admin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elület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egvalósítása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43584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621792" y="133502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Szerepkör alapú hozzáférés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1792" y="1792224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621792" y="18836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role: 'user' / 'admin'  ·  JWT payload-ban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243584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4754880" y="1243584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4919472" y="133502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Termékkezelés (CRUD)</a:t>
            </a:r>
            <a:endParaRPr lang="en-US" b="1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919472" y="1792224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919472" y="18836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Mindent lefedő termékkezelés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505456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457200" y="2505456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621792" y="259689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Rendelések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listázása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lezárása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1792" y="3054096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621792" y="31455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Külön felület az összefüggő funkcióknak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2505456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4754880" y="2505456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4919472" y="259689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Felhasználók</a:t>
            </a:r>
            <a:r>
              <a:rPr lang="hu-HU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között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919472" y="3054096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4919472" y="31455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r>
              <a:rPr lang="en-US" sz="14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elhasználó-kezelő</a:t>
            </a: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modul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767328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8" name="Shape 26"/>
          <p:cNvSpPr/>
          <p:nvPr/>
        </p:nvSpPr>
        <p:spPr>
          <a:xfrm>
            <a:off x="457200" y="3767328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9" name="Text 27"/>
          <p:cNvSpPr/>
          <p:nvPr/>
        </p:nvSpPr>
        <p:spPr>
          <a:xfrm>
            <a:off x="621792" y="385876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Szervizek listázása és böngészése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621792" y="4315968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621792" y="4407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 adminisztrációs felület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754880" y="3767328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sp>
        <p:nvSpPr>
          <p:cNvPr id="33" name="Shape 31"/>
          <p:cNvSpPr/>
          <p:nvPr/>
        </p:nvSpPr>
        <p:spPr>
          <a:xfrm>
            <a:off x="4754880" y="3767328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4919472" y="385876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Automatikus e-mail értesítések</a:t>
            </a:r>
            <a:endParaRPr lang="en-US" b="1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919472" y="4315968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4919472" y="4407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Rendelési és szerviz műveleteknél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Jövőbeli Továbbfejlesztések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658368" y="1481328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1024128" y="1353312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Online fizetési integráció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658368" y="2240280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1024128" y="2112264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SMTP integráció valós környezetben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457200" y="2798064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1024128" y="2871216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Megfelelő megrendeléskezelés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57200" y="3557016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457200" y="3557016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658368" y="3758184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1024128" y="3630168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felület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továbbfejlesztése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57200" y="4315968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sp>
        <p:nvSpPr>
          <p:cNvPr id="24" name="Shape 22"/>
          <p:cNvSpPr/>
          <p:nvPr/>
        </p:nvSpPr>
        <p:spPr>
          <a:xfrm>
            <a:off x="457200" y="4315968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658368" y="4517136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1024128" y="4389120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BB3F5325-D90C-17CD-4585-708B37A64641}"/>
              </a:ext>
            </a:extLst>
          </p:cNvPr>
          <p:cNvSpPr txBox="1"/>
          <p:nvPr/>
        </p:nvSpPr>
        <p:spPr>
          <a:xfrm>
            <a:off x="1024128" y="4466058"/>
            <a:ext cx="4715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További kliens oldali funkciók beépítése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Munkamegosztás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84048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384048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12064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Ádám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2064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Developer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4174" y="1896325"/>
            <a:ext cx="25124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fejlesztés (React)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" y="2347722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integráció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4174" y="2805836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Reszponzív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2064" y="3281324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/ UX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4174" y="3713072"/>
            <a:ext cx="25124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 err="1">
                <a:solidFill>
                  <a:srgbClr val="C5D5E8"/>
                </a:solidFill>
                <a:latin typeface="Trebuchet MS" pitchFamily="34" charset="0"/>
              </a:rPr>
              <a:t>Token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</a:rPr>
              <a:t> / </a:t>
            </a:r>
            <a:r>
              <a:rPr lang="hu-HU" sz="1600" dirty="0" err="1">
                <a:solidFill>
                  <a:srgbClr val="C5D5E8"/>
                </a:solidFill>
                <a:latin typeface="Trebuchet MS" pitchFamily="34" charset="0"/>
              </a:rPr>
              <a:t>role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</a:rPr>
              <a:t> kezelés</a:t>
            </a:r>
            <a:endParaRPr lang="en-US" sz="1600" dirty="0">
              <a:solidFill>
                <a:srgbClr val="C5D5E8"/>
              </a:solidFill>
              <a:latin typeface="Trebuchet MS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36976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3236976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3364992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Github &amp; Discord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364991" y="1581912"/>
            <a:ext cx="25199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hu-HU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</a:t>
            </a: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Kommunikáció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64992" y="1896325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Feladatok megbeszélése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364992" y="2347722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089904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Shape 28"/>
          <p:cNvSpPr/>
          <p:nvPr/>
        </p:nvSpPr>
        <p:spPr>
          <a:xfrm>
            <a:off x="6089904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6217920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Matyi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217920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Developer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17920" y="191109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fejlesztés (Odin)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217920" y="237550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létrehozása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215671" y="2898648"/>
            <a:ext cx="24436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 middleware </a:t>
            </a:r>
            <a:endParaRPr lang="hu-HU" sz="16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217920" y="337413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Autentikáció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3931920" y="548640"/>
            <a:ext cx="4937760" cy="4937760"/>
          </a:xfrm>
          <a:prstGeom prst="ellipse">
            <a:avLst/>
          </a:prstGeom>
          <a:solidFill>
            <a:srgbClr val="132035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663440" y="1234440"/>
            <a:ext cx="3474720" cy="3474720"/>
          </a:xfrm>
          <a:prstGeom prst="ellipse">
            <a:avLst/>
          </a:prstGeom>
          <a:solidFill>
            <a:srgbClr val="1A2B42"/>
          </a:solidFill>
          <a:ln w="1905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475488" y="960120"/>
            <a:ext cx="3931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Próbáljuk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az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lkalmazást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!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475488" y="3401568"/>
            <a:ext cx="256032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Élő </a:t>
            </a:r>
            <a:r>
              <a:rPr lang="hu-HU" sz="1500" i="1" dirty="0" err="1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r>
              <a:rPr lang="en-US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következik →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4ABAD5F1-DA36-A3AF-D4F9-8DEADE67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237" y="1945957"/>
            <a:ext cx="2143125" cy="2143125"/>
          </a:xfrm>
          <a:prstGeom prst="ellipse">
            <a:avLst/>
          </a:prstGeom>
          <a:ln w="190500" cap="rnd">
            <a:solidFill>
              <a:srgbClr val="C8C6BD"/>
            </a:solidFill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unpacked_clean/ppt/media/image1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628">
              <a:alpha val="7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2"/>
          <p:cNvSpPr/>
          <p:nvPr/>
        </p:nvSpPr>
        <p:spPr>
          <a:xfrm>
            <a:off x="914400" y="82296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Köszönjük</a:t>
            </a:r>
            <a:endParaRPr lang="en-US" sz="64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Figyelmet!</a:t>
            </a:r>
            <a:endParaRPr lang="en-US" sz="6400" dirty="0"/>
          </a:p>
        </p:txBody>
      </p:sp>
      <p:sp>
        <p:nvSpPr>
          <p:cNvPr id="6" name="Shape 3"/>
          <p:cNvSpPr/>
          <p:nvPr/>
        </p:nvSpPr>
        <p:spPr>
          <a:xfrm>
            <a:off x="3108960" y="3657600"/>
            <a:ext cx="292608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0" y="3858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Ádám &amp; Matyi  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F33BF45BA2D51468C049D7F49465F36" ma:contentTypeVersion="4" ma:contentTypeDescription="Új dokumentum létrehozása." ma:contentTypeScope="" ma:versionID="99230fe3e1de2d885706f7e7f862bcf2">
  <xsd:schema xmlns:xsd="http://www.w3.org/2001/XMLSchema" xmlns:xs="http://www.w3.org/2001/XMLSchema" xmlns:p="http://schemas.microsoft.com/office/2006/metadata/properties" xmlns:ns2="87aa24f1-5ba0-4b45-9ca0-cb710780616f" targetNamespace="http://schemas.microsoft.com/office/2006/metadata/properties" ma:root="true" ma:fieldsID="4c780e0772cac3b1fb0a258a91ebf9e8" ns2:_="">
    <xsd:import namespace="87aa24f1-5ba0-4b45-9ca0-cb710780616f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aa24f1-5ba0-4b45-9ca0-cb710780616f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ferenceId xmlns="87aa24f1-5ba0-4b45-9ca0-cb710780616f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6430B49-CDF2-4854-9EF5-30E772CBB2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7aa24f1-5ba0-4b45-9ca0-cb71078061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AC5D19B-4118-451B-867A-9FDFB4FA3F3D}">
  <ds:schemaRefs>
    <ds:schemaRef ds:uri="http://schemas.microsoft.com/office/2006/metadata/properties"/>
    <ds:schemaRef ds:uri="http://schemas.microsoft.com/office/infopath/2007/PartnerControls"/>
    <ds:schemaRef ds:uri="87aa24f1-5ba0-4b45-9ca0-cb710780616f"/>
  </ds:schemaRefs>
</ds:datastoreItem>
</file>

<file path=customXml/itemProps3.xml><?xml version="1.0" encoding="utf-8"?>
<ds:datastoreItem xmlns:ds="http://schemas.openxmlformats.org/officeDocument/2006/customXml" ds:itemID="{6200B2EB-C840-4BCD-BAB1-BC8073AF05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348</Words>
  <Application>Microsoft Office PowerPoint</Application>
  <PresentationFormat>Diavetítés a képernyőre (16:9 oldalarány)</PresentationFormat>
  <Paragraphs>108</Paragraphs>
  <Slides>12</Slides>
  <Notes>12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Arial</vt:lpstr>
      <vt:lpstr>Palatino Linotype</vt:lpstr>
      <vt:lpstr>Trebuchet MS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 Country Webshop</dc:title>
  <dc:subject>PptxGenJS Presentation</dc:subject>
  <dc:creator>Ádám &amp; Matyi</dc:creator>
  <cp:lastModifiedBy>Ádám Czirják</cp:lastModifiedBy>
  <cp:revision>12</cp:revision>
  <dcterms:created xsi:type="dcterms:W3CDTF">2026-03-23T20:12:40Z</dcterms:created>
  <dcterms:modified xsi:type="dcterms:W3CDTF">2026-04-08T16:53:40Z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0x010100CF33BF45BA2D51468C049D7F49465F36</vt:lpwstr>
  </property>
</Properties>
</file>