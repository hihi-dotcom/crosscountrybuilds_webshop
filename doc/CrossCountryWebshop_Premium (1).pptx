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7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490073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microsoft.com/office/2007/relationships/hdphoto" Target="../media/hdphoto1.wdp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Kép 14">
            <a:extLst>
              <a:ext uri="{FF2B5EF4-FFF2-40B4-BE49-F238E27FC236}">
                <a16:creationId xmlns:a16="http://schemas.microsoft.com/office/drawing/2014/main" id="{87BB9D71-BF6E-613D-69E6-EFC477C694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0500" y="41148"/>
            <a:ext cx="5143500" cy="50429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-10551" y="-59436"/>
            <a:ext cx="5669280" cy="5143500"/>
          </a:xfrm>
          <a:prstGeom prst="rect">
            <a:avLst/>
          </a:prstGeom>
          <a:solidFill>
            <a:srgbClr val="0B1628"/>
          </a:solidFill>
          <a:ln w="12700">
            <a:solidFill>
              <a:srgbClr val="0B162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Shape 1"/>
          <p:cNvSpPr/>
          <p:nvPr/>
        </p:nvSpPr>
        <p:spPr>
          <a:xfrm>
            <a:off x="5120640" y="0"/>
            <a:ext cx="1371600" cy="5143500"/>
          </a:xfrm>
          <a:prstGeom prst="rect">
            <a:avLst/>
          </a:prstGeom>
          <a:solidFill>
            <a:srgbClr val="0B1628">
              <a:alpha val="45000"/>
            </a:srgbClr>
          </a:solidFill>
          <a:ln w="12700">
            <a:solidFill>
              <a:srgbClr val="0B162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Shape 2"/>
          <p:cNvSpPr/>
          <p:nvPr/>
        </p:nvSpPr>
        <p:spPr>
          <a:xfrm>
            <a:off x="0" y="0"/>
            <a:ext cx="9144000" cy="4114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6" name="Text 3"/>
          <p:cNvSpPr/>
          <p:nvPr/>
        </p:nvSpPr>
        <p:spPr>
          <a:xfrm>
            <a:off x="502920" y="182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E9A2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PROJEKT BEMUTATÓ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457200" y="566928"/>
            <a:ext cx="54864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58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Cross Country</a:t>
            </a:r>
            <a:endParaRPr lang="en-US" sz="5800" dirty="0"/>
          </a:p>
          <a:p>
            <a:pPr marL="0" indent="0">
              <a:lnSpc>
                <a:spcPct val="98000"/>
              </a:lnSpc>
              <a:buNone/>
            </a:pPr>
            <a:r>
              <a:rPr lang="en-US" sz="58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Webshop</a:t>
            </a:r>
            <a:endParaRPr lang="en-US" sz="5800" dirty="0"/>
          </a:p>
        </p:txBody>
      </p:sp>
      <p:sp>
        <p:nvSpPr>
          <p:cNvPr id="8" name="Shape 5"/>
          <p:cNvSpPr/>
          <p:nvPr/>
        </p:nvSpPr>
        <p:spPr>
          <a:xfrm>
            <a:off x="475488" y="2999232"/>
            <a:ext cx="2377440" cy="36576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9" name="Text 6"/>
          <p:cNvSpPr/>
          <p:nvPr/>
        </p:nvSpPr>
        <p:spPr>
          <a:xfrm>
            <a:off x="98473" y="3145536"/>
            <a:ext cx="5451231" cy="629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5000"/>
              </a:lnSpc>
            </a:pPr>
            <a:r>
              <a:rPr lang="en-US" sz="1200" i="1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Architektúra  ·  Funkciók  ·  </a:t>
            </a:r>
            <a:r>
              <a:rPr lang="en-US" sz="1200" i="1" dirty="0" err="1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Tokenizáci</a:t>
            </a:r>
            <a:r>
              <a:rPr lang="hu-HU" sz="1200" i="1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ó</a:t>
            </a:r>
            <a:r>
              <a:rPr lang="en-US" sz="1200" i="1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·</a:t>
            </a:r>
            <a:r>
              <a:rPr lang="hu-HU" sz="1200" i="1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API </a:t>
            </a:r>
            <a:r>
              <a:rPr lang="hu-HU" sz="1200" i="1" dirty="0" err="1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endpointok</a:t>
            </a:r>
            <a:r>
              <a:rPr lang="en-US" sz="1200" i="1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·  Munkamegosztás</a:t>
            </a:r>
            <a:endParaRPr lang="en-US" sz="1200" i="1" dirty="0"/>
          </a:p>
        </p:txBody>
      </p:sp>
      <p:sp>
        <p:nvSpPr>
          <p:cNvPr id="10" name="Shape 7"/>
          <p:cNvSpPr/>
          <p:nvPr/>
        </p:nvSpPr>
        <p:spPr>
          <a:xfrm>
            <a:off x="0" y="5102352"/>
            <a:ext cx="9144000" cy="41148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54864" cy="713232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/>
          <p:cNvSpPr/>
          <p:nvPr/>
        </p:nvSpPr>
        <p:spPr>
          <a:xfrm>
            <a:off x="658368" y="201168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 Projekt Bemutatása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0" y="1097280"/>
            <a:ext cx="9144000" cy="16459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Shape 3"/>
          <p:cNvSpPr/>
          <p:nvPr/>
        </p:nvSpPr>
        <p:spPr>
          <a:xfrm>
            <a:off x="0" y="5102352"/>
            <a:ext cx="9144000" cy="41148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7" name="Shape 5"/>
          <p:cNvSpPr/>
          <p:nvPr/>
        </p:nvSpPr>
        <p:spPr>
          <a:xfrm>
            <a:off x="411480" y="1261872"/>
            <a:ext cx="2633472" cy="3493008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8" name="Shape 6"/>
          <p:cNvSpPr/>
          <p:nvPr/>
        </p:nvSpPr>
        <p:spPr>
          <a:xfrm>
            <a:off x="411480" y="1261872"/>
            <a:ext cx="45720" cy="349300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9" name="Text 7"/>
          <p:cNvSpPr/>
          <p:nvPr/>
        </p:nvSpPr>
        <p:spPr>
          <a:xfrm>
            <a:off x="566928" y="13533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>
                <a:solidFill>
                  <a:srgbClr val="E9A2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SZOFTVER CÉLJA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566928" y="1645920"/>
            <a:ext cx="2286000" cy="36576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1" name="Text 9"/>
          <p:cNvSpPr/>
          <p:nvPr/>
        </p:nvSpPr>
        <p:spPr>
          <a:xfrm>
            <a:off x="566928" y="1755648"/>
            <a:ext cx="2377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Egy teljes értékű webshop, ahol fiatalok böngészhetnek, kerékpár szervizt foglalhatnak, és termékeket rendelhetnek.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3250692" y="1241755"/>
            <a:ext cx="2633472" cy="3493008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3" name="Shape 11"/>
          <p:cNvSpPr/>
          <p:nvPr/>
        </p:nvSpPr>
        <p:spPr>
          <a:xfrm>
            <a:off x="3227832" y="1261872"/>
            <a:ext cx="45720" cy="349300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4" name="Text 12"/>
          <p:cNvSpPr/>
          <p:nvPr/>
        </p:nvSpPr>
        <p:spPr>
          <a:xfrm>
            <a:off x="3383280" y="13533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>
                <a:solidFill>
                  <a:srgbClr val="E9A2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KINEK SZÓL?</a:t>
            </a: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3383280" y="1645920"/>
            <a:ext cx="2286000" cy="36576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6" name="Text 14"/>
          <p:cNvSpPr/>
          <p:nvPr/>
        </p:nvSpPr>
        <p:spPr>
          <a:xfrm>
            <a:off x="3383280" y="1755648"/>
            <a:ext cx="2377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Olyan </a:t>
            </a:r>
            <a:r>
              <a:rPr lang="en-US" sz="1600" dirty="0" err="1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fiatal</a:t>
            </a:r>
            <a:r>
              <a:rPr lang="hu-HU" sz="16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ok</a:t>
            </a:r>
            <a:r>
              <a:rPr lang="en-US" sz="16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nak, akiket érdekel a kerékpározás világa, a</a:t>
            </a:r>
            <a:r>
              <a:rPr lang="hu-HU" sz="16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jövendőbeli szakembereknek</a:t>
            </a:r>
            <a:r>
              <a:rPr lang="en-US" sz="16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. 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044184" y="1261872"/>
            <a:ext cx="2633472" cy="3493008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8" name="Shape 16"/>
          <p:cNvSpPr/>
          <p:nvPr/>
        </p:nvSpPr>
        <p:spPr>
          <a:xfrm>
            <a:off x="6044184" y="1261872"/>
            <a:ext cx="45720" cy="349300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9" name="Text 17"/>
          <p:cNvSpPr/>
          <p:nvPr/>
        </p:nvSpPr>
        <p:spPr>
          <a:xfrm>
            <a:off x="6199632" y="13533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>
                <a:solidFill>
                  <a:srgbClr val="E9A2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MIÉRT?</a:t>
            </a:r>
            <a:endParaRPr lang="en-US" dirty="0"/>
          </a:p>
        </p:txBody>
      </p:sp>
      <p:sp>
        <p:nvSpPr>
          <p:cNvPr id="20" name="Shape 18"/>
          <p:cNvSpPr/>
          <p:nvPr/>
        </p:nvSpPr>
        <p:spPr>
          <a:xfrm>
            <a:off x="6199632" y="1645920"/>
            <a:ext cx="2286000" cy="36576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1" name="Text 19"/>
          <p:cNvSpPr/>
          <p:nvPr/>
        </p:nvSpPr>
        <p:spPr>
          <a:xfrm>
            <a:off x="6199632" y="1755648"/>
            <a:ext cx="2377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Személy szerint nagyon érdekel a kerékpározás világa, illetve maga a </a:t>
            </a:r>
            <a:endParaRPr lang="hu-HU" sz="1600" dirty="0">
              <a:solidFill>
                <a:srgbClr val="C5D5E8"/>
              </a:solidFill>
              <a:latin typeface="Trebuchet MS" pitchFamily="34" charset="0"/>
              <a:ea typeface="Trebuchet MS" pitchFamily="34" charset="-122"/>
              <a:cs typeface="Trebuchet MS" pitchFamily="34" charset="-120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sz="1600" dirty="0" err="1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sportág</a:t>
            </a:r>
            <a:r>
              <a:rPr lang="en-US" sz="16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is.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54864" cy="713232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/>
          <p:cNvSpPr/>
          <p:nvPr/>
        </p:nvSpPr>
        <p:spPr>
          <a:xfrm>
            <a:off x="658368" y="201168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Rendszer Architektúra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0" y="1097280"/>
            <a:ext cx="9144000" cy="16459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Shape 3"/>
          <p:cNvSpPr/>
          <p:nvPr/>
        </p:nvSpPr>
        <p:spPr>
          <a:xfrm>
            <a:off x="0" y="5102352"/>
            <a:ext cx="9144000" cy="41148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7" name="Shape 5"/>
          <p:cNvSpPr/>
          <p:nvPr/>
        </p:nvSpPr>
        <p:spPr>
          <a:xfrm>
            <a:off x="960120" y="2304288"/>
            <a:ext cx="7178040" cy="20117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9" name="Text 7"/>
          <p:cNvSpPr/>
          <p:nvPr/>
        </p:nvSpPr>
        <p:spPr>
          <a:xfrm>
            <a:off x="1024128" y="1298448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298448" y="2258568"/>
            <a:ext cx="146304" cy="146304"/>
          </a:xfrm>
          <a:prstGeom prst="ellipse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1" name="Shape 9"/>
          <p:cNvSpPr/>
          <p:nvPr/>
        </p:nvSpPr>
        <p:spPr>
          <a:xfrm>
            <a:off x="411480" y="2514600"/>
            <a:ext cx="1920240" cy="2286000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2" name="Text 10"/>
          <p:cNvSpPr/>
          <p:nvPr/>
        </p:nvSpPr>
        <p:spPr>
          <a:xfrm>
            <a:off x="539496" y="2596896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150" dirty="0">
                <a:solidFill>
                  <a:srgbClr val="E9A2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FRONTEND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39496" y="2898648"/>
            <a:ext cx="1600200" cy="36576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4" name="Text 12"/>
          <p:cNvSpPr/>
          <p:nvPr/>
        </p:nvSpPr>
        <p:spPr>
          <a:xfrm>
            <a:off x="539496" y="2999232"/>
            <a:ext cx="16642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40000"/>
              </a:lnSpc>
            </a:pPr>
            <a:r>
              <a:rPr lang="en-US" sz="14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 </a:t>
            </a:r>
            <a:endParaRPr lang="hu-HU" sz="1400" dirty="0">
              <a:solidFill>
                <a:srgbClr val="C5D5E8"/>
              </a:solidFill>
              <a:latin typeface="Trebuchet MS" pitchFamily="34" charset="0"/>
              <a:ea typeface="Trebuchet MS" pitchFamily="34" charset="-122"/>
              <a:cs typeface="Trebuchet MS" pitchFamily="34" charset="-120"/>
            </a:endParaRPr>
          </a:p>
          <a:p>
            <a:pPr algn="ctr">
              <a:lnSpc>
                <a:spcPct val="140000"/>
              </a:lnSpc>
            </a:pPr>
            <a:r>
              <a:rPr lang="en-US" sz="14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 Router v7</a:t>
            </a:r>
            <a:endParaRPr lang="en-US" sz="1400" dirty="0"/>
          </a:p>
          <a:p>
            <a:pPr algn="ctr">
              <a:lnSpc>
                <a:spcPct val="140000"/>
              </a:lnSpc>
            </a:pPr>
            <a:r>
              <a:rPr lang="en-US" sz="14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Tailwind CSS</a:t>
            </a:r>
            <a:endParaRPr lang="en-US" sz="1400" dirty="0"/>
          </a:p>
          <a:p>
            <a:pPr algn="ctr">
              <a:lnSpc>
                <a:spcPct val="140000"/>
              </a:lnSpc>
            </a:pPr>
            <a:r>
              <a:rPr lang="en-US" sz="14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Flowbite React komponens könyvtár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127248" y="1298448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401568" y="2258568"/>
            <a:ext cx="146304" cy="146304"/>
          </a:xfrm>
          <a:prstGeom prst="ellipse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8" name="Shape 16"/>
          <p:cNvSpPr/>
          <p:nvPr/>
        </p:nvSpPr>
        <p:spPr>
          <a:xfrm>
            <a:off x="2514600" y="2514600"/>
            <a:ext cx="1920240" cy="2286000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9" name="Text 17"/>
          <p:cNvSpPr/>
          <p:nvPr/>
        </p:nvSpPr>
        <p:spPr>
          <a:xfrm>
            <a:off x="2642616" y="2596896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150" dirty="0">
                <a:solidFill>
                  <a:srgbClr val="E9A2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BACKEND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2642616" y="2898648"/>
            <a:ext cx="1600200" cy="36576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1" name="Text 19"/>
          <p:cNvSpPr/>
          <p:nvPr/>
        </p:nvSpPr>
        <p:spPr>
          <a:xfrm>
            <a:off x="2642616" y="2999232"/>
            <a:ext cx="16642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4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 / Node.js</a:t>
            </a:r>
            <a:endParaRPr lang="en-US" sz="14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4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Odin </a:t>
            </a:r>
            <a:endParaRPr lang="hu-HU" sz="1400" dirty="0">
              <a:solidFill>
                <a:srgbClr val="C5D5E8"/>
              </a:solidFill>
              <a:latin typeface="Trebuchet MS" pitchFamily="34" charset="0"/>
              <a:ea typeface="Trebuchet MS" pitchFamily="34" charset="-122"/>
              <a:cs typeface="Trebuchet MS" pitchFamily="34" charset="-120"/>
            </a:endParaRPr>
          </a:p>
          <a:p>
            <a:pPr marL="0" indent="0" algn="ctr">
              <a:lnSpc>
                <a:spcPct val="140000"/>
              </a:lnSpc>
              <a:buNone/>
            </a:pPr>
            <a:r>
              <a:rPr lang="hu-HU" sz="1400" dirty="0" err="1">
                <a:solidFill>
                  <a:srgbClr val="C5D5E8"/>
                </a:solidFill>
                <a:latin typeface="Trebuchet MS" pitchFamily="34" charset="0"/>
              </a:rPr>
              <a:t>Caddy</a:t>
            </a:r>
            <a:r>
              <a:rPr lang="hu-HU" sz="1400" dirty="0">
                <a:solidFill>
                  <a:srgbClr val="C5D5E8"/>
                </a:solidFill>
                <a:latin typeface="Trebuchet MS" pitchFamily="34" charset="0"/>
              </a:rPr>
              <a:t> szerver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230368" y="1298448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504688" y="2258568"/>
            <a:ext cx="146304" cy="146304"/>
          </a:xfrm>
          <a:prstGeom prst="ellipse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5" name="Shape 23"/>
          <p:cNvSpPr/>
          <p:nvPr/>
        </p:nvSpPr>
        <p:spPr>
          <a:xfrm>
            <a:off x="4617720" y="2514600"/>
            <a:ext cx="1920240" cy="2286000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6" name="Text 24"/>
          <p:cNvSpPr/>
          <p:nvPr/>
        </p:nvSpPr>
        <p:spPr>
          <a:xfrm>
            <a:off x="4745736" y="2596896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150" dirty="0">
                <a:solidFill>
                  <a:srgbClr val="E9A2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ADATBÁZIS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4745736" y="2898648"/>
            <a:ext cx="1600200" cy="36576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8" name="Text 26"/>
          <p:cNvSpPr/>
          <p:nvPr/>
        </p:nvSpPr>
        <p:spPr>
          <a:xfrm>
            <a:off x="4745736" y="2999232"/>
            <a:ext cx="16642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4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MySQL </a:t>
            </a:r>
            <a:endParaRPr lang="hu-HU" sz="1400" dirty="0">
              <a:solidFill>
                <a:srgbClr val="C5D5E8"/>
              </a:solidFill>
              <a:latin typeface="Trebuchet MS" pitchFamily="34" charset="0"/>
              <a:ea typeface="Trebuchet MS" pitchFamily="34" charset="-122"/>
              <a:cs typeface="Trebuchet MS" pitchFamily="34" charset="-120"/>
            </a:endParaRPr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4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PostgreSQL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333488" y="1298448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7607808" y="2258568"/>
            <a:ext cx="146304" cy="146304"/>
          </a:xfrm>
          <a:prstGeom prst="ellipse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2" name="Shape 30"/>
          <p:cNvSpPr/>
          <p:nvPr/>
        </p:nvSpPr>
        <p:spPr>
          <a:xfrm>
            <a:off x="6720840" y="2514600"/>
            <a:ext cx="1920240" cy="2286000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33" name="Text 31"/>
          <p:cNvSpPr/>
          <p:nvPr/>
        </p:nvSpPr>
        <p:spPr>
          <a:xfrm>
            <a:off x="6848856" y="2596896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150" dirty="0">
                <a:solidFill>
                  <a:srgbClr val="E9A2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TESZTELÉS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48856" y="2898648"/>
            <a:ext cx="1600200" cy="36576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5" name="Text 33"/>
          <p:cNvSpPr/>
          <p:nvPr/>
        </p:nvSpPr>
        <p:spPr>
          <a:xfrm>
            <a:off x="6848856" y="2999232"/>
            <a:ext cx="16642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4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Cypress</a:t>
            </a:r>
            <a:endParaRPr lang="hu-HU" sz="1400" dirty="0">
              <a:solidFill>
                <a:srgbClr val="C5D5E8"/>
              </a:solidFill>
              <a:latin typeface="Trebuchet MS" pitchFamily="34" charset="0"/>
              <a:ea typeface="Trebuchet MS" pitchFamily="34" charset="-122"/>
              <a:cs typeface="Trebuchet MS" pitchFamily="34" charset="-120"/>
            </a:endParaRPr>
          </a:p>
          <a:p>
            <a:pPr marL="0" indent="0" algn="ctr">
              <a:lnSpc>
                <a:spcPct val="140000"/>
              </a:lnSpc>
              <a:buNone/>
            </a:pPr>
            <a:r>
              <a:rPr lang="hu-HU" sz="1400" dirty="0" err="1">
                <a:solidFill>
                  <a:srgbClr val="C5D5E8"/>
                </a:solidFill>
                <a:latin typeface="Trebuchet MS" pitchFamily="34" charset="0"/>
              </a:rPr>
              <a:t>Jest</a:t>
            </a:r>
            <a:endParaRPr lang="en-US" sz="1400" dirty="0"/>
          </a:p>
        </p:txBody>
      </p:sp>
      <p:pic>
        <p:nvPicPr>
          <p:cNvPr id="38" name="Kép 37">
            <a:extLst>
              <a:ext uri="{FF2B5EF4-FFF2-40B4-BE49-F238E27FC236}">
                <a16:creationId xmlns:a16="http://schemas.microsoft.com/office/drawing/2014/main" id="{67D48EFC-9131-6EC6-BD60-CDEA9BABD4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502" y="1325039"/>
            <a:ext cx="821129" cy="75796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40" name="Kép 39">
            <a:extLst>
              <a:ext uri="{FF2B5EF4-FFF2-40B4-BE49-F238E27FC236}">
                <a16:creationId xmlns:a16="http://schemas.microsoft.com/office/drawing/2014/main" id="{DB1931A8-C045-DA4A-A937-E8FE2922E6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4461" y="1283415"/>
            <a:ext cx="821128" cy="84713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42" name="Kép 41">
            <a:extLst>
              <a:ext uri="{FF2B5EF4-FFF2-40B4-BE49-F238E27FC236}">
                <a16:creationId xmlns:a16="http://schemas.microsoft.com/office/drawing/2014/main" id="{2CE54654-A298-69AB-1534-6580DE950DB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harpenSoften amount="-5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270395" y="1280874"/>
            <a:ext cx="821129" cy="84967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D583B7B1-8186-CB38-721F-F8C2C0002D1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68778" y="1337010"/>
            <a:ext cx="1420535" cy="73867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54864" cy="713232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/>
          <p:cNvSpPr/>
          <p:nvPr/>
        </p:nvSpPr>
        <p:spPr>
          <a:xfrm>
            <a:off x="658368" y="201168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Az </a:t>
            </a:r>
            <a:r>
              <a:rPr lang="hu-HU" sz="3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</a:t>
            </a:r>
            <a:r>
              <a:rPr lang="en-US" sz="3200" b="1" dirty="0" err="1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lkalmazás</a:t>
            </a:r>
            <a:r>
              <a:rPr lang="en-US" sz="3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</a:t>
            </a:r>
            <a:r>
              <a:rPr lang="hu-HU" sz="3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</a:t>
            </a:r>
            <a:r>
              <a:rPr lang="en-US" sz="3200" b="1" dirty="0" err="1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őbb</a:t>
            </a:r>
            <a:r>
              <a:rPr lang="en-US" sz="3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</a:t>
            </a:r>
            <a:r>
              <a:rPr lang="hu-HU" sz="3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</a:t>
            </a:r>
            <a:r>
              <a:rPr lang="en-US" sz="3200" b="1" dirty="0" err="1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unkciói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0" y="1097280"/>
            <a:ext cx="9144000" cy="16459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Shape 3"/>
          <p:cNvSpPr/>
          <p:nvPr/>
        </p:nvSpPr>
        <p:spPr>
          <a:xfrm>
            <a:off x="0" y="5102352"/>
            <a:ext cx="9144000" cy="41148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7" name="Shape 5"/>
          <p:cNvSpPr/>
          <p:nvPr/>
        </p:nvSpPr>
        <p:spPr>
          <a:xfrm>
            <a:off x="457200" y="1261872"/>
            <a:ext cx="8229600" cy="731520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8" name="Shape 6"/>
          <p:cNvSpPr/>
          <p:nvPr/>
        </p:nvSpPr>
        <p:spPr>
          <a:xfrm>
            <a:off x="457200" y="1261872"/>
            <a:ext cx="45720" cy="731520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9" name="Text 7"/>
          <p:cNvSpPr/>
          <p:nvPr/>
        </p:nvSpPr>
        <p:spPr>
          <a:xfrm>
            <a:off x="585216" y="1261872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1225296" y="1426464"/>
            <a:ext cx="16459" cy="402336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1" name="Text 9"/>
          <p:cNvSpPr/>
          <p:nvPr/>
        </p:nvSpPr>
        <p:spPr>
          <a:xfrm>
            <a:off x="1335024" y="1316736"/>
            <a:ext cx="7132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Termékek böngészése, szűrése</a:t>
            </a: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457200" y="2157984"/>
            <a:ext cx="8229600" cy="731520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3" name="Shape 11"/>
          <p:cNvSpPr/>
          <p:nvPr/>
        </p:nvSpPr>
        <p:spPr>
          <a:xfrm>
            <a:off x="457200" y="2157984"/>
            <a:ext cx="45720" cy="731520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4" name="Text 12"/>
          <p:cNvSpPr/>
          <p:nvPr/>
        </p:nvSpPr>
        <p:spPr>
          <a:xfrm>
            <a:off x="585216" y="2157984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1225296" y="2322576"/>
            <a:ext cx="16459" cy="402336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6" name="Text 14"/>
          <p:cNvSpPr/>
          <p:nvPr/>
        </p:nvSpPr>
        <p:spPr>
          <a:xfrm>
            <a:off x="1335024" y="2212848"/>
            <a:ext cx="7132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Regisztráció / Bejelentkezés</a:t>
            </a: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457200" y="3054096"/>
            <a:ext cx="8229600" cy="731520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8" name="Shape 16"/>
          <p:cNvSpPr/>
          <p:nvPr/>
        </p:nvSpPr>
        <p:spPr>
          <a:xfrm>
            <a:off x="457200" y="3054096"/>
            <a:ext cx="45720" cy="731520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9" name="Text 17"/>
          <p:cNvSpPr/>
          <p:nvPr/>
        </p:nvSpPr>
        <p:spPr>
          <a:xfrm>
            <a:off x="585216" y="3054096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dirty="0"/>
          </a:p>
        </p:txBody>
      </p:sp>
      <p:sp>
        <p:nvSpPr>
          <p:cNvPr id="20" name="Shape 18"/>
          <p:cNvSpPr/>
          <p:nvPr/>
        </p:nvSpPr>
        <p:spPr>
          <a:xfrm>
            <a:off x="1225296" y="3218688"/>
            <a:ext cx="16459" cy="402336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1" name="Text 19"/>
          <p:cNvSpPr/>
          <p:nvPr/>
        </p:nvSpPr>
        <p:spPr>
          <a:xfrm>
            <a:off x="1335024" y="3108960"/>
            <a:ext cx="7132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Kerékpárs</a:t>
            </a:r>
            <a:r>
              <a:rPr lang="en-US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zerviz</a:t>
            </a:r>
            <a:r>
              <a:rPr lang="en-US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foglalás</a:t>
            </a:r>
            <a:endParaRPr lang="en-US" dirty="0"/>
          </a:p>
        </p:txBody>
      </p:sp>
      <p:sp>
        <p:nvSpPr>
          <p:cNvPr id="22" name="Shape 20"/>
          <p:cNvSpPr/>
          <p:nvPr/>
        </p:nvSpPr>
        <p:spPr>
          <a:xfrm>
            <a:off x="457200" y="3950208"/>
            <a:ext cx="8229600" cy="731520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3" name="Shape 21"/>
          <p:cNvSpPr/>
          <p:nvPr/>
        </p:nvSpPr>
        <p:spPr>
          <a:xfrm>
            <a:off x="457200" y="3950208"/>
            <a:ext cx="45720" cy="731520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4" name="Text 22"/>
          <p:cNvSpPr/>
          <p:nvPr/>
        </p:nvSpPr>
        <p:spPr>
          <a:xfrm>
            <a:off x="585216" y="3950208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dirty="0"/>
          </a:p>
        </p:txBody>
      </p:sp>
      <p:sp>
        <p:nvSpPr>
          <p:cNvPr id="25" name="Shape 23"/>
          <p:cNvSpPr/>
          <p:nvPr/>
        </p:nvSpPr>
        <p:spPr>
          <a:xfrm>
            <a:off x="1225296" y="4114800"/>
            <a:ext cx="16459" cy="402336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6" name="Text 24"/>
          <p:cNvSpPr/>
          <p:nvPr/>
        </p:nvSpPr>
        <p:spPr>
          <a:xfrm>
            <a:off x="1335023" y="4005072"/>
            <a:ext cx="7318857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hu-HU" dirty="0">
                <a:solidFill>
                  <a:srgbClr val="FFFFFF"/>
                </a:solidFill>
                <a:latin typeface="Trebuchet MS" pitchFamily="34" charset="0"/>
              </a:rPr>
              <a:t>Megrendelési folyamat (kosár       adatok        e-mail visszaigazolás)</a:t>
            </a:r>
            <a:endParaRPr lang="en-US" dirty="0">
              <a:solidFill>
                <a:srgbClr val="FFFFFF"/>
              </a:solidFill>
              <a:latin typeface="Trebuchet MS" pitchFamily="34" charset="0"/>
            </a:endParaRPr>
          </a:p>
        </p:txBody>
      </p:sp>
      <p:cxnSp>
        <p:nvCxnSpPr>
          <p:cNvPr id="27" name="Egyenes összekötő nyíllal 26">
            <a:extLst>
              <a:ext uri="{FF2B5EF4-FFF2-40B4-BE49-F238E27FC236}">
                <a16:creationId xmlns:a16="http://schemas.microsoft.com/office/drawing/2014/main" id="{C7129F49-E6B7-1200-FE7B-5DBF7866F18C}"/>
              </a:ext>
            </a:extLst>
          </p:cNvPr>
          <p:cNvCxnSpPr>
            <a:cxnSpLocks/>
          </p:cNvCxnSpPr>
          <p:nvPr/>
        </p:nvCxnSpPr>
        <p:spPr>
          <a:xfrm>
            <a:off x="4384357" y="4328160"/>
            <a:ext cx="375285" cy="0"/>
          </a:xfrm>
          <a:prstGeom prst="straightConnector1">
            <a:avLst/>
          </a:prstGeom>
          <a:ln w="1905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Egyenes összekötő nyíllal 28">
            <a:extLst>
              <a:ext uri="{FF2B5EF4-FFF2-40B4-BE49-F238E27FC236}">
                <a16:creationId xmlns:a16="http://schemas.microsoft.com/office/drawing/2014/main" id="{A1305938-92D1-5945-23E3-1B88BFAB8B96}"/>
              </a:ext>
            </a:extLst>
          </p:cNvPr>
          <p:cNvCxnSpPr>
            <a:cxnSpLocks/>
          </p:cNvCxnSpPr>
          <p:nvPr/>
        </p:nvCxnSpPr>
        <p:spPr>
          <a:xfrm>
            <a:off x="5634037" y="4328160"/>
            <a:ext cx="375285" cy="0"/>
          </a:xfrm>
          <a:prstGeom prst="straightConnector1">
            <a:avLst/>
          </a:prstGeom>
          <a:ln w="1905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Shape 7">
            <a:extLst>
              <a:ext uri="{FF2B5EF4-FFF2-40B4-BE49-F238E27FC236}">
                <a16:creationId xmlns:a16="http://schemas.microsoft.com/office/drawing/2014/main" id="{280A4678-34B1-3322-CBE2-4DB9477F33BF}"/>
              </a:ext>
            </a:extLst>
          </p:cNvPr>
          <p:cNvSpPr/>
          <p:nvPr/>
        </p:nvSpPr>
        <p:spPr>
          <a:xfrm>
            <a:off x="770910" y="1517904"/>
            <a:ext cx="219456" cy="219456"/>
          </a:xfrm>
          <a:prstGeom prst="ellipse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8" name="Shape 7">
            <a:extLst>
              <a:ext uri="{FF2B5EF4-FFF2-40B4-BE49-F238E27FC236}">
                <a16:creationId xmlns:a16="http://schemas.microsoft.com/office/drawing/2014/main" id="{FF47BFA9-3048-7D92-3C38-EB2053EFDD24}"/>
              </a:ext>
            </a:extLst>
          </p:cNvPr>
          <p:cNvSpPr/>
          <p:nvPr/>
        </p:nvSpPr>
        <p:spPr>
          <a:xfrm>
            <a:off x="770910" y="2395306"/>
            <a:ext cx="219456" cy="219456"/>
          </a:xfrm>
          <a:prstGeom prst="ellipse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0" name="Shape 7">
            <a:extLst>
              <a:ext uri="{FF2B5EF4-FFF2-40B4-BE49-F238E27FC236}">
                <a16:creationId xmlns:a16="http://schemas.microsoft.com/office/drawing/2014/main" id="{E4983FDF-8D4C-E0B1-87FA-AE059E0644ED}"/>
              </a:ext>
            </a:extLst>
          </p:cNvPr>
          <p:cNvSpPr/>
          <p:nvPr/>
        </p:nvSpPr>
        <p:spPr>
          <a:xfrm>
            <a:off x="770910" y="3310128"/>
            <a:ext cx="219456" cy="219456"/>
          </a:xfrm>
          <a:prstGeom prst="ellipse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8DD0E068-3EC7-25AF-E13B-4D0E38734738}"/>
              </a:ext>
            </a:extLst>
          </p:cNvPr>
          <p:cNvSpPr/>
          <p:nvPr/>
        </p:nvSpPr>
        <p:spPr>
          <a:xfrm>
            <a:off x="773020" y="4199206"/>
            <a:ext cx="219456" cy="219456"/>
          </a:xfrm>
          <a:prstGeom prst="ellipse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54864" cy="713232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/>
          <p:cNvSpPr/>
          <p:nvPr/>
        </p:nvSpPr>
        <p:spPr>
          <a:xfrm>
            <a:off x="658368" y="201168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sz="3200" b="1" dirty="0">
                <a:solidFill>
                  <a:srgbClr val="FFFFFF"/>
                </a:solidFill>
                <a:latin typeface="Palatino Linotype" pitchFamily="34" charset="0"/>
              </a:rPr>
              <a:t>Adatbázistáblák 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0" y="1097280"/>
            <a:ext cx="9144000" cy="16459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Shape 3"/>
          <p:cNvSpPr/>
          <p:nvPr/>
        </p:nvSpPr>
        <p:spPr>
          <a:xfrm>
            <a:off x="0" y="5102352"/>
            <a:ext cx="9144000" cy="41148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pic>
        <p:nvPicPr>
          <p:cNvPr id="31" name="Kép 30">
            <a:extLst>
              <a:ext uri="{FF2B5EF4-FFF2-40B4-BE49-F238E27FC236}">
                <a16:creationId xmlns:a16="http://schemas.microsoft.com/office/drawing/2014/main" id="{CD02984A-589D-2537-3AC9-D01E456C0F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" y="1253813"/>
            <a:ext cx="8888172" cy="446751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54864" cy="713232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/>
          <p:cNvSpPr/>
          <p:nvPr/>
        </p:nvSpPr>
        <p:spPr>
          <a:xfrm>
            <a:off x="658368" y="201168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Autentikáció — JWT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0" y="1097280"/>
            <a:ext cx="9144000" cy="16459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Shape 3"/>
          <p:cNvSpPr/>
          <p:nvPr/>
        </p:nvSpPr>
        <p:spPr>
          <a:xfrm>
            <a:off x="0" y="5102352"/>
            <a:ext cx="9144000" cy="41148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pic>
        <p:nvPicPr>
          <p:cNvPr id="7" name="Image 0" descr="/home/claude/unpacked_clean/ppt/media/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34440"/>
            <a:ext cx="4434840" cy="2980944"/>
          </a:xfrm>
          <a:prstGeom prst="rect">
            <a:avLst/>
          </a:prstGeom>
          <a:effectLst>
            <a:outerShdw blurRad="228600" dist="50800" dir="8100000" algn="bl" rotWithShape="0">
              <a:srgbClr val="000000">
                <a:alpha val="55000"/>
              </a:srgbClr>
            </a:outerShdw>
          </a:effectLst>
        </p:spPr>
      </p:pic>
      <p:sp>
        <p:nvSpPr>
          <p:cNvPr id="8" name="Shape 5"/>
          <p:cNvSpPr/>
          <p:nvPr/>
        </p:nvSpPr>
        <p:spPr>
          <a:xfrm>
            <a:off x="457200" y="1234440"/>
            <a:ext cx="4434840" cy="2980944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9" name="Text 6"/>
          <p:cNvSpPr/>
          <p:nvPr/>
        </p:nvSpPr>
        <p:spPr>
          <a:xfrm>
            <a:off x="396240" y="4323283"/>
            <a:ext cx="4434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5C7A9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Token kezelése a frontend oldalon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5074920" y="1234440"/>
            <a:ext cx="3657600" cy="658368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1" name="Shape 8"/>
          <p:cNvSpPr/>
          <p:nvPr/>
        </p:nvSpPr>
        <p:spPr>
          <a:xfrm>
            <a:off x="5074920" y="1234440"/>
            <a:ext cx="45720" cy="65836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2" name="Text 9"/>
          <p:cNvSpPr/>
          <p:nvPr/>
        </p:nvSpPr>
        <p:spPr>
          <a:xfrm>
            <a:off x="5248656" y="130759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Bejelentkezés</a:t>
            </a: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5248656" y="1618488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(POST) /api/login  ·  username, password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074920" y="2002536"/>
            <a:ext cx="3657600" cy="658368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5" name="Shape 12"/>
          <p:cNvSpPr/>
          <p:nvPr/>
        </p:nvSpPr>
        <p:spPr>
          <a:xfrm>
            <a:off x="5074920" y="2002536"/>
            <a:ext cx="45720" cy="65836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6" name="Text 13"/>
          <p:cNvSpPr/>
          <p:nvPr/>
        </p:nvSpPr>
        <p:spPr>
          <a:xfrm>
            <a:off x="5248656" y="207568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Token tárolás</a:t>
            </a:r>
            <a:endParaRPr lang="en-US" dirty="0"/>
          </a:p>
        </p:txBody>
      </p:sp>
      <p:sp>
        <p:nvSpPr>
          <p:cNvPr id="17" name="Text 14"/>
          <p:cNvSpPr/>
          <p:nvPr/>
        </p:nvSpPr>
        <p:spPr>
          <a:xfrm>
            <a:off x="5248656" y="23865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Kliens oldalon localStorage + header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074920" y="2836469"/>
            <a:ext cx="3657600" cy="658368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3" name="Shape 20"/>
          <p:cNvSpPr/>
          <p:nvPr/>
        </p:nvSpPr>
        <p:spPr>
          <a:xfrm>
            <a:off x="5074920" y="2836469"/>
            <a:ext cx="45720" cy="65836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4" name="Text 21"/>
          <p:cNvSpPr/>
          <p:nvPr/>
        </p:nvSpPr>
        <p:spPr>
          <a:xfrm>
            <a:off x="5248656" y="2909621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Védett végpont</a:t>
            </a:r>
            <a:endParaRPr lang="en-US" dirty="0"/>
          </a:p>
        </p:txBody>
      </p:sp>
      <p:sp>
        <p:nvSpPr>
          <p:cNvPr id="25" name="Text 22"/>
          <p:cNvSpPr/>
          <p:nvPr/>
        </p:nvSpPr>
        <p:spPr>
          <a:xfrm>
            <a:off x="5248656" y="3220517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Authorization: Bearer &lt;token&gt;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54864" cy="713232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/>
          <p:cNvSpPr/>
          <p:nvPr/>
        </p:nvSpPr>
        <p:spPr>
          <a:xfrm>
            <a:off x="658368" y="201168"/>
            <a:ext cx="4187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Végponthívás a kliens oldalon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1097280"/>
            <a:ext cx="9144000" cy="16459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Shape 3"/>
          <p:cNvSpPr/>
          <p:nvPr/>
        </p:nvSpPr>
        <p:spPr>
          <a:xfrm>
            <a:off x="0" y="5102352"/>
            <a:ext cx="9144000" cy="41148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pic>
        <p:nvPicPr>
          <p:cNvPr id="7" name="Image 0" descr="/home/claude/unpacked_clean/ppt/media/image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9220" y="201168"/>
            <a:ext cx="3657600" cy="4756709"/>
          </a:xfrm>
          <a:prstGeom prst="rect">
            <a:avLst/>
          </a:prstGeom>
          <a:effectLst>
            <a:outerShdw blurRad="228600" dist="50800" dir="8100000" algn="bl" rotWithShape="0">
              <a:srgbClr val="000000">
                <a:alpha val="55000"/>
              </a:srgbClr>
            </a:outerShdw>
          </a:effectLst>
        </p:spPr>
      </p:pic>
      <p:sp>
        <p:nvSpPr>
          <p:cNvPr id="9" name="Shape 6"/>
          <p:cNvSpPr/>
          <p:nvPr/>
        </p:nvSpPr>
        <p:spPr>
          <a:xfrm>
            <a:off x="457200" y="1261872"/>
            <a:ext cx="4389120" cy="658368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0" name="Shape 7"/>
          <p:cNvSpPr/>
          <p:nvPr/>
        </p:nvSpPr>
        <p:spPr>
          <a:xfrm>
            <a:off x="457200" y="1261872"/>
            <a:ext cx="45720" cy="65836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1" name="Text 8"/>
          <p:cNvSpPr/>
          <p:nvPr/>
        </p:nvSpPr>
        <p:spPr>
          <a:xfrm>
            <a:off x="640080" y="1325880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DRY elv</a:t>
            </a: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640080" y="1627632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Egy függvény szinte minden műveletre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2029968"/>
            <a:ext cx="4389120" cy="658368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4" name="Shape 11"/>
          <p:cNvSpPr/>
          <p:nvPr/>
        </p:nvSpPr>
        <p:spPr>
          <a:xfrm>
            <a:off x="457200" y="2029968"/>
            <a:ext cx="45720" cy="65836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5" name="Text 12"/>
          <p:cNvSpPr/>
          <p:nvPr/>
        </p:nvSpPr>
        <p:spPr>
          <a:xfrm>
            <a:off x="640080" y="2093976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</a:t>
            </a:r>
            <a:r>
              <a:rPr lang="hu-HU" b="1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matikus</a:t>
            </a:r>
            <a:r>
              <a:rPr lang="en-US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token kezelés</a:t>
            </a: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640080" y="2395728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Token automatikus csatolása minden kéréshez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457200" y="2798064"/>
            <a:ext cx="4389120" cy="658368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8" name="Shape 15"/>
          <p:cNvSpPr/>
          <p:nvPr/>
        </p:nvSpPr>
        <p:spPr>
          <a:xfrm>
            <a:off x="457200" y="2798064"/>
            <a:ext cx="45720" cy="65836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9" name="Text 16"/>
          <p:cNvSpPr/>
          <p:nvPr/>
        </p:nvSpPr>
        <p:spPr>
          <a:xfrm>
            <a:off x="640080" y="286207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Content-Type</a:t>
            </a:r>
            <a:endParaRPr lang="en-US" dirty="0"/>
          </a:p>
        </p:txBody>
      </p:sp>
      <p:sp>
        <p:nvSpPr>
          <p:cNvPr id="20" name="Text 17"/>
          <p:cNvSpPr/>
          <p:nvPr/>
        </p:nvSpPr>
        <p:spPr>
          <a:xfrm>
            <a:off x="640080" y="3163824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Intelligens beállítás header szinten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457200" y="3566160"/>
            <a:ext cx="4389120" cy="658368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2" name="Shape 19"/>
          <p:cNvSpPr/>
          <p:nvPr/>
        </p:nvSpPr>
        <p:spPr>
          <a:xfrm>
            <a:off x="457200" y="3566160"/>
            <a:ext cx="45720" cy="65836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3" name="Text 20"/>
          <p:cNvSpPr/>
          <p:nvPr/>
        </p:nvSpPr>
        <p:spPr>
          <a:xfrm>
            <a:off x="640080" y="3630168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Token lejárat</a:t>
            </a:r>
            <a:endParaRPr lang="en-US" dirty="0"/>
          </a:p>
        </p:txBody>
      </p:sp>
      <p:sp>
        <p:nvSpPr>
          <p:cNvPr id="24" name="Text 21"/>
          <p:cNvSpPr/>
          <p:nvPr/>
        </p:nvSpPr>
        <p:spPr>
          <a:xfrm>
            <a:off x="640080" y="3931920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Automatikus lejárat kezelése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54864" cy="713232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/>
          <p:cNvSpPr/>
          <p:nvPr/>
        </p:nvSpPr>
        <p:spPr>
          <a:xfrm>
            <a:off x="658368" y="201168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Admin </a:t>
            </a:r>
            <a:r>
              <a:rPr lang="hu-HU" sz="3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</a:t>
            </a:r>
            <a:r>
              <a:rPr lang="en-US" sz="3200" b="1" dirty="0" err="1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elület</a:t>
            </a:r>
            <a:r>
              <a:rPr lang="en-US" sz="3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</a:t>
            </a:r>
            <a:r>
              <a:rPr lang="hu-HU" sz="3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</a:t>
            </a:r>
            <a:r>
              <a:rPr lang="en-US" sz="3200" b="1" dirty="0" err="1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egvalósítása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0" y="1097280"/>
            <a:ext cx="9144000" cy="16459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Shape 3"/>
          <p:cNvSpPr/>
          <p:nvPr/>
        </p:nvSpPr>
        <p:spPr>
          <a:xfrm>
            <a:off x="0" y="5102352"/>
            <a:ext cx="9144000" cy="41148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7" name="Shape 5"/>
          <p:cNvSpPr/>
          <p:nvPr/>
        </p:nvSpPr>
        <p:spPr>
          <a:xfrm>
            <a:off x="457200" y="1243584"/>
            <a:ext cx="4069080" cy="1051560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8" name="Shape 6"/>
          <p:cNvSpPr/>
          <p:nvPr/>
        </p:nvSpPr>
        <p:spPr>
          <a:xfrm>
            <a:off x="457200" y="1243584"/>
            <a:ext cx="45720" cy="1051560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9" name="Text 7"/>
          <p:cNvSpPr/>
          <p:nvPr/>
        </p:nvSpPr>
        <p:spPr>
          <a:xfrm>
            <a:off x="621792" y="1335024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Szerepkör alapú hozzáférés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621792" y="1792224"/>
            <a:ext cx="3566160" cy="36576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1" name="Text 9"/>
          <p:cNvSpPr/>
          <p:nvPr/>
        </p:nvSpPr>
        <p:spPr>
          <a:xfrm>
            <a:off x="621792" y="1883664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role: 'user' / 'admin'  ·  JWT payload-ban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754880" y="1243584"/>
            <a:ext cx="4069080" cy="1051560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3" name="Shape 11"/>
          <p:cNvSpPr/>
          <p:nvPr/>
        </p:nvSpPr>
        <p:spPr>
          <a:xfrm>
            <a:off x="4754880" y="1243584"/>
            <a:ext cx="45720" cy="1051560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4" name="Text 12"/>
          <p:cNvSpPr/>
          <p:nvPr/>
        </p:nvSpPr>
        <p:spPr>
          <a:xfrm>
            <a:off x="4919472" y="1335024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hu-HU" b="1" dirty="0">
                <a:solidFill>
                  <a:srgbClr val="FFFFFF"/>
                </a:solidFill>
                <a:latin typeface="Trebuchet MS" pitchFamily="34" charset="0"/>
              </a:rPr>
              <a:t>Termékkezelés (CRUD)</a:t>
            </a:r>
            <a:endParaRPr lang="en-US" b="1" dirty="0">
              <a:solidFill>
                <a:srgbClr val="FFFFFF"/>
              </a:solidFill>
              <a:latin typeface="Trebuchet MS" pitchFamily="34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919472" y="1792224"/>
            <a:ext cx="3566160" cy="36576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6" name="Text 14"/>
          <p:cNvSpPr/>
          <p:nvPr/>
        </p:nvSpPr>
        <p:spPr>
          <a:xfrm>
            <a:off x="4919472" y="1883664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sz="1400" dirty="0">
                <a:solidFill>
                  <a:srgbClr val="C5D5E8"/>
                </a:solidFill>
                <a:latin typeface="Trebuchet MS" pitchFamily="34" charset="0"/>
              </a:rPr>
              <a:t>Mindent lefedő termékkezelés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2505456"/>
            <a:ext cx="4069080" cy="1051560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8" name="Shape 16"/>
          <p:cNvSpPr/>
          <p:nvPr/>
        </p:nvSpPr>
        <p:spPr>
          <a:xfrm>
            <a:off x="457200" y="2505456"/>
            <a:ext cx="45720" cy="1051560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9" name="Text 17"/>
          <p:cNvSpPr/>
          <p:nvPr/>
        </p:nvSpPr>
        <p:spPr>
          <a:xfrm>
            <a:off x="621792" y="2596896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b="1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Rendelések</a:t>
            </a:r>
            <a:r>
              <a:rPr lang="en-US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b="1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listázása</a:t>
            </a:r>
            <a:r>
              <a:rPr lang="en-US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, lezárása</a:t>
            </a:r>
            <a:endParaRPr lang="en-US" dirty="0"/>
          </a:p>
        </p:txBody>
      </p:sp>
      <p:sp>
        <p:nvSpPr>
          <p:cNvPr id="20" name="Shape 18"/>
          <p:cNvSpPr/>
          <p:nvPr/>
        </p:nvSpPr>
        <p:spPr>
          <a:xfrm>
            <a:off x="621792" y="3054096"/>
            <a:ext cx="3566160" cy="36576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1" name="Text 19"/>
          <p:cNvSpPr/>
          <p:nvPr/>
        </p:nvSpPr>
        <p:spPr>
          <a:xfrm>
            <a:off x="621792" y="3145536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sz="1400" dirty="0">
                <a:solidFill>
                  <a:srgbClr val="C5D5E8"/>
                </a:solidFill>
                <a:latin typeface="Trebuchet MS" pitchFamily="34" charset="0"/>
              </a:rPr>
              <a:t>Külön felület az összefüggő funkcióknak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754880" y="2505456"/>
            <a:ext cx="4069080" cy="1051560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3" name="Shape 21"/>
          <p:cNvSpPr/>
          <p:nvPr/>
        </p:nvSpPr>
        <p:spPr>
          <a:xfrm>
            <a:off x="4754880" y="2505456"/>
            <a:ext cx="45720" cy="1051560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4" name="Text 22"/>
          <p:cNvSpPr/>
          <p:nvPr/>
        </p:nvSpPr>
        <p:spPr>
          <a:xfrm>
            <a:off x="4919472" y="2596896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b="1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Felhasználók</a:t>
            </a:r>
            <a:r>
              <a:rPr lang="hu-HU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között</a:t>
            </a:r>
            <a:r>
              <a:rPr lang="en-US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b="1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böngészés</a:t>
            </a:r>
            <a:endParaRPr lang="en-US" dirty="0"/>
          </a:p>
        </p:txBody>
      </p:sp>
      <p:sp>
        <p:nvSpPr>
          <p:cNvPr id="25" name="Shape 23"/>
          <p:cNvSpPr/>
          <p:nvPr/>
        </p:nvSpPr>
        <p:spPr>
          <a:xfrm>
            <a:off x="4919472" y="3054096"/>
            <a:ext cx="3566160" cy="36576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6" name="Text 24"/>
          <p:cNvSpPr/>
          <p:nvPr/>
        </p:nvSpPr>
        <p:spPr>
          <a:xfrm>
            <a:off x="4919472" y="3145536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sz="14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r>
              <a:rPr lang="en-US" sz="1400" dirty="0" err="1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elhasználó-kezelő</a:t>
            </a:r>
            <a:r>
              <a:rPr lang="en-US" sz="14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modul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57200" y="3767328"/>
            <a:ext cx="4069080" cy="1051560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8" name="Shape 26"/>
          <p:cNvSpPr/>
          <p:nvPr/>
        </p:nvSpPr>
        <p:spPr>
          <a:xfrm>
            <a:off x="457200" y="3767328"/>
            <a:ext cx="45720" cy="1051560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9" name="Text 27"/>
          <p:cNvSpPr/>
          <p:nvPr/>
        </p:nvSpPr>
        <p:spPr>
          <a:xfrm>
            <a:off x="621792" y="3858768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Szervizek listázása és böngészése</a:t>
            </a:r>
            <a:endParaRPr lang="en-US" dirty="0"/>
          </a:p>
        </p:txBody>
      </p:sp>
      <p:sp>
        <p:nvSpPr>
          <p:cNvPr id="30" name="Shape 28"/>
          <p:cNvSpPr/>
          <p:nvPr/>
        </p:nvSpPr>
        <p:spPr>
          <a:xfrm>
            <a:off x="621792" y="4315968"/>
            <a:ext cx="3566160" cy="36576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1" name="Text 29"/>
          <p:cNvSpPr/>
          <p:nvPr/>
        </p:nvSpPr>
        <p:spPr>
          <a:xfrm>
            <a:off x="621792" y="440740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Szerviz adminisztrációs felület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4754880" y="3767328"/>
            <a:ext cx="4069080" cy="1051560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 dirty="0"/>
          </a:p>
        </p:txBody>
      </p:sp>
      <p:sp>
        <p:nvSpPr>
          <p:cNvPr id="33" name="Shape 31"/>
          <p:cNvSpPr/>
          <p:nvPr/>
        </p:nvSpPr>
        <p:spPr>
          <a:xfrm>
            <a:off x="4754880" y="3767328"/>
            <a:ext cx="45720" cy="1051560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4" name="Text 32"/>
          <p:cNvSpPr/>
          <p:nvPr/>
        </p:nvSpPr>
        <p:spPr>
          <a:xfrm>
            <a:off x="4919472" y="3858768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hu-HU" b="1" dirty="0">
                <a:solidFill>
                  <a:srgbClr val="FFFFFF"/>
                </a:solidFill>
                <a:latin typeface="Trebuchet MS" pitchFamily="34" charset="0"/>
              </a:rPr>
              <a:t>Automatikus e-mail értesítések</a:t>
            </a:r>
            <a:endParaRPr lang="en-US" b="1" dirty="0">
              <a:solidFill>
                <a:srgbClr val="FFFFFF"/>
              </a:solidFill>
              <a:latin typeface="Trebuchet MS" pitchFamily="34" charset="0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4919472" y="4315968"/>
            <a:ext cx="3566160" cy="36576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6" name="Text 34"/>
          <p:cNvSpPr/>
          <p:nvPr/>
        </p:nvSpPr>
        <p:spPr>
          <a:xfrm>
            <a:off x="4919472" y="440740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sz="1400" dirty="0">
                <a:solidFill>
                  <a:srgbClr val="C5D5E8"/>
                </a:solidFill>
                <a:latin typeface="Trebuchet MS" pitchFamily="34" charset="0"/>
              </a:rPr>
              <a:t>Rendelési és szerviz műveleteknél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54864" cy="713232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/>
          <p:cNvSpPr/>
          <p:nvPr/>
        </p:nvSpPr>
        <p:spPr>
          <a:xfrm>
            <a:off x="658368" y="201168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Jövőbeli Továbbfejlesztések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0" y="1097280"/>
            <a:ext cx="9144000" cy="16459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Shape 3"/>
          <p:cNvSpPr/>
          <p:nvPr/>
        </p:nvSpPr>
        <p:spPr>
          <a:xfrm>
            <a:off x="0" y="5102352"/>
            <a:ext cx="9144000" cy="41148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7" name="Shape 5"/>
          <p:cNvSpPr/>
          <p:nvPr/>
        </p:nvSpPr>
        <p:spPr>
          <a:xfrm>
            <a:off x="457200" y="1280160"/>
            <a:ext cx="8229600" cy="621792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8" name="Shape 6"/>
          <p:cNvSpPr/>
          <p:nvPr/>
        </p:nvSpPr>
        <p:spPr>
          <a:xfrm>
            <a:off x="457200" y="1280160"/>
            <a:ext cx="45720" cy="621792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9" name="Shape 7"/>
          <p:cNvSpPr/>
          <p:nvPr/>
        </p:nvSpPr>
        <p:spPr>
          <a:xfrm>
            <a:off x="658368" y="1481328"/>
            <a:ext cx="219456" cy="219456"/>
          </a:xfrm>
          <a:prstGeom prst="ellipse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0" name="Text 8"/>
          <p:cNvSpPr/>
          <p:nvPr/>
        </p:nvSpPr>
        <p:spPr>
          <a:xfrm>
            <a:off x="1024128" y="1353312"/>
            <a:ext cx="7452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Online fizetési integráció</a:t>
            </a: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457200" y="2039112"/>
            <a:ext cx="8229600" cy="621792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2" name="Shape 10"/>
          <p:cNvSpPr/>
          <p:nvPr/>
        </p:nvSpPr>
        <p:spPr>
          <a:xfrm>
            <a:off x="457200" y="2039112"/>
            <a:ext cx="45720" cy="621792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3" name="Shape 11"/>
          <p:cNvSpPr/>
          <p:nvPr/>
        </p:nvSpPr>
        <p:spPr>
          <a:xfrm>
            <a:off x="658368" y="2240280"/>
            <a:ext cx="219456" cy="219456"/>
          </a:xfrm>
          <a:prstGeom prst="ellipse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4" name="Text 12"/>
          <p:cNvSpPr/>
          <p:nvPr/>
        </p:nvSpPr>
        <p:spPr>
          <a:xfrm>
            <a:off x="1024128" y="2112264"/>
            <a:ext cx="7452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dirty="0">
                <a:solidFill>
                  <a:srgbClr val="FFFFFF"/>
                </a:solidFill>
                <a:latin typeface="Trebuchet MS" pitchFamily="34" charset="0"/>
              </a:rPr>
              <a:t>SMTP integráció valós környezetben</a:t>
            </a: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457200" y="2798064"/>
            <a:ext cx="8229600" cy="621792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6" name="Shape 14"/>
          <p:cNvSpPr/>
          <p:nvPr/>
        </p:nvSpPr>
        <p:spPr>
          <a:xfrm>
            <a:off x="457200" y="2798064"/>
            <a:ext cx="45720" cy="621792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7" name="Shape 15"/>
          <p:cNvSpPr/>
          <p:nvPr/>
        </p:nvSpPr>
        <p:spPr>
          <a:xfrm>
            <a:off x="658368" y="2999232"/>
            <a:ext cx="219456" cy="219456"/>
          </a:xfrm>
          <a:prstGeom prst="ellipse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8" name="Text 16"/>
          <p:cNvSpPr/>
          <p:nvPr/>
        </p:nvSpPr>
        <p:spPr>
          <a:xfrm>
            <a:off x="1024128" y="2871216"/>
            <a:ext cx="7452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Megfelelő megrendeléskezelés</a:t>
            </a: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457200" y="3557016"/>
            <a:ext cx="8229600" cy="621792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0" name="Shape 18"/>
          <p:cNvSpPr/>
          <p:nvPr/>
        </p:nvSpPr>
        <p:spPr>
          <a:xfrm>
            <a:off x="457200" y="3557016"/>
            <a:ext cx="45720" cy="621792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1" name="Shape 19"/>
          <p:cNvSpPr/>
          <p:nvPr/>
        </p:nvSpPr>
        <p:spPr>
          <a:xfrm>
            <a:off x="658368" y="3758184"/>
            <a:ext cx="219456" cy="219456"/>
          </a:xfrm>
          <a:prstGeom prst="ellipse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2" name="Text 20"/>
          <p:cNvSpPr/>
          <p:nvPr/>
        </p:nvSpPr>
        <p:spPr>
          <a:xfrm>
            <a:off x="1024128" y="3630168"/>
            <a:ext cx="7452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Szerviz</a:t>
            </a:r>
            <a:r>
              <a:rPr lang="en-US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felület</a:t>
            </a:r>
            <a:r>
              <a:rPr lang="en-US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továbbfejlesztése</a:t>
            </a: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457200" y="4315968"/>
            <a:ext cx="8229600" cy="621792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 dirty="0"/>
          </a:p>
        </p:txBody>
      </p:sp>
      <p:sp>
        <p:nvSpPr>
          <p:cNvPr id="24" name="Shape 22"/>
          <p:cNvSpPr/>
          <p:nvPr/>
        </p:nvSpPr>
        <p:spPr>
          <a:xfrm>
            <a:off x="457200" y="4315968"/>
            <a:ext cx="45720" cy="621792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5" name="Shape 23"/>
          <p:cNvSpPr/>
          <p:nvPr/>
        </p:nvSpPr>
        <p:spPr>
          <a:xfrm>
            <a:off x="658368" y="4517136"/>
            <a:ext cx="219456" cy="219456"/>
          </a:xfrm>
          <a:prstGeom prst="ellipse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6" name="Text 24"/>
          <p:cNvSpPr/>
          <p:nvPr/>
        </p:nvSpPr>
        <p:spPr>
          <a:xfrm>
            <a:off x="1024128" y="4389120"/>
            <a:ext cx="7452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BB3F5325-D90C-17CD-4585-708B37A64641}"/>
              </a:ext>
            </a:extLst>
          </p:cNvPr>
          <p:cNvSpPr txBox="1"/>
          <p:nvPr/>
        </p:nvSpPr>
        <p:spPr>
          <a:xfrm>
            <a:off x="1024128" y="4466058"/>
            <a:ext cx="47154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rgbClr val="FFFFFF"/>
                </a:solidFill>
                <a:latin typeface="Trebuchet MS" pitchFamily="34" charset="0"/>
              </a:rPr>
              <a:t>További kliens oldali funkciók beépítése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54864" cy="713232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/>
          <p:cNvSpPr/>
          <p:nvPr/>
        </p:nvSpPr>
        <p:spPr>
          <a:xfrm>
            <a:off x="658368" y="201168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Munkamegosztás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0" y="1097280"/>
            <a:ext cx="9144000" cy="16459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Shape 3"/>
          <p:cNvSpPr/>
          <p:nvPr/>
        </p:nvSpPr>
        <p:spPr>
          <a:xfrm>
            <a:off x="0" y="5102352"/>
            <a:ext cx="9144000" cy="41148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7" name="Shape 5"/>
          <p:cNvSpPr/>
          <p:nvPr/>
        </p:nvSpPr>
        <p:spPr>
          <a:xfrm>
            <a:off x="384048" y="1234440"/>
            <a:ext cx="2697480" cy="3611880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8" name="Shape 6"/>
          <p:cNvSpPr/>
          <p:nvPr/>
        </p:nvSpPr>
        <p:spPr>
          <a:xfrm>
            <a:off x="384048" y="1234440"/>
            <a:ext cx="2697480" cy="56692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9" name="Text 7"/>
          <p:cNvSpPr/>
          <p:nvPr/>
        </p:nvSpPr>
        <p:spPr>
          <a:xfrm>
            <a:off x="512064" y="1252728"/>
            <a:ext cx="2441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1628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Ádám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12064" y="1581912"/>
            <a:ext cx="24414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B16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Frontend Developer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14174" y="1896325"/>
            <a:ext cx="251249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Frontend fejlesztés (React)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12064" y="2347722"/>
            <a:ext cx="232961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API integráció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14174" y="2805836"/>
            <a:ext cx="232961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 err="1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Reszponzív</a:t>
            </a:r>
            <a:r>
              <a:rPr lang="hu-HU" sz="16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sz="16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12064" y="3281324"/>
            <a:ext cx="232961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UI / UX</a:t>
            </a:r>
            <a:r>
              <a:rPr lang="hu-HU" sz="160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design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14174" y="3713072"/>
            <a:ext cx="251249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600" dirty="0">
              <a:solidFill>
                <a:srgbClr val="C5D5E8"/>
              </a:solidFill>
              <a:latin typeface="Trebuchet MS" pitchFamily="34" charset="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3236976" y="1234440"/>
            <a:ext cx="2697480" cy="3611880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2" name="Shape 20"/>
          <p:cNvSpPr/>
          <p:nvPr/>
        </p:nvSpPr>
        <p:spPr>
          <a:xfrm>
            <a:off x="3236976" y="1234440"/>
            <a:ext cx="2697480" cy="56692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3" name="Text 21"/>
          <p:cNvSpPr/>
          <p:nvPr/>
        </p:nvSpPr>
        <p:spPr>
          <a:xfrm>
            <a:off x="3364992" y="1252728"/>
            <a:ext cx="2441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1628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Github &amp; Discord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3364991" y="1581912"/>
            <a:ext cx="251999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 err="1">
                <a:solidFill>
                  <a:srgbClr val="0B16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Verziókezelés</a:t>
            </a:r>
            <a:r>
              <a:rPr lang="en-US" sz="1400" dirty="0">
                <a:solidFill>
                  <a:srgbClr val="0B16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hu-HU" sz="1400" dirty="0">
                <a:solidFill>
                  <a:srgbClr val="0B16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&amp;</a:t>
            </a:r>
            <a:r>
              <a:rPr lang="en-US" sz="1400" dirty="0">
                <a:solidFill>
                  <a:srgbClr val="0B16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Kommunikáció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364992" y="1896325"/>
            <a:ext cx="22311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Feladatok megbeszélése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3364992" y="2347722"/>
            <a:ext cx="22311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Verziókezelés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089904" y="1234440"/>
            <a:ext cx="2697480" cy="3611880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30" name="Shape 28"/>
          <p:cNvSpPr/>
          <p:nvPr/>
        </p:nvSpPr>
        <p:spPr>
          <a:xfrm>
            <a:off x="6089904" y="1234440"/>
            <a:ext cx="2697480" cy="56692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1" name="Text 29"/>
          <p:cNvSpPr/>
          <p:nvPr/>
        </p:nvSpPr>
        <p:spPr>
          <a:xfrm>
            <a:off x="6217920" y="1252728"/>
            <a:ext cx="2441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1628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Matyi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6217920" y="1581912"/>
            <a:ext cx="24414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B16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Backend Developer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217920" y="1911096"/>
            <a:ext cx="24140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Backend fejlesztés (Odin)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6217920" y="2375506"/>
            <a:ext cx="24140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 err="1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Adatbázis</a:t>
            </a:r>
            <a:r>
              <a:rPr lang="hu-HU" sz="16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létrehozása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6215671" y="2898648"/>
            <a:ext cx="244369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sz="16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r>
              <a:rPr lang="en-US" sz="1600" dirty="0" err="1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iddleware</a:t>
            </a:r>
            <a:r>
              <a:rPr lang="hu-HU" sz="16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kialakítása</a:t>
            </a:r>
            <a:r>
              <a:rPr lang="en-US" sz="16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endParaRPr lang="hu-HU" sz="1600" dirty="0">
              <a:solidFill>
                <a:srgbClr val="C5D5E8"/>
              </a:solidFill>
              <a:latin typeface="Trebuchet MS" pitchFamily="34" charset="0"/>
              <a:ea typeface="Trebuchet MS" pitchFamily="34" charset="-122"/>
              <a:cs typeface="Trebuchet MS" pitchFamily="34" charset="-120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6217920" y="3374136"/>
            <a:ext cx="24140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Autentikáció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Shape 1"/>
          <p:cNvSpPr/>
          <p:nvPr/>
        </p:nvSpPr>
        <p:spPr>
          <a:xfrm>
            <a:off x="3931920" y="548640"/>
            <a:ext cx="4937760" cy="4937760"/>
          </a:xfrm>
          <a:prstGeom prst="ellipse">
            <a:avLst/>
          </a:prstGeom>
          <a:solidFill>
            <a:srgbClr val="132035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Shape 2"/>
          <p:cNvSpPr/>
          <p:nvPr/>
        </p:nvSpPr>
        <p:spPr>
          <a:xfrm>
            <a:off x="4663440" y="1234440"/>
            <a:ext cx="3474720" cy="3474720"/>
          </a:xfrm>
          <a:prstGeom prst="ellipse">
            <a:avLst/>
          </a:prstGeom>
          <a:solidFill>
            <a:srgbClr val="1A2B42"/>
          </a:solidFill>
          <a:ln w="1905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6" name="Text 3"/>
          <p:cNvSpPr/>
          <p:nvPr/>
        </p:nvSpPr>
        <p:spPr>
          <a:xfrm>
            <a:off x="475488" y="960120"/>
            <a:ext cx="39319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400" b="1" dirty="0" err="1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Próbáljuk</a:t>
            </a:r>
            <a:r>
              <a:rPr lang="en-US" sz="4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</a:t>
            </a:r>
            <a:r>
              <a:rPr lang="hu-HU" sz="4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k</a:t>
            </a:r>
            <a:r>
              <a:rPr lang="en-US" sz="4400" b="1" dirty="0" err="1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</a:t>
            </a:r>
            <a:endParaRPr lang="en-US" sz="44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4400" b="1" dirty="0" err="1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az</a:t>
            </a:r>
            <a:r>
              <a:rPr lang="en-US" sz="4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</a:t>
            </a:r>
            <a:r>
              <a:rPr lang="hu-HU" sz="4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</a:t>
            </a:r>
            <a:r>
              <a:rPr lang="en-US" sz="4400" b="1" dirty="0" err="1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lkalmazást</a:t>
            </a:r>
            <a:r>
              <a:rPr lang="en-US" sz="4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!</a:t>
            </a:r>
            <a:endParaRPr lang="en-US" sz="4400" dirty="0"/>
          </a:p>
        </p:txBody>
      </p:sp>
      <p:sp>
        <p:nvSpPr>
          <p:cNvPr id="7" name="Shape 4"/>
          <p:cNvSpPr/>
          <p:nvPr/>
        </p:nvSpPr>
        <p:spPr>
          <a:xfrm>
            <a:off x="475488" y="3401568"/>
            <a:ext cx="2560320" cy="36576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8" name="Text 5"/>
          <p:cNvSpPr/>
          <p:nvPr/>
        </p:nvSpPr>
        <p:spPr>
          <a:xfrm>
            <a:off x="502920" y="356616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sz="1500" i="1" dirty="0">
                <a:solidFill>
                  <a:srgbClr val="E9A2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Élő </a:t>
            </a:r>
            <a:r>
              <a:rPr lang="hu-HU" sz="1500" i="1" dirty="0" err="1">
                <a:solidFill>
                  <a:srgbClr val="E9A2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demo</a:t>
            </a:r>
            <a:r>
              <a:rPr lang="en-US" sz="1500" i="1" dirty="0">
                <a:solidFill>
                  <a:srgbClr val="E9A2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következik →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0" y="5102352"/>
            <a:ext cx="9144000" cy="41148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pic>
        <p:nvPicPr>
          <p:cNvPr id="12" name="Kép 11">
            <a:extLst>
              <a:ext uri="{FF2B5EF4-FFF2-40B4-BE49-F238E27FC236}">
                <a16:creationId xmlns:a16="http://schemas.microsoft.com/office/drawing/2014/main" id="{4ABAD5F1-DA36-A3AF-D4F9-8DEADE67DF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29237" y="1945957"/>
            <a:ext cx="2143125" cy="2143125"/>
          </a:xfrm>
          <a:prstGeom prst="ellipse">
            <a:avLst/>
          </a:prstGeom>
          <a:ln w="190500" cap="rnd">
            <a:solidFill>
              <a:srgbClr val="C8C6BD"/>
            </a:solidFill>
            <a:prstDash val="solid"/>
          </a:ln>
          <a:effectLst>
            <a:outerShdw blurRad="127000" algn="bl" rotWithShape="0">
              <a:srgbClr val="000000"/>
            </a:outerShdw>
          </a:effectLst>
          <a:scene3d>
            <a:camera prst="perspectiveFront" fov="5400000"/>
            <a:lightRig rig="threePt" dir="t">
              <a:rot lat="0" lon="0" rev="19200000"/>
            </a:lightRig>
          </a:scene3d>
          <a:sp3d extrusionH="25400">
            <a:bevelT w="304800" h="152400" prst="hardEdge"/>
            <a:extrusionClr>
              <a:srgbClr val="000000"/>
            </a:extrusionClr>
          </a:sp3d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unpacked_clean/ppt/media/image1.jpeg"/>
          <p:cNvPicPr>
            <a:picLocks noChangeAspect="1"/>
          </p:cNvPicPr>
          <p:nvPr/>
        </p:nvPicPr>
        <p:blipFill>
          <a:blip r:embed="rId3">
            <a:alphaModFix amt="4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1628">
              <a:alpha val="75000"/>
            </a:srgbClr>
          </a:solidFill>
          <a:ln w="12700">
            <a:solidFill>
              <a:srgbClr val="0B162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Shape 1"/>
          <p:cNvSpPr/>
          <p:nvPr/>
        </p:nvSpPr>
        <p:spPr>
          <a:xfrm>
            <a:off x="0" y="0"/>
            <a:ext cx="9144000" cy="4114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Text 2"/>
          <p:cNvSpPr/>
          <p:nvPr/>
        </p:nvSpPr>
        <p:spPr>
          <a:xfrm>
            <a:off x="914400" y="822960"/>
            <a:ext cx="73152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6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Köszönjük</a:t>
            </a:r>
            <a:endParaRPr lang="en-US" sz="64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6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 Figyelmet!</a:t>
            </a:r>
            <a:endParaRPr lang="en-US" sz="6400" dirty="0"/>
          </a:p>
        </p:txBody>
      </p:sp>
      <p:sp>
        <p:nvSpPr>
          <p:cNvPr id="6" name="Shape 3"/>
          <p:cNvSpPr/>
          <p:nvPr/>
        </p:nvSpPr>
        <p:spPr>
          <a:xfrm>
            <a:off x="3108960" y="3657600"/>
            <a:ext cx="2926080" cy="36576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7" name="Text 4"/>
          <p:cNvSpPr/>
          <p:nvPr/>
        </p:nvSpPr>
        <p:spPr>
          <a:xfrm>
            <a:off x="0" y="3858768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kern="0" spc="15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Ádám &amp; Matyi  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0" y="5102352"/>
            <a:ext cx="9144000" cy="41148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ReferenceId xmlns="87aa24f1-5ba0-4b45-9ca0-cb710780616f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um" ma:contentTypeID="0x010100CF33BF45BA2D51468C049D7F49465F36" ma:contentTypeVersion="4" ma:contentTypeDescription="Új dokumentum létrehozása." ma:contentTypeScope="" ma:versionID="99230fe3e1de2d885706f7e7f862bcf2">
  <xsd:schema xmlns:xsd="http://www.w3.org/2001/XMLSchema" xmlns:xs="http://www.w3.org/2001/XMLSchema" xmlns:p="http://schemas.microsoft.com/office/2006/metadata/properties" xmlns:ns2="87aa24f1-5ba0-4b45-9ca0-cb710780616f" targetNamespace="http://schemas.microsoft.com/office/2006/metadata/properties" ma:root="true" ma:fieldsID="4c780e0772cac3b1fb0a258a91ebf9e8" ns2:_="">
    <xsd:import namespace="87aa24f1-5ba0-4b45-9ca0-cb710780616f"/>
    <xsd:element name="properties">
      <xsd:complexType>
        <xsd:sequence>
          <xsd:element name="documentManagement">
            <xsd:complexType>
              <xsd:all>
                <xsd:element ref="ns2:ReferenceId" minOccurs="0"/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7aa24f1-5ba0-4b45-9ca0-cb710780616f" elementFormDefault="qualified">
    <xsd:import namespace="http://schemas.microsoft.com/office/2006/documentManagement/types"/>
    <xsd:import namespace="http://schemas.microsoft.com/office/infopath/2007/PartnerControls"/>
    <xsd:element name="ReferenceId" ma:index="8" nillable="true" ma:displayName="ReferenceId" ma:indexed="true" ma:internalName="ReferenceId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artalomtípus"/>
        <xsd:element ref="dc:title" minOccurs="0" maxOccurs="1" ma:index="4" ma:displayName="Cím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200B2EB-C840-4BCD-BAB1-BC8073AF05E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EAC5D19B-4118-451B-867A-9FDFB4FA3F3D}">
  <ds:schemaRefs>
    <ds:schemaRef ds:uri="http://schemas.microsoft.com/office/2006/metadata/properties"/>
    <ds:schemaRef ds:uri="http://schemas.microsoft.com/office/infopath/2007/PartnerControls"/>
    <ds:schemaRef ds:uri="87aa24f1-5ba0-4b45-9ca0-cb710780616f"/>
  </ds:schemaRefs>
</ds:datastoreItem>
</file>

<file path=customXml/itemProps3.xml><?xml version="1.0" encoding="utf-8"?>
<ds:datastoreItem xmlns:ds="http://schemas.openxmlformats.org/officeDocument/2006/customXml" ds:itemID="{26430B49-CDF2-4854-9EF5-30E772CBB28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7aa24f1-5ba0-4b45-9ca0-cb710780616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129</TotalTime>
  <Words>336</Words>
  <Application>Microsoft Office PowerPoint</Application>
  <PresentationFormat>Diavetítés a képernyőre (16:9 oldalarány)</PresentationFormat>
  <Paragraphs>105</Paragraphs>
  <Slides>12</Slides>
  <Notes>12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12</vt:i4>
      </vt:variant>
    </vt:vector>
  </HeadingPairs>
  <TitlesOfParts>
    <vt:vector size="16" baseType="lpstr">
      <vt:lpstr>Arial</vt:lpstr>
      <vt:lpstr>Palatino Linotype</vt:lpstr>
      <vt:lpstr>Trebuchet MS</vt:lpstr>
      <vt:lpstr>Office Theme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Cross Country Webshop</dc:title>
  <dc:subject>PptxGenJS Presentation</dc:subject>
  <dc:creator>Ádám &amp; Matyi</dc:creator>
  <cp:lastModifiedBy>Ádám Czirják</cp:lastModifiedBy>
  <cp:revision>15</cp:revision>
  <dcterms:created xsi:type="dcterms:W3CDTF">2026-03-23T20:12:40Z</dcterms:created>
  <dcterms:modified xsi:type="dcterms:W3CDTF">2026-04-08T19:26:16Z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0x010100CF33BF45BA2D51468C049D7F49465F36</vt:lpwstr>
  </property>
</Properties>
</file>